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3" d="100"/>
          <a:sy n="93" d="100"/>
        </p:scale>
        <p:origin x="520"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5670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is the final project review for HireVoice, an AI-powered hiring portal. My name is [Your Name], and today I'll walk you through the application, the AI workflows, and the complete cloud-native DevOps infrastructure deployed on AWS EKS using Terraform, Kubernetes, and CI/CD pipelines.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agenda for today's presentation. We'll start with the app overview, move into the problem and solution, then deep-dive into the technical architecture, DevOps infrastructure, CI/CD pipeline, and security. We'll wrap up with a demo and future plans.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HireVoice is an AI job portal with two main user types. Candidates apply for jobs by uploading their resume, and the AI automatically screens it and assigns a fit score. If they pass the threshold, they're invited for an AI voice interview. Recruiters post jobs and get a ranked dashboard of candidates with structured assessments, making hiring much faster and more consistent.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key pain points in traditional hiring. Recruiters spend enormous time on manual screening. There's no consistent methodology, making it hard to compare candidates fairly. Everything breaks at scale. HireVoice addresses all of these with AI automation and a structured cloud-native architecture.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attacks each problem directly. AI handles resume screening automatically. Voice interviews are conducted and assessed by AI. Recruiters get a structured dashboard. The backend is decomposed into microservices for scalability. Everything runs on AWS EKS with full CI/CD automation — no manual deployments.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nine features form the core of HireVoice. Both candidates and recruiters have their own auth flows. Job postings drive the pipeline. Resume upload feeds the AI screening. Based on a configurable score threshold, candidates are invited for AI voice interviews. Recruiters see a clean ranked applicant list. All of this is deployed on Kubernetes for scalability.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flow starts when a candidate logs in and browses job listings. They apply by uploading a PDF resume. The AI screening service processes it, extracts the profile, and generates a fit score. If the score meets the threshold, the candidate is invited for an AI voice interview, which is transcribed, assessed, and stored. Recruiters then see a ranked list of candidates with full assessments.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follows a clean microservices pattern. The React frontend communicates only with the FastAPI API Gateway, which routes requests to the appropriate backend service. There are four services: Auth (for login/registration), Jobs (for posting and browsing), Screening (AI resume analysis using LangGraph), and Interview (AI voice interview using Groq). All services use JWT for authentication and connect to PostgreSQL/RDS where needed.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summarizes each component in the system. The frontend serves the UI. The API Gateway is the single entry point — it validates JWT tokens and routes to the right service. Each backend service is independently deployable and has its own clear responsibility. PostgreSQL on RDS is the managed database layer shared across services.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HireVoice has two AI workflows. The resume screening pipeline uses LangGraph — it extracts the candidate profile from the PDF, analyzes the job description, computes a fit score, and decides whether to invite the candidate. The voice interview workflow uses Groq's Whisper for speech-to-text, Llama 3 LLM to assess answers and generate questions, and Orpheus for text-to-speech — creating a fully automated voice-based interview.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infrastructure lives entirely on AWS inside a custom VPC. User traffic flows through Route 53 for DNS, ACM provides HTTPS certificates, and the AWS Application Load Balancer routes traffic into the EKS cluster. Worker nodes run in private app subnets. RDS PostgreSQL lives in private DB subnets with no internet exposure. ECR stores Docker images, Secrets Manager stores credentials accessed via External Secrets, CloudWatch monitors health, and Terraform state is stored in S3 with DynamoDB locking.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is organized into reusable modules. The root configuration calls each module. Networking creates the VPC and subnets. Security groups define firewall rules for each tier. RDS provisions the managed PostgreSQL database. EKS creates the cluster with an OIDC provider for pod identity. The configuration module handles SSM parameters and secrets. Phase 2 addons install Kubernetes controllers using Helm via Terraform. The backend state is stored in S3 with DynamoDB for state locking, ensuring team safety.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Kubernetes deployment is managed via a Helm chart that creates all resources in the hirevoice namespace. Every microservice has a deployment with 2 replicas for availability. Each pod pulls its image from ECR tagged with the Git SHA. ConfigMaps hold non-sensitive configuration. Secrets are synced from AWS Secrets Manager using the External Secrets Operator. Each service has readiness and liveness probes, and resource requests and limits are defined to ensure stable scheduling.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CI pipeline runs on every push or pull request to main. It goes through SonarQube for code quality, Snyk for dependency vulnerabilities, lint and unit tests, Docker build, Trivy image scanning, and then pushes to ECR only if all security gates pass. Images are tagged with the Git SHA for full traceability. The pipeline uses OIDC to authenticate with AWS — no static secrets are ever stored in GitHub. Finally, Helm is validated before triggering the CD pipeline.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CD pipeline follows the GitOps model. After CI succeeds, a GitHub Actions job updates the Helm image tag in the GitOps repository and commits it. ArgoCD monitors this repo and detects the change, then syncs the EKS cluster to match. After rollout, smoke tests verify the deployment. A production approval gate prevents accidental deployments. Rollback is as simple as reverting the git commit — ArgoCD will automatically re-sync the previous state.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built into every layer. CI/CD never uses static AWS keys — OIDC token exchange is used instead. Pods inside EKS get IAM permissions via IRSA so they can access AWS services like S3 or Secrets Manager without credentials on the node. Secrets Manager is the single source of truth for sensitive values, synced into Kubernetes Secrets. The database is completely private. Images are scanned both in CI and in ECR. Terraform state is encrypted at rest.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Monitoring is handled by CloudWatch with a custom dashboard tracking ALB, EKS, and RDS metrics. Alarms are configured for 5XX errors, high latency, database CPU, storage, and connection count. Notifications go via SNS. For reliability, every service has 2 replicas, node group autoscaling, proper probes, and rolling updates. RDS has automated backups and multi-AZ support for failover.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maps every capstone evaluation requirement to what was implemented in HireVoice. Every requirement from the evaluation rubric has been fully addressed — microservices, Terraform, EKS, ECR, managed database, CI/CD, security scanning, ingress, ConfigMaps, OIDC/IRSA, and monitoring are all implemented and demonstrable.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demo, I will walk through the application live. First, I'll show login for both user types. Then a recruiter posts a job, a candidate applies with a resume, and we'll watch the AI screening score appear. We'll see the interview invitation trigger. The recruiter dashboard shows ranked candidates. Then I'll switch to evidence — GitHub Actions pipeline run, ArgoCD sync status on EKS, and Terraform outputs showing the provisioned infrastructure.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challenges I faced during the project. The biggest was migrating from a local app to a fully distributed microservices setup. Kubernetes networking — particularly the ALB Ingress Controller and service discovery — required a lot of trial and error. Secret management with IRSA and External Secrets was complex but rewarding to get right. Bootstrapping Terraform state before everything else was also a learning moment.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the most impactful next step is moving to S3 for resume storage with proper IRSA. Replacing CloudWatch with Prometheus and Grafana would give much richer observability. Adding NetworkPolicies would tighten security between pods. An async queue for screening would improve scalability under load. Better test coverage and pod autoscaling with cost optimization round out the roadmap.</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HireVoice demonstrates the complete picture of a modern cloud-native application — from AI-driven hiring automation to a production-grade Kubernetes deployment on AWS. The project covers every major DevOps pillar: infrastructure as code with Terraform, containerization, orchestration with Kubernetes, CI/CD with GitHub Actions and ArgoCD, security with OIDC and IRSA, and monitoring with CloudWatch. Thank you —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858000" y="-731520"/>
            <a:ext cx="3200400" cy="3200400"/>
          </a:xfrm>
          <a:prstGeom prst="ellipse">
            <a:avLst/>
          </a:prstGeom>
          <a:solidFill>
            <a:srgbClr val="00B4D8">
              <a:alpha val="15000"/>
            </a:srgbClr>
          </a:solidFill>
          <a:ln/>
        </p:spPr>
        <p:txBody>
          <a:bodyPr/>
          <a:lstStyle/>
          <a:p>
            <a:endParaRPr lang="en-IN"/>
          </a:p>
        </p:txBody>
      </p:sp>
      <p:sp>
        <p:nvSpPr>
          <p:cNvPr id="3" name="Shape 1"/>
          <p:cNvSpPr/>
          <p:nvPr/>
        </p:nvSpPr>
        <p:spPr>
          <a:xfrm>
            <a:off x="7498080" y="-182880"/>
            <a:ext cx="1828800" cy="1828800"/>
          </a:xfrm>
          <a:prstGeom prst="ellipse">
            <a:avLst/>
          </a:prstGeom>
          <a:solidFill>
            <a:srgbClr val="0077B6">
              <a:alpha val="30000"/>
            </a:srgbClr>
          </a:solidFill>
          <a:ln/>
        </p:spPr>
        <p:txBody>
          <a:bodyPr/>
          <a:lstStyle/>
          <a:p>
            <a:endParaRPr lang="en-IN"/>
          </a:p>
        </p:txBody>
      </p:sp>
      <p:sp>
        <p:nvSpPr>
          <p:cNvPr id="4" name="Shape 2"/>
          <p:cNvSpPr/>
          <p:nvPr/>
        </p:nvSpPr>
        <p:spPr>
          <a:xfrm>
            <a:off x="0" y="4572000"/>
            <a:ext cx="9144000" cy="571500"/>
          </a:xfrm>
          <a:prstGeom prst="rect">
            <a:avLst/>
          </a:prstGeom>
          <a:solidFill>
            <a:srgbClr val="0077B6">
              <a:alpha val="40000"/>
            </a:srgbClr>
          </a:solidFill>
          <a:ln/>
        </p:spPr>
        <p:txBody>
          <a:bodyPr/>
          <a:lstStyle/>
          <a:p>
            <a:endParaRPr lang="en-IN"/>
          </a:p>
        </p:txBody>
      </p:sp>
      <p:sp>
        <p:nvSpPr>
          <p:cNvPr id="5" name="Shape 3"/>
          <p:cNvSpPr/>
          <p:nvPr/>
        </p:nvSpPr>
        <p:spPr>
          <a:xfrm>
            <a:off x="548640" y="502920"/>
            <a:ext cx="2194560" cy="384048"/>
          </a:xfrm>
          <a:prstGeom prst="roundRect">
            <a:avLst>
              <a:gd name="adj" fmla="val 11905"/>
            </a:avLst>
          </a:prstGeom>
          <a:solidFill>
            <a:srgbClr val="00B4D8"/>
          </a:solidFill>
          <a:ln/>
        </p:spPr>
        <p:txBody>
          <a:bodyPr/>
          <a:lstStyle/>
          <a:p>
            <a:endParaRPr lang="en-IN"/>
          </a:p>
        </p:txBody>
      </p:sp>
      <p:sp>
        <p:nvSpPr>
          <p:cNvPr id="6" name="Text 4"/>
          <p:cNvSpPr/>
          <p:nvPr/>
        </p:nvSpPr>
        <p:spPr>
          <a:xfrm>
            <a:off x="548640" y="502920"/>
            <a:ext cx="2194560" cy="384048"/>
          </a:xfrm>
          <a:prstGeom prst="rect">
            <a:avLst/>
          </a:prstGeom>
          <a:noFill/>
          <a:ln/>
        </p:spPr>
        <p:txBody>
          <a:bodyPr wrap="square" lIns="0" tIns="0" rIns="0" bIns="0" rtlCol="0" anchor="ctr"/>
          <a:lstStyle/>
          <a:p>
            <a:pPr marL="0" indent="0" algn="ctr">
              <a:buNone/>
            </a:pPr>
            <a:r>
              <a:rPr lang="en-US" sz="900" b="1" dirty="0">
                <a:solidFill>
                  <a:srgbClr val="0D1B2A"/>
                </a:solidFill>
              </a:rPr>
              <a:t>CAPSTONE PROJECT</a:t>
            </a:r>
            <a:endParaRPr lang="en-US" sz="900" dirty="0"/>
          </a:p>
        </p:txBody>
      </p:sp>
      <p:sp>
        <p:nvSpPr>
          <p:cNvPr id="7" name="Text 5"/>
          <p:cNvSpPr/>
          <p:nvPr/>
        </p:nvSpPr>
        <p:spPr>
          <a:xfrm>
            <a:off x="548640" y="1005840"/>
            <a:ext cx="7315200" cy="1097280"/>
          </a:xfrm>
          <a:prstGeom prst="rect">
            <a:avLst/>
          </a:prstGeom>
          <a:noFill/>
          <a:ln/>
        </p:spPr>
        <p:txBody>
          <a:bodyPr wrap="square" lIns="0" tIns="0" rIns="0" bIns="0" rtlCol="0" anchor="ctr"/>
          <a:lstStyle/>
          <a:p>
            <a:pPr marL="0" indent="0">
              <a:buNone/>
            </a:pPr>
            <a:r>
              <a:rPr lang="en-US" sz="6000" b="1" dirty="0">
                <a:solidFill>
                  <a:srgbClr val="FFFFFF"/>
                </a:solidFill>
                <a:latin typeface="Calibri" pitchFamily="34" charset="0"/>
                <a:ea typeface="Calibri" pitchFamily="34" charset="-122"/>
                <a:cs typeface="Calibri" pitchFamily="34" charset="-120"/>
              </a:rPr>
              <a:t>HireVoice</a:t>
            </a:r>
            <a:endParaRPr lang="en-US" sz="6000" dirty="0"/>
          </a:p>
        </p:txBody>
      </p:sp>
      <p:sp>
        <p:nvSpPr>
          <p:cNvPr id="8" name="Text 6"/>
          <p:cNvSpPr/>
          <p:nvPr/>
        </p:nvSpPr>
        <p:spPr>
          <a:xfrm>
            <a:off x="548640" y="1965960"/>
            <a:ext cx="6400800" cy="548640"/>
          </a:xfrm>
          <a:prstGeom prst="rect">
            <a:avLst/>
          </a:prstGeom>
          <a:noFill/>
          <a:ln/>
        </p:spPr>
        <p:txBody>
          <a:bodyPr wrap="square" lIns="0" tIns="0" rIns="0" bIns="0" rtlCol="0" anchor="ctr"/>
          <a:lstStyle/>
          <a:p>
            <a:pPr marL="0" indent="0">
              <a:buNone/>
            </a:pPr>
            <a:r>
              <a:rPr lang="en-US" sz="2600" dirty="0">
                <a:solidFill>
                  <a:srgbClr val="00B4D8"/>
                </a:solidFill>
                <a:latin typeface="Calibri" pitchFamily="34" charset="0"/>
                <a:ea typeface="Calibri" pitchFamily="34" charset="-122"/>
                <a:cs typeface="Calibri" pitchFamily="34" charset="-120"/>
              </a:rPr>
              <a:t>AI Hiring Portal</a:t>
            </a:r>
            <a:endParaRPr lang="en-US" sz="2600" dirty="0"/>
          </a:p>
        </p:txBody>
      </p:sp>
      <p:sp>
        <p:nvSpPr>
          <p:cNvPr id="9" name="Text 7"/>
          <p:cNvSpPr/>
          <p:nvPr/>
        </p:nvSpPr>
        <p:spPr>
          <a:xfrm>
            <a:off x="548640" y="2606040"/>
            <a:ext cx="7498080" cy="411480"/>
          </a:xfrm>
          <a:prstGeom prst="rect">
            <a:avLst/>
          </a:prstGeom>
          <a:noFill/>
          <a:ln/>
        </p:spPr>
        <p:txBody>
          <a:bodyPr wrap="square" lIns="0" tIns="0" rIns="0" bIns="0" rtlCol="0" anchor="ctr"/>
          <a:lstStyle/>
          <a:p>
            <a:pPr marL="0" indent="0">
              <a:buNone/>
            </a:pPr>
            <a:r>
              <a:rPr lang="en-US" sz="1300" dirty="0">
                <a:solidFill>
                  <a:srgbClr val="AACCEE"/>
                </a:solidFill>
                <a:latin typeface="Calibri" pitchFamily="34" charset="0"/>
                <a:ea typeface="Calibri" pitchFamily="34" charset="-122"/>
                <a:cs typeface="Calibri" pitchFamily="34" charset="-120"/>
              </a:rPr>
              <a:t>AI-Powered Hiring Platform on AWS EKS · Terraform · Kubernetes · CI/CD</a:t>
            </a:r>
            <a:endParaRPr lang="en-US" sz="1300" dirty="0"/>
          </a:p>
        </p:txBody>
      </p:sp>
      <p:sp>
        <p:nvSpPr>
          <p:cNvPr id="11" name="Text 9"/>
          <p:cNvSpPr/>
          <p:nvPr/>
        </p:nvSpPr>
        <p:spPr>
          <a:xfrm>
            <a:off x="548640" y="3246120"/>
            <a:ext cx="7772400" cy="777240"/>
          </a:xfrm>
          <a:prstGeom prst="rect">
            <a:avLst/>
          </a:prstGeom>
          <a:noFill/>
          <a:ln/>
        </p:spPr>
        <p:txBody>
          <a:bodyPr wrap="square" rtlCol="0" anchor="ctr"/>
          <a:lstStyle/>
          <a:p>
            <a:pPr marL="0" indent="0" algn="ctr">
              <a:buNone/>
            </a:pPr>
            <a:endParaRPr lang="en-US" sz="1300" dirty="0"/>
          </a:p>
        </p:txBody>
      </p:sp>
      <p:sp>
        <p:nvSpPr>
          <p:cNvPr id="12" name="Shape 10"/>
          <p:cNvSpPr/>
          <p:nvPr/>
        </p:nvSpPr>
        <p:spPr>
          <a:xfrm>
            <a:off x="548640" y="4160520"/>
            <a:ext cx="1828800" cy="256032"/>
          </a:xfrm>
          <a:prstGeom prst="roundRect">
            <a:avLst>
              <a:gd name="adj" fmla="val 14286"/>
            </a:avLst>
          </a:prstGeom>
          <a:solidFill>
            <a:srgbClr val="1E3A5A"/>
          </a:solidFill>
          <a:ln/>
        </p:spPr>
        <p:txBody>
          <a:bodyPr/>
          <a:lstStyle/>
          <a:p>
            <a:endParaRPr lang="en-IN"/>
          </a:p>
        </p:txBody>
      </p:sp>
      <p:sp>
        <p:nvSpPr>
          <p:cNvPr id="13" name="Text 11"/>
          <p:cNvSpPr/>
          <p:nvPr/>
        </p:nvSpPr>
        <p:spPr>
          <a:xfrm>
            <a:off x="548640" y="4160520"/>
            <a:ext cx="1828800" cy="256032"/>
          </a:xfrm>
          <a:prstGeom prst="rect">
            <a:avLst/>
          </a:prstGeom>
          <a:noFill/>
          <a:ln/>
        </p:spPr>
        <p:txBody>
          <a:bodyPr wrap="square" lIns="0" tIns="0" rIns="0" bIns="0" rtlCol="0" anchor="ctr"/>
          <a:lstStyle/>
          <a:p>
            <a:pPr marL="0" indent="0" algn="ctr">
              <a:buNone/>
            </a:pPr>
            <a:r>
              <a:rPr lang="en-US" sz="900" dirty="0">
                <a:solidFill>
                  <a:srgbClr val="00B4D8"/>
                </a:solidFill>
                <a:latin typeface="Calibri" pitchFamily="34" charset="0"/>
                <a:ea typeface="Calibri" pitchFamily="34" charset="-122"/>
                <a:cs typeface="Calibri" pitchFamily="34" charset="-120"/>
              </a:rPr>
              <a:t>AWS EKS</a:t>
            </a:r>
            <a:endParaRPr lang="en-US" sz="900" dirty="0"/>
          </a:p>
        </p:txBody>
      </p:sp>
      <p:sp>
        <p:nvSpPr>
          <p:cNvPr id="14" name="Shape 12"/>
          <p:cNvSpPr/>
          <p:nvPr/>
        </p:nvSpPr>
        <p:spPr>
          <a:xfrm>
            <a:off x="2606040" y="4160520"/>
            <a:ext cx="1828800" cy="256032"/>
          </a:xfrm>
          <a:prstGeom prst="roundRect">
            <a:avLst>
              <a:gd name="adj" fmla="val 14286"/>
            </a:avLst>
          </a:prstGeom>
          <a:solidFill>
            <a:srgbClr val="1E3A5A"/>
          </a:solidFill>
          <a:ln/>
        </p:spPr>
        <p:txBody>
          <a:bodyPr/>
          <a:lstStyle/>
          <a:p>
            <a:endParaRPr lang="en-IN"/>
          </a:p>
        </p:txBody>
      </p:sp>
      <p:sp>
        <p:nvSpPr>
          <p:cNvPr id="15" name="Text 13"/>
          <p:cNvSpPr/>
          <p:nvPr/>
        </p:nvSpPr>
        <p:spPr>
          <a:xfrm>
            <a:off x="2606040" y="4160520"/>
            <a:ext cx="1828800" cy="256032"/>
          </a:xfrm>
          <a:prstGeom prst="rect">
            <a:avLst/>
          </a:prstGeom>
          <a:noFill/>
          <a:ln/>
        </p:spPr>
        <p:txBody>
          <a:bodyPr wrap="square" lIns="0" tIns="0" rIns="0" bIns="0" rtlCol="0" anchor="ctr"/>
          <a:lstStyle/>
          <a:p>
            <a:pPr marL="0" indent="0" algn="ctr">
              <a:buNone/>
            </a:pPr>
            <a:r>
              <a:rPr lang="en-US" sz="900" dirty="0">
                <a:solidFill>
                  <a:srgbClr val="00B4D8"/>
                </a:solidFill>
                <a:latin typeface="Calibri" pitchFamily="34" charset="0"/>
                <a:ea typeface="Calibri" pitchFamily="34" charset="-122"/>
                <a:cs typeface="Calibri" pitchFamily="34" charset="-120"/>
              </a:rPr>
              <a:t>Kubernetes</a:t>
            </a:r>
            <a:endParaRPr lang="en-US" sz="900" dirty="0"/>
          </a:p>
        </p:txBody>
      </p:sp>
      <p:sp>
        <p:nvSpPr>
          <p:cNvPr id="16" name="Shape 14"/>
          <p:cNvSpPr/>
          <p:nvPr/>
        </p:nvSpPr>
        <p:spPr>
          <a:xfrm>
            <a:off x="4663440" y="4160520"/>
            <a:ext cx="1828800" cy="256032"/>
          </a:xfrm>
          <a:prstGeom prst="roundRect">
            <a:avLst>
              <a:gd name="adj" fmla="val 14286"/>
            </a:avLst>
          </a:prstGeom>
          <a:solidFill>
            <a:srgbClr val="1E3A5A"/>
          </a:solidFill>
          <a:ln/>
        </p:spPr>
        <p:txBody>
          <a:bodyPr/>
          <a:lstStyle/>
          <a:p>
            <a:endParaRPr lang="en-IN"/>
          </a:p>
        </p:txBody>
      </p:sp>
      <p:sp>
        <p:nvSpPr>
          <p:cNvPr id="17" name="Text 15"/>
          <p:cNvSpPr/>
          <p:nvPr/>
        </p:nvSpPr>
        <p:spPr>
          <a:xfrm>
            <a:off x="4663440" y="4160520"/>
            <a:ext cx="1828800" cy="256032"/>
          </a:xfrm>
          <a:prstGeom prst="rect">
            <a:avLst/>
          </a:prstGeom>
          <a:noFill/>
          <a:ln/>
        </p:spPr>
        <p:txBody>
          <a:bodyPr wrap="square" lIns="0" tIns="0" rIns="0" bIns="0" rtlCol="0" anchor="ctr"/>
          <a:lstStyle/>
          <a:p>
            <a:pPr marL="0" indent="0" algn="ctr">
              <a:buNone/>
            </a:pPr>
            <a:r>
              <a:rPr lang="en-US" sz="900" dirty="0">
                <a:solidFill>
                  <a:srgbClr val="00B4D8"/>
                </a:solidFill>
                <a:latin typeface="Calibri" pitchFamily="34" charset="0"/>
                <a:ea typeface="Calibri" pitchFamily="34" charset="-122"/>
                <a:cs typeface="Calibri" pitchFamily="34" charset="-120"/>
              </a:rPr>
              <a:t>Terraform</a:t>
            </a:r>
            <a:endParaRPr lang="en-US" sz="900" dirty="0"/>
          </a:p>
        </p:txBody>
      </p:sp>
      <p:sp>
        <p:nvSpPr>
          <p:cNvPr id="18" name="Shape 16"/>
          <p:cNvSpPr/>
          <p:nvPr/>
        </p:nvSpPr>
        <p:spPr>
          <a:xfrm>
            <a:off x="6720840" y="4160520"/>
            <a:ext cx="1828800" cy="256032"/>
          </a:xfrm>
          <a:prstGeom prst="roundRect">
            <a:avLst>
              <a:gd name="adj" fmla="val 14286"/>
            </a:avLst>
          </a:prstGeom>
          <a:solidFill>
            <a:srgbClr val="1E3A5A"/>
          </a:solidFill>
          <a:ln/>
        </p:spPr>
        <p:txBody>
          <a:bodyPr/>
          <a:lstStyle/>
          <a:p>
            <a:endParaRPr lang="en-IN"/>
          </a:p>
        </p:txBody>
      </p:sp>
      <p:sp>
        <p:nvSpPr>
          <p:cNvPr id="19" name="Text 17"/>
          <p:cNvSpPr/>
          <p:nvPr/>
        </p:nvSpPr>
        <p:spPr>
          <a:xfrm>
            <a:off x="6720840" y="4160520"/>
            <a:ext cx="1828800" cy="256032"/>
          </a:xfrm>
          <a:prstGeom prst="rect">
            <a:avLst/>
          </a:prstGeom>
          <a:noFill/>
          <a:ln/>
        </p:spPr>
        <p:txBody>
          <a:bodyPr wrap="square" lIns="0" tIns="0" rIns="0" bIns="0" rtlCol="0" anchor="ctr"/>
          <a:lstStyle/>
          <a:p>
            <a:pPr marL="0" indent="0" algn="ctr">
              <a:buNone/>
            </a:pPr>
            <a:r>
              <a:rPr lang="en-US" sz="900" dirty="0">
                <a:solidFill>
                  <a:srgbClr val="00B4D8"/>
                </a:solidFill>
                <a:latin typeface="Calibri" pitchFamily="34" charset="0"/>
                <a:ea typeface="Calibri" pitchFamily="34" charset="-122"/>
                <a:cs typeface="Calibri" pitchFamily="34" charset="-120"/>
              </a:rPr>
              <a:t>Docker</a:t>
            </a:r>
            <a:endParaRPr lang="en-US" sz="900" dirty="0"/>
          </a:p>
        </p:txBody>
      </p:sp>
      <p:sp>
        <p:nvSpPr>
          <p:cNvPr id="20" name="Shape 18"/>
          <p:cNvSpPr/>
          <p:nvPr/>
        </p:nvSpPr>
        <p:spPr>
          <a:xfrm>
            <a:off x="548640" y="4480560"/>
            <a:ext cx="1828800" cy="256032"/>
          </a:xfrm>
          <a:prstGeom prst="roundRect">
            <a:avLst>
              <a:gd name="adj" fmla="val 14286"/>
            </a:avLst>
          </a:prstGeom>
          <a:solidFill>
            <a:srgbClr val="1E3A5A"/>
          </a:solidFill>
          <a:ln/>
        </p:spPr>
        <p:txBody>
          <a:bodyPr/>
          <a:lstStyle/>
          <a:p>
            <a:endParaRPr lang="en-IN"/>
          </a:p>
        </p:txBody>
      </p:sp>
      <p:sp>
        <p:nvSpPr>
          <p:cNvPr id="21" name="Text 19"/>
          <p:cNvSpPr/>
          <p:nvPr/>
        </p:nvSpPr>
        <p:spPr>
          <a:xfrm>
            <a:off x="548640" y="4480560"/>
            <a:ext cx="1828800" cy="256032"/>
          </a:xfrm>
          <a:prstGeom prst="rect">
            <a:avLst/>
          </a:prstGeom>
          <a:noFill/>
          <a:ln/>
        </p:spPr>
        <p:txBody>
          <a:bodyPr wrap="square" lIns="0" tIns="0" rIns="0" bIns="0" rtlCol="0" anchor="ctr"/>
          <a:lstStyle/>
          <a:p>
            <a:pPr marL="0" indent="0" algn="ctr">
              <a:buNone/>
            </a:pPr>
            <a:r>
              <a:rPr lang="en-US" sz="900" dirty="0">
                <a:solidFill>
                  <a:srgbClr val="00B4D8"/>
                </a:solidFill>
                <a:latin typeface="Calibri" pitchFamily="34" charset="0"/>
                <a:ea typeface="Calibri" pitchFamily="34" charset="-122"/>
                <a:cs typeface="Calibri" pitchFamily="34" charset="-120"/>
              </a:rPr>
              <a:t>GitHub Actions</a:t>
            </a:r>
            <a:endParaRPr lang="en-US" sz="900" dirty="0"/>
          </a:p>
        </p:txBody>
      </p:sp>
      <p:sp>
        <p:nvSpPr>
          <p:cNvPr id="22" name="Shape 20"/>
          <p:cNvSpPr/>
          <p:nvPr/>
        </p:nvSpPr>
        <p:spPr>
          <a:xfrm>
            <a:off x="2606040" y="4480560"/>
            <a:ext cx="1828800" cy="256032"/>
          </a:xfrm>
          <a:prstGeom prst="roundRect">
            <a:avLst>
              <a:gd name="adj" fmla="val 14286"/>
            </a:avLst>
          </a:prstGeom>
          <a:solidFill>
            <a:srgbClr val="1E3A5A"/>
          </a:solidFill>
          <a:ln/>
        </p:spPr>
        <p:txBody>
          <a:bodyPr/>
          <a:lstStyle/>
          <a:p>
            <a:endParaRPr lang="en-IN"/>
          </a:p>
        </p:txBody>
      </p:sp>
      <p:sp>
        <p:nvSpPr>
          <p:cNvPr id="23" name="Text 21"/>
          <p:cNvSpPr/>
          <p:nvPr/>
        </p:nvSpPr>
        <p:spPr>
          <a:xfrm>
            <a:off x="2606040" y="4480560"/>
            <a:ext cx="1828800" cy="256032"/>
          </a:xfrm>
          <a:prstGeom prst="rect">
            <a:avLst/>
          </a:prstGeom>
          <a:noFill/>
          <a:ln/>
        </p:spPr>
        <p:txBody>
          <a:bodyPr wrap="square" lIns="0" tIns="0" rIns="0" bIns="0" rtlCol="0" anchor="ctr"/>
          <a:lstStyle/>
          <a:p>
            <a:pPr marL="0" indent="0" algn="ctr">
              <a:buNone/>
            </a:pPr>
            <a:r>
              <a:rPr lang="en-US" sz="900" dirty="0">
                <a:solidFill>
                  <a:srgbClr val="00B4D8"/>
                </a:solidFill>
                <a:latin typeface="Calibri" pitchFamily="34" charset="0"/>
                <a:ea typeface="Calibri" pitchFamily="34" charset="-122"/>
                <a:cs typeface="Calibri" pitchFamily="34" charset="-120"/>
              </a:rPr>
              <a:t>ArgoCD</a:t>
            </a:r>
            <a:endParaRPr lang="en-US" sz="900" dirty="0"/>
          </a:p>
        </p:txBody>
      </p:sp>
      <p:sp>
        <p:nvSpPr>
          <p:cNvPr id="24" name="Shape 22"/>
          <p:cNvSpPr/>
          <p:nvPr/>
        </p:nvSpPr>
        <p:spPr>
          <a:xfrm>
            <a:off x="4663440" y="4480560"/>
            <a:ext cx="1828800" cy="256032"/>
          </a:xfrm>
          <a:prstGeom prst="roundRect">
            <a:avLst>
              <a:gd name="adj" fmla="val 14286"/>
            </a:avLst>
          </a:prstGeom>
          <a:solidFill>
            <a:srgbClr val="1E3A5A"/>
          </a:solidFill>
          <a:ln/>
        </p:spPr>
        <p:txBody>
          <a:bodyPr/>
          <a:lstStyle/>
          <a:p>
            <a:endParaRPr lang="en-IN"/>
          </a:p>
        </p:txBody>
      </p:sp>
      <p:sp>
        <p:nvSpPr>
          <p:cNvPr id="25" name="Text 23"/>
          <p:cNvSpPr/>
          <p:nvPr/>
        </p:nvSpPr>
        <p:spPr>
          <a:xfrm>
            <a:off x="4663440" y="4480560"/>
            <a:ext cx="1828800" cy="256032"/>
          </a:xfrm>
          <a:prstGeom prst="rect">
            <a:avLst/>
          </a:prstGeom>
          <a:noFill/>
          <a:ln/>
        </p:spPr>
        <p:txBody>
          <a:bodyPr wrap="square" lIns="0" tIns="0" rIns="0" bIns="0" rtlCol="0" anchor="ctr"/>
          <a:lstStyle/>
          <a:p>
            <a:pPr marL="0" indent="0" algn="ctr">
              <a:buNone/>
            </a:pPr>
            <a:r>
              <a:rPr lang="en-US" sz="900" dirty="0">
                <a:solidFill>
                  <a:srgbClr val="00B4D8"/>
                </a:solidFill>
                <a:latin typeface="Calibri" pitchFamily="34" charset="0"/>
                <a:ea typeface="Calibri" pitchFamily="34" charset="-122"/>
                <a:cs typeface="Calibri" pitchFamily="34" charset="-120"/>
              </a:rPr>
              <a:t>Helm</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6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lIns="0" tIns="0" rIns="0" bIns="0" rtlCol="0" anchor="ctr"/>
          <a:lstStyle/>
          <a:p>
            <a:pPr marL="0" indent="0">
              <a:buNone/>
            </a:pPr>
            <a:r>
              <a:rPr lang="en-US" sz="3600" b="1" dirty="0">
                <a:solidFill>
                  <a:srgbClr val="0D1B2A"/>
                </a:solidFill>
                <a:latin typeface="Calibri" pitchFamily="34" charset="0"/>
                <a:ea typeface="Calibri" pitchFamily="34" charset="-122"/>
                <a:cs typeface="Calibri" pitchFamily="34" charset="-120"/>
              </a:rPr>
              <a:t>Agenda</a:t>
            </a:r>
            <a:endParaRPr lang="en-US" sz="3600" dirty="0"/>
          </a:p>
        </p:txBody>
      </p:sp>
      <p:sp>
        <p:nvSpPr>
          <p:cNvPr id="3" name="Shape 1"/>
          <p:cNvSpPr/>
          <p:nvPr/>
        </p:nvSpPr>
        <p:spPr>
          <a:xfrm>
            <a:off x="365760" y="960120"/>
            <a:ext cx="4206240" cy="658368"/>
          </a:xfrm>
          <a:prstGeom prst="roundRect">
            <a:avLst>
              <a:gd name="adj" fmla="val 11111"/>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4" name="Shape 2"/>
          <p:cNvSpPr/>
          <p:nvPr/>
        </p:nvSpPr>
        <p:spPr>
          <a:xfrm>
            <a:off x="438912" y="1069848"/>
            <a:ext cx="384048" cy="384048"/>
          </a:xfrm>
          <a:prstGeom prst="roundRect">
            <a:avLst>
              <a:gd name="adj" fmla="val 11905"/>
            </a:avLst>
          </a:prstGeom>
          <a:solidFill>
            <a:srgbClr val="00B4D8"/>
          </a:solidFill>
          <a:ln/>
        </p:spPr>
        <p:txBody>
          <a:bodyPr/>
          <a:lstStyle/>
          <a:p>
            <a:endParaRPr lang="en-IN"/>
          </a:p>
        </p:txBody>
      </p:sp>
      <p:sp>
        <p:nvSpPr>
          <p:cNvPr id="5" name="Text 3"/>
          <p:cNvSpPr/>
          <p:nvPr/>
        </p:nvSpPr>
        <p:spPr>
          <a:xfrm>
            <a:off x="438912" y="1069848"/>
            <a:ext cx="384048" cy="384048"/>
          </a:xfrm>
          <a:prstGeom prst="rect">
            <a:avLst/>
          </a:prstGeom>
          <a:noFill/>
          <a:ln/>
        </p:spPr>
        <p:txBody>
          <a:bodyPr wrap="square" lIns="0" tIns="0" rIns="0" bIns="0" rtlCol="0" anchor="ctr"/>
          <a:lstStyle/>
          <a:p>
            <a:pPr marL="0" indent="0" algn="ctr">
              <a:buNone/>
            </a:pPr>
            <a:r>
              <a:rPr lang="en-US" sz="1000" b="1" dirty="0">
                <a:solidFill>
                  <a:srgbClr val="0D1B2A"/>
                </a:solidFill>
              </a:rPr>
              <a:t>01</a:t>
            </a:r>
            <a:endParaRPr lang="en-US" sz="1000" dirty="0"/>
          </a:p>
        </p:txBody>
      </p:sp>
      <p:sp>
        <p:nvSpPr>
          <p:cNvPr id="6" name="Text 4"/>
          <p:cNvSpPr/>
          <p:nvPr/>
        </p:nvSpPr>
        <p:spPr>
          <a:xfrm>
            <a:off x="914400" y="1014984"/>
            <a:ext cx="356616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Application Overview</a:t>
            </a:r>
            <a:endParaRPr lang="en-US" sz="1200" dirty="0"/>
          </a:p>
        </p:txBody>
      </p:sp>
      <p:sp>
        <p:nvSpPr>
          <p:cNvPr id="7" name="Text 5"/>
          <p:cNvSpPr/>
          <p:nvPr/>
        </p:nvSpPr>
        <p:spPr>
          <a:xfrm>
            <a:off x="914400" y="1289304"/>
            <a:ext cx="3566160" cy="256032"/>
          </a:xfrm>
          <a:prstGeom prst="rect">
            <a:avLst/>
          </a:prstGeom>
          <a:noFill/>
          <a:ln/>
        </p:spPr>
        <p:txBody>
          <a:bodyPr wrap="square" lIns="0" tIns="0" rIns="0" bIns="0" rtlCol="0" anchor="ctr"/>
          <a:lstStyle/>
          <a:p>
            <a:pPr marL="0" indent="0">
              <a:buNone/>
            </a:pPr>
            <a:r>
              <a:rPr lang="en-US" sz="1000" dirty="0">
                <a:solidFill>
                  <a:srgbClr val="4A6080"/>
                </a:solidFill>
                <a:latin typeface="Calibri" pitchFamily="34" charset="0"/>
                <a:ea typeface="Calibri" pitchFamily="34" charset="-122"/>
                <a:cs typeface="Calibri" pitchFamily="34" charset="-120"/>
              </a:rPr>
              <a:t>What HireVoice is and who it serves</a:t>
            </a:r>
            <a:endParaRPr lang="en-US" sz="1000" dirty="0"/>
          </a:p>
        </p:txBody>
      </p:sp>
      <p:sp>
        <p:nvSpPr>
          <p:cNvPr id="8" name="Shape 6"/>
          <p:cNvSpPr/>
          <p:nvPr/>
        </p:nvSpPr>
        <p:spPr>
          <a:xfrm>
            <a:off x="4846320" y="960120"/>
            <a:ext cx="4206240" cy="658368"/>
          </a:xfrm>
          <a:prstGeom prst="roundRect">
            <a:avLst>
              <a:gd name="adj" fmla="val 11111"/>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9" name="Shape 7"/>
          <p:cNvSpPr/>
          <p:nvPr/>
        </p:nvSpPr>
        <p:spPr>
          <a:xfrm>
            <a:off x="4919472" y="1069848"/>
            <a:ext cx="384048" cy="384048"/>
          </a:xfrm>
          <a:prstGeom prst="roundRect">
            <a:avLst>
              <a:gd name="adj" fmla="val 11905"/>
            </a:avLst>
          </a:prstGeom>
          <a:solidFill>
            <a:srgbClr val="00B4D8"/>
          </a:solidFill>
          <a:ln/>
        </p:spPr>
        <p:txBody>
          <a:bodyPr/>
          <a:lstStyle/>
          <a:p>
            <a:endParaRPr lang="en-IN"/>
          </a:p>
        </p:txBody>
      </p:sp>
      <p:sp>
        <p:nvSpPr>
          <p:cNvPr id="10" name="Text 8"/>
          <p:cNvSpPr/>
          <p:nvPr/>
        </p:nvSpPr>
        <p:spPr>
          <a:xfrm>
            <a:off x="4919472" y="1069848"/>
            <a:ext cx="384048" cy="384048"/>
          </a:xfrm>
          <a:prstGeom prst="rect">
            <a:avLst/>
          </a:prstGeom>
          <a:noFill/>
          <a:ln/>
        </p:spPr>
        <p:txBody>
          <a:bodyPr wrap="square" lIns="0" tIns="0" rIns="0" bIns="0" rtlCol="0" anchor="ctr"/>
          <a:lstStyle/>
          <a:p>
            <a:pPr marL="0" indent="0" algn="ctr">
              <a:buNone/>
            </a:pPr>
            <a:r>
              <a:rPr lang="en-US" sz="1000" b="1" dirty="0">
                <a:solidFill>
                  <a:srgbClr val="0D1B2A"/>
                </a:solidFill>
              </a:rPr>
              <a:t>02</a:t>
            </a:r>
            <a:endParaRPr lang="en-US" sz="1000" dirty="0"/>
          </a:p>
        </p:txBody>
      </p:sp>
      <p:sp>
        <p:nvSpPr>
          <p:cNvPr id="11" name="Text 9"/>
          <p:cNvSpPr/>
          <p:nvPr/>
        </p:nvSpPr>
        <p:spPr>
          <a:xfrm>
            <a:off x="5394960" y="1014984"/>
            <a:ext cx="356616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Problem Statement</a:t>
            </a:r>
            <a:endParaRPr lang="en-US" sz="1200" dirty="0"/>
          </a:p>
        </p:txBody>
      </p:sp>
      <p:sp>
        <p:nvSpPr>
          <p:cNvPr id="12" name="Text 10"/>
          <p:cNvSpPr/>
          <p:nvPr/>
        </p:nvSpPr>
        <p:spPr>
          <a:xfrm>
            <a:off x="5394960" y="1289304"/>
            <a:ext cx="3566160" cy="256032"/>
          </a:xfrm>
          <a:prstGeom prst="rect">
            <a:avLst/>
          </a:prstGeom>
          <a:noFill/>
          <a:ln/>
        </p:spPr>
        <p:txBody>
          <a:bodyPr wrap="square" lIns="0" tIns="0" rIns="0" bIns="0" rtlCol="0" anchor="ctr"/>
          <a:lstStyle/>
          <a:p>
            <a:pPr marL="0" indent="0">
              <a:buNone/>
            </a:pPr>
            <a:r>
              <a:rPr lang="en-US" sz="1000" dirty="0">
                <a:solidFill>
                  <a:srgbClr val="4A6080"/>
                </a:solidFill>
                <a:latin typeface="Calibri" pitchFamily="34" charset="0"/>
                <a:ea typeface="Calibri" pitchFamily="34" charset="-122"/>
                <a:cs typeface="Calibri" pitchFamily="34" charset="-120"/>
              </a:rPr>
              <a:t>Pain points in traditional hiring</a:t>
            </a:r>
            <a:endParaRPr lang="en-US" sz="1000" dirty="0"/>
          </a:p>
        </p:txBody>
      </p:sp>
      <p:sp>
        <p:nvSpPr>
          <p:cNvPr id="13" name="Shape 11"/>
          <p:cNvSpPr/>
          <p:nvPr/>
        </p:nvSpPr>
        <p:spPr>
          <a:xfrm>
            <a:off x="365760" y="1709928"/>
            <a:ext cx="4206240" cy="658368"/>
          </a:xfrm>
          <a:prstGeom prst="roundRect">
            <a:avLst>
              <a:gd name="adj" fmla="val 11111"/>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14" name="Shape 12"/>
          <p:cNvSpPr/>
          <p:nvPr/>
        </p:nvSpPr>
        <p:spPr>
          <a:xfrm>
            <a:off x="438912" y="1819656"/>
            <a:ext cx="384048" cy="384048"/>
          </a:xfrm>
          <a:prstGeom prst="roundRect">
            <a:avLst>
              <a:gd name="adj" fmla="val 11905"/>
            </a:avLst>
          </a:prstGeom>
          <a:solidFill>
            <a:srgbClr val="00B4D8"/>
          </a:solidFill>
          <a:ln/>
        </p:spPr>
        <p:txBody>
          <a:bodyPr/>
          <a:lstStyle/>
          <a:p>
            <a:endParaRPr lang="en-IN"/>
          </a:p>
        </p:txBody>
      </p:sp>
      <p:sp>
        <p:nvSpPr>
          <p:cNvPr id="15" name="Text 13"/>
          <p:cNvSpPr/>
          <p:nvPr/>
        </p:nvSpPr>
        <p:spPr>
          <a:xfrm>
            <a:off x="438912" y="1819656"/>
            <a:ext cx="384048" cy="384048"/>
          </a:xfrm>
          <a:prstGeom prst="rect">
            <a:avLst/>
          </a:prstGeom>
          <a:noFill/>
          <a:ln/>
        </p:spPr>
        <p:txBody>
          <a:bodyPr wrap="square" lIns="0" tIns="0" rIns="0" bIns="0" rtlCol="0" anchor="ctr"/>
          <a:lstStyle/>
          <a:p>
            <a:pPr marL="0" indent="0" algn="ctr">
              <a:buNone/>
            </a:pPr>
            <a:r>
              <a:rPr lang="en-US" sz="1000" b="1" dirty="0">
                <a:solidFill>
                  <a:srgbClr val="0D1B2A"/>
                </a:solidFill>
              </a:rPr>
              <a:t>03</a:t>
            </a:r>
            <a:endParaRPr lang="en-US" sz="1000" dirty="0"/>
          </a:p>
        </p:txBody>
      </p:sp>
      <p:sp>
        <p:nvSpPr>
          <p:cNvPr id="16" name="Text 14"/>
          <p:cNvSpPr/>
          <p:nvPr/>
        </p:nvSpPr>
        <p:spPr>
          <a:xfrm>
            <a:off x="914400" y="1764792"/>
            <a:ext cx="356616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Proposed Solution &amp; Features</a:t>
            </a:r>
            <a:endParaRPr lang="en-US" sz="1200" dirty="0"/>
          </a:p>
        </p:txBody>
      </p:sp>
      <p:sp>
        <p:nvSpPr>
          <p:cNvPr id="17" name="Text 15"/>
          <p:cNvSpPr/>
          <p:nvPr/>
        </p:nvSpPr>
        <p:spPr>
          <a:xfrm>
            <a:off x="914400" y="2039112"/>
            <a:ext cx="3566160" cy="256032"/>
          </a:xfrm>
          <a:prstGeom prst="rect">
            <a:avLst/>
          </a:prstGeom>
          <a:noFill/>
          <a:ln/>
        </p:spPr>
        <p:txBody>
          <a:bodyPr wrap="square" lIns="0" tIns="0" rIns="0" bIns="0" rtlCol="0" anchor="ctr"/>
          <a:lstStyle/>
          <a:p>
            <a:pPr marL="0" indent="0">
              <a:buNone/>
            </a:pPr>
            <a:r>
              <a:rPr lang="en-US" sz="1000" dirty="0">
                <a:solidFill>
                  <a:srgbClr val="4A6080"/>
                </a:solidFill>
                <a:latin typeface="Calibri" pitchFamily="34" charset="0"/>
                <a:ea typeface="Calibri" pitchFamily="34" charset="-122"/>
                <a:cs typeface="Calibri" pitchFamily="34" charset="-120"/>
              </a:rPr>
              <a:t>How HireVoice solves it</a:t>
            </a:r>
            <a:endParaRPr lang="en-US" sz="1000" dirty="0"/>
          </a:p>
        </p:txBody>
      </p:sp>
      <p:sp>
        <p:nvSpPr>
          <p:cNvPr id="18" name="Shape 16"/>
          <p:cNvSpPr/>
          <p:nvPr/>
        </p:nvSpPr>
        <p:spPr>
          <a:xfrm>
            <a:off x="4846320" y="1709928"/>
            <a:ext cx="4206240" cy="658368"/>
          </a:xfrm>
          <a:prstGeom prst="roundRect">
            <a:avLst>
              <a:gd name="adj" fmla="val 11111"/>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19" name="Shape 17"/>
          <p:cNvSpPr/>
          <p:nvPr/>
        </p:nvSpPr>
        <p:spPr>
          <a:xfrm>
            <a:off x="4919472" y="1819656"/>
            <a:ext cx="384048" cy="384048"/>
          </a:xfrm>
          <a:prstGeom prst="roundRect">
            <a:avLst>
              <a:gd name="adj" fmla="val 11905"/>
            </a:avLst>
          </a:prstGeom>
          <a:solidFill>
            <a:srgbClr val="00B4D8"/>
          </a:solidFill>
          <a:ln/>
        </p:spPr>
        <p:txBody>
          <a:bodyPr/>
          <a:lstStyle/>
          <a:p>
            <a:endParaRPr lang="en-IN"/>
          </a:p>
        </p:txBody>
      </p:sp>
      <p:sp>
        <p:nvSpPr>
          <p:cNvPr id="20" name="Text 18"/>
          <p:cNvSpPr/>
          <p:nvPr/>
        </p:nvSpPr>
        <p:spPr>
          <a:xfrm>
            <a:off x="4919472" y="1819656"/>
            <a:ext cx="384048" cy="384048"/>
          </a:xfrm>
          <a:prstGeom prst="rect">
            <a:avLst/>
          </a:prstGeom>
          <a:noFill/>
          <a:ln/>
        </p:spPr>
        <p:txBody>
          <a:bodyPr wrap="square" lIns="0" tIns="0" rIns="0" bIns="0" rtlCol="0" anchor="ctr"/>
          <a:lstStyle/>
          <a:p>
            <a:pPr marL="0" indent="0" algn="ctr">
              <a:buNone/>
            </a:pPr>
            <a:r>
              <a:rPr lang="en-US" sz="1000" b="1" dirty="0">
                <a:solidFill>
                  <a:srgbClr val="0D1B2A"/>
                </a:solidFill>
              </a:rPr>
              <a:t>04</a:t>
            </a:r>
            <a:endParaRPr lang="en-US" sz="1000" dirty="0"/>
          </a:p>
        </p:txBody>
      </p:sp>
      <p:sp>
        <p:nvSpPr>
          <p:cNvPr id="21" name="Text 19"/>
          <p:cNvSpPr/>
          <p:nvPr/>
        </p:nvSpPr>
        <p:spPr>
          <a:xfrm>
            <a:off x="5394960" y="1764792"/>
            <a:ext cx="356616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Architecture</a:t>
            </a:r>
            <a:endParaRPr lang="en-US" sz="1200" dirty="0"/>
          </a:p>
        </p:txBody>
      </p:sp>
      <p:sp>
        <p:nvSpPr>
          <p:cNvPr id="22" name="Text 20"/>
          <p:cNvSpPr/>
          <p:nvPr/>
        </p:nvSpPr>
        <p:spPr>
          <a:xfrm>
            <a:off x="5394960" y="2039112"/>
            <a:ext cx="3566160" cy="256032"/>
          </a:xfrm>
          <a:prstGeom prst="rect">
            <a:avLst/>
          </a:prstGeom>
          <a:noFill/>
          <a:ln/>
        </p:spPr>
        <p:txBody>
          <a:bodyPr wrap="square" lIns="0" tIns="0" rIns="0" bIns="0" rtlCol="0" anchor="ctr"/>
          <a:lstStyle/>
          <a:p>
            <a:pPr marL="0" indent="0">
              <a:buNone/>
            </a:pPr>
            <a:r>
              <a:rPr lang="en-US" sz="1000" dirty="0">
                <a:solidFill>
                  <a:srgbClr val="4A6080"/>
                </a:solidFill>
                <a:latin typeface="Calibri" pitchFamily="34" charset="0"/>
                <a:ea typeface="Calibri" pitchFamily="34" charset="-122"/>
                <a:cs typeface="Calibri" pitchFamily="34" charset="-120"/>
              </a:rPr>
              <a:t>App + Microservices + AI Workflows</a:t>
            </a:r>
            <a:endParaRPr lang="en-US" sz="1000" dirty="0"/>
          </a:p>
        </p:txBody>
      </p:sp>
      <p:sp>
        <p:nvSpPr>
          <p:cNvPr id="23" name="Shape 21"/>
          <p:cNvSpPr/>
          <p:nvPr/>
        </p:nvSpPr>
        <p:spPr>
          <a:xfrm>
            <a:off x="365760" y="2459736"/>
            <a:ext cx="4206240" cy="658368"/>
          </a:xfrm>
          <a:prstGeom prst="roundRect">
            <a:avLst>
              <a:gd name="adj" fmla="val 11111"/>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24" name="Shape 22"/>
          <p:cNvSpPr/>
          <p:nvPr/>
        </p:nvSpPr>
        <p:spPr>
          <a:xfrm>
            <a:off x="438912" y="2569464"/>
            <a:ext cx="384048" cy="384048"/>
          </a:xfrm>
          <a:prstGeom prst="roundRect">
            <a:avLst>
              <a:gd name="adj" fmla="val 11905"/>
            </a:avLst>
          </a:prstGeom>
          <a:solidFill>
            <a:srgbClr val="00B4D8"/>
          </a:solidFill>
          <a:ln/>
        </p:spPr>
        <p:txBody>
          <a:bodyPr/>
          <a:lstStyle/>
          <a:p>
            <a:endParaRPr lang="en-IN"/>
          </a:p>
        </p:txBody>
      </p:sp>
      <p:sp>
        <p:nvSpPr>
          <p:cNvPr id="25" name="Text 23"/>
          <p:cNvSpPr/>
          <p:nvPr/>
        </p:nvSpPr>
        <p:spPr>
          <a:xfrm>
            <a:off x="438912" y="2569464"/>
            <a:ext cx="384048" cy="384048"/>
          </a:xfrm>
          <a:prstGeom prst="rect">
            <a:avLst/>
          </a:prstGeom>
          <a:noFill/>
          <a:ln/>
        </p:spPr>
        <p:txBody>
          <a:bodyPr wrap="square" lIns="0" tIns="0" rIns="0" bIns="0" rtlCol="0" anchor="ctr"/>
          <a:lstStyle/>
          <a:p>
            <a:pPr marL="0" indent="0" algn="ctr">
              <a:buNone/>
            </a:pPr>
            <a:r>
              <a:rPr lang="en-US" sz="1000" b="1" dirty="0">
                <a:solidFill>
                  <a:srgbClr val="0D1B2A"/>
                </a:solidFill>
              </a:rPr>
              <a:t>05</a:t>
            </a:r>
            <a:endParaRPr lang="en-US" sz="1000" dirty="0"/>
          </a:p>
        </p:txBody>
      </p:sp>
      <p:sp>
        <p:nvSpPr>
          <p:cNvPr id="26" name="Text 24"/>
          <p:cNvSpPr/>
          <p:nvPr/>
        </p:nvSpPr>
        <p:spPr>
          <a:xfrm>
            <a:off x="914400" y="2514600"/>
            <a:ext cx="356616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Infrastructure</a:t>
            </a:r>
            <a:endParaRPr lang="en-US" sz="1200" dirty="0"/>
          </a:p>
        </p:txBody>
      </p:sp>
      <p:sp>
        <p:nvSpPr>
          <p:cNvPr id="27" name="Text 25"/>
          <p:cNvSpPr/>
          <p:nvPr/>
        </p:nvSpPr>
        <p:spPr>
          <a:xfrm>
            <a:off x="914400" y="2788920"/>
            <a:ext cx="3566160" cy="256032"/>
          </a:xfrm>
          <a:prstGeom prst="rect">
            <a:avLst/>
          </a:prstGeom>
          <a:noFill/>
          <a:ln/>
        </p:spPr>
        <p:txBody>
          <a:bodyPr wrap="square" lIns="0" tIns="0" rIns="0" bIns="0" rtlCol="0" anchor="ctr"/>
          <a:lstStyle/>
          <a:p>
            <a:pPr marL="0" indent="0">
              <a:buNone/>
            </a:pPr>
            <a:r>
              <a:rPr lang="en-US" sz="1000" dirty="0">
                <a:solidFill>
                  <a:srgbClr val="4A6080"/>
                </a:solidFill>
                <a:latin typeface="Calibri" pitchFamily="34" charset="0"/>
                <a:ea typeface="Calibri" pitchFamily="34" charset="-122"/>
                <a:cs typeface="Calibri" pitchFamily="34" charset="-120"/>
              </a:rPr>
              <a:t>AWS VPC, EKS, RDS, ECR, Secrets Manager</a:t>
            </a:r>
            <a:endParaRPr lang="en-US" sz="1000" dirty="0"/>
          </a:p>
        </p:txBody>
      </p:sp>
      <p:sp>
        <p:nvSpPr>
          <p:cNvPr id="28" name="Shape 26"/>
          <p:cNvSpPr/>
          <p:nvPr/>
        </p:nvSpPr>
        <p:spPr>
          <a:xfrm>
            <a:off x="4846320" y="2459736"/>
            <a:ext cx="4206240" cy="658368"/>
          </a:xfrm>
          <a:prstGeom prst="roundRect">
            <a:avLst>
              <a:gd name="adj" fmla="val 11111"/>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29" name="Shape 27"/>
          <p:cNvSpPr/>
          <p:nvPr/>
        </p:nvSpPr>
        <p:spPr>
          <a:xfrm>
            <a:off x="4919472" y="2569464"/>
            <a:ext cx="384048" cy="384048"/>
          </a:xfrm>
          <a:prstGeom prst="roundRect">
            <a:avLst>
              <a:gd name="adj" fmla="val 11905"/>
            </a:avLst>
          </a:prstGeom>
          <a:solidFill>
            <a:srgbClr val="00B4D8"/>
          </a:solidFill>
          <a:ln/>
        </p:spPr>
        <p:txBody>
          <a:bodyPr/>
          <a:lstStyle/>
          <a:p>
            <a:endParaRPr lang="en-IN"/>
          </a:p>
        </p:txBody>
      </p:sp>
      <p:sp>
        <p:nvSpPr>
          <p:cNvPr id="30" name="Text 28"/>
          <p:cNvSpPr/>
          <p:nvPr/>
        </p:nvSpPr>
        <p:spPr>
          <a:xfrm>
            <a:off x="4919472" y="2569464"/>
            <a:ext cx="384048" cy="384048"/>
          </a:xfrm>
          <a:prstGeom prst="rect">
            <a:avLst/>
          </a:prstGeom>
          <a:noFill/>
          <a:ln/>
        </p:spPr>
        <p:txBody>
          <a:bodyPr wrap="square" lIns="0" tIns="0" rIns="0" bIns="0" rtlCol="0" anchor="ctr"/>
          <a:lstStyle/>
          <a:p>
            <a:pPr marL="0" indent="0" algn="ctr">
              <a:buNone/>
            </a:pPr>
            <a:r>
              <a:rPr lang="en-US" sz="1000" b="1" dirty="0">
                <a:solidFill>
                  <a:srgbClr val="0D1B2A"/>
                </a:solidFill>
              </a:rPr>
              <a:t>06</a:t>
            </a:r>
            <a:endParaRPr lang="en-US" sz="1000" dirty="0"/>
          </a:p>
        </p:txBody>
      </p:sp>
      <p:sp>
        <p:nvSpPr>
          <p:cNvPr id="31" name="Text 29"/>
          <p:cNvSpPr/>
          <p:nvPr/>
        </p:nvSpPr>
        <p:spPr>
          <a:xfrm>
            <a:off x="5394960" y="2514600"/>
            <a:ext cx="356616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Terraform</a:t>
            </a:r>
            <a:endParaRPr lang="en-US" sz="1200" dirty="0"/>
          </a:p>
        </p:txBody>
      </p:sp>
      <p:sp>
        <p:nvSpPr>
          <p:cNvPr id="32" name="Text 30"/>
          <p:cNvSpPr/>
          <p:nvPr/>
        </p:nvSpPr>
        <p:spPr>
          <a:xfrm>
            <a:off x="5394960" y="2788920"/>
            <a:ext cx="3566160" cy="256032"/>
          </a:xfrm>
          <a:prstGeom prst="rect">
            <a:avLst/>
          </a:prstGeom>
          <a:noFill/>
          <a:ln/>
        </p:spPr>
        <p:txBody>
          <a:bodyPr wrap="square" lIns="0" tIns="0" rIns="0" bIns="0" rtlCol="0" anchor="ctr"/>
          <a:lstStyle/>
          <a:p>
            <a:pPr marL="0" indent="0">
              <a:buNone/>
            </a:pPr>
            <a:r>
              <a:rPr lang="en-US" sz="1000" dirty="0">
                <a:solidFill>
                  <a:srgbClr val="4A6080"/>
                </a:solidFill>
                <a:latin typeface="Calibri" pitchFamily="34" charset="0"/>
                <a:ea typeface="Calibri" pitchFamily="34" charset="-122"/>
                <a:cs typeface="Calibri" pitchFamily="34" charset="-120"/>
              </a:rPr>
              <a:t>Modular IaC setup and remote state</a:t>
            </a:r>
            <a:endParaRPr lang="en-US" sz="1000" dirty="0"/>
          </a:p>
        </p:txBody>
      </p:sp>
      <p:sp>
        <p:nvSpPr>
          <p:cNvPr id="33" name="Shape 31"/>
          <p:cNvSpPr/>
          <p:nvPr/>
        </p:nvSpPr>
        <p:spPr>
          <a:xfrm>
            <a:off x="365760" y="3209544"/>
            <a:ext cx="4206240" cy="658368"/>
          </a:xfrm>
          <a:prstGeom prst="roundRect">
            <a:avLst>
              <a:gd name="adj" fmla="val 11111"/>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34" name="Shape 32"/>
          <p:cNvSpPr/>
          <p:nvPr/>
        </p:nvSpPr>
        <p:spPr>
          <a:xfrm>
            <a:off x="438912" y="3319272"/>
            <a:ext cx="384048" cy="384048"/>
          </a:xfrm>
          <a:prstGeom prst="roundRect">
            <a:avLst>
              <a:gd name="adj" fmla="val 11905"/>
            </a:avLst>
          </a:prstGeom>
          <a:solidFill>
            <a:srgbClr val="00B4D8"/>
          </a:solidFill>
          <a:ln/>
        </p:spPr>
        <p:txBody>
          <a:bodyPr/>
          <a:lstStyle/>
          <a:p>
            <a:endParaRPr lang="en-IN"/>
          </a:p>
        </p:txBody>
      </p:sp>
      <p:sp>
        <p:nvSpPr>
          <p:cNvPr id="35" name="Text 33"/>
          <p:cNvSpPr/>
          <p:nvPr/>
        </p:nvSpPr>
        <p:spPr>
          <a:xfrm>
            <a:off x="438912" y="3319272"/>
            <a:ext cx="384048" cy="384048"/>
          </a:xfrm>
          <a:prstGeom prst="rect">
            <a:avLst/>
          </a:prstGeom>
          <a:noFill/>
          <a:ln/>
        </p:spPr>
        <p:txBody>
          <a:bodyPr wrap="square" lIns="0" tIns="0" rIns="0" bIns="0" rtlCol="0" anchor="ctr"/>
          <a:lstStyle/>
          <a:p>
            <a:pPr marL="0" indent="0" algn="ctr">
              <a:buNone/>
            </a:pPr>
            <a:r>
              <a:rPr lang="en-US" sz="1000" b="1" dirty="0">
                <a:solidFill>
                  <a:srgbClr val="0D1B2A"/>
                </a:solidFill>
              </a:rPr>
              <a:t>07</a:t>
            </a:r>
            <a:endParaRPr lang="en-US" sz="1000" dirty="0"/>
          </a:p>
        </p:txBody>
      </p:sp>
      <p:sp>
        <p:nvSpPr>
          <p:cNvPr id="36" name="Text 34"/>
          <p:cNvSpPr/>
          <p:nvPr/>
        </p:nvSpPr>
        <p:spPr>
          <a:xfrm>
            <a:off x="914400" y="3264408"/>
            <a:ext cx="356616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Kubernetes Deployment</a:t>
            </a:r>
            <a:endParaRPr lang="en-US" sz="1200" dirty="0"/>
          </a:p>
        </p:txBody>
      </p:sp>
      <p:sp>
        <p:nvSpPr>
          <p:cNvPr id="37" name="Text 35"/>
          <p:cNvSpPr/>
          <p:nvPr/>
        </p:nvSpPr>
        <p:spPr>
          <a:xfrm>
            <a:off x="914400" y="3538728"/>
            <a:ext cx="3566160" cy="256032"/>
          </a:xfrm>
          <a:prstGeom prst="rect">
            <a:avLst/>
          </a:prstGeom>
          <a:noFill/>
          <a:ln/>
        </p:spPr>
        <p:txBody>
          <a:bodyPr wrap="square" lIns="0" tIns="0" rIns="0" bIns="0" rtlCol="0" anchor="ctr"/>
          <a:lstStyle/>
          <a:p>
            <a:pPr marL="0" indent="0">
              <a:buNone/>
            </a:pPr>
            <a:r>
              <a:rPr lang="en-US" sz="1000" dirty="0">
                <a:solidFill>
                  <a:srgbClr val="4A6080"/>
                </a:solidFill>
                <a:latin typeface="Calibri" pitchFamily="34" charset="0"/>
                <a:ea typeface="Calibri" pitchFamily="34" charset="-122"/>
                <a:cs typeface="Calibri" pitchFamily="34" charset="-120"/>
              </a:rPr>
              <a:t>Helm chart, replicas, configs</a:t>
            </a:r>
            <a:endParaRPr lang="en-US" sz="1000" dirty="0"/>
          </a:p>
        </p:txBody>
      </p:sp>
      <p:sp>
        <p:nvSpPr>
          <p:cNvPr id="38" name="Shape 36"/>
          <p:cNvSpPr/>
          <p:nvPr/>
        </p:nvSpPr>
        <p:spPr>
          <a:xfrm>
            <a:off x="4846320" y="3209544"/>
            <a:ext cx="4206240" cy="658368"/>
          </a:xfrm>
          <a:prstGeom prst="roundRect">
            <a:avLst>
              <a:gd name="adj" fmla="val 11111"/>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39" name="Shape 37"/>
          <p:cNvSpPr/>
          <p:nvPr/>
        </p:nvSpPr>
        <p:spPr>
          <a:xfrm>
            <a:off x="4919472" y="3319272"/>
            <a:ext cx="384048" cy="384048"/>
          </a:xfrm>
          <a:prstGeom prst="roundRect">
            <a:avLst>
              <a:gd name="adj" fmla="val 11905"/>
            </a:avLst>
          </a:prstGeom>
          <a:solidFill>
            <a:srgbClr val="00B4D8"/>
          </a:solidFill>
          <a:ln/>
        </p:spPr>
        <p:txBody>
          <a:bodyPr/>
          <a:lstStyle/>
          <a:p>
            <a:endParaRPr lang="en-IN"/>
          </a:p>
        </p:txBody>
      </p:sp>
      <p:sp>
        <p:nvSpPr>
          <p:cNvPr id="40" name="Text 38"/>
          <p:cNvSpPr/>
          <p:nvPr/>
        </p:nvSpPr>
        <p:spPr>
          <a:xfrm>
            <a:off x="4919472" y="3319272"/>
            <a:ext cx="384048" cy="384048"/>
          </a:xfrm>
          <a:prstGeom prst="rect">
            <a:avLst/>
          </a:prstGeom>
          <a:noFill/>
          <a:ln/>
        </p:spPr>
        <p:txBody>
          <a:bodyPr wrap="square" lIns="0" tIns="0" rIns="0" bIns="0" rtlCol="0" anchor="ctr"/>
          <a:lstStyle/>
          <a:p>
            <a:pPr marL="0" indent="0" algn="ctr">
              <a:buNone/>
            </a:pPr>
            <a:r>
              <a:rPr lang="en-US" sz="1000" b="1" dirty="0">
                <a:solidFill>
                  <a:srgbClr val="0D1B2A"/>
                </a:solidFill>
              </a:rPr>
              <a:t>08</a:t>
            </a:r>
            <a:endParaRPr lang="en-US" sz="1000" dirty="0"/>
          </a:p>
        </p:txBody>
      </p:sp>
      <p:sp>
        <p:nvSpPr>
          <p:cNvPr id="41" name="Text 39"/>
          <p:cNvSpPr/>
          <p:nvPr/>
        </p:nvSpPr>
        <p:spPr>
          <a:xfrm>
            <a:off x="5394960" y="3264408"/>
            <a:ext cx="356616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CI/CD Pipeline</a:t>
            </a:r>
            <a:endParaRPr lang="en-US" sz="1200" dirty="0"/>
          </a:p>
        </p:txBody>
      </p:sp>
      <p:sp>
        <p:nvSpPr>
          <p:cNvPr id="42" name="Text 40"/>
          <p:cNvSpPr/>
          <p:nvPr/>
        </p:nvSpPr>
        <p:spPr>
          <a:xfrm>
            <a:off x="5394960" y="3538728"/>
            <a:ext cx="3566160" cy="256032"/>
          </a:xfrm>
          <a:prstGeom prst="rect">
            <a:avLst/>
          </a:prstGeom>
          <a:noFill/>
          <a:ln/>
        </p:spPr>
        <p:txBody>
          <a:bodyPr wrap="square" lIns="0" tIns="0" rIns="0" bIns="0" rtlCol="0" anchor="ctr"/>
          <a:lstStyle/>
          <a:p>
            <a:pPr marL="0" indent="0">
              <a:buNone/>
            </a:pPr>
            <a:r>
              <a:rPr lang="en-US" sz="1000" dirty="0">
                <a:solidFill>
                  <a:srgbClr val="4A6080"/>
                </a:solidFill>
                <a:latin typeface="Calibri" pitchFamily="34" charset="0"/>
                <a:ea typeface="Calibri" pitchFamily="34" charset="-122"/>
                <a:cs typeface="Calibri" pitchFamily="34" charset="-120"/>
              </a:rPr>
              <a:t>GitHub Actions CI + ArgoCD CD (GitOps)</a:t>
            </a:r>
            <a:endParaRPr lang="en-US" sz="1000" dirty="0"/>
          </a:p>
        </p:txBody>
      </p:sp>
      <p:sp>
        <p:nvSpPr>
          <p:cNvPr id="43" name="Shape 41"/>
          <p:cNvSpPr/>
          <p:nvPr/>
        </p:nvSpPr>
        <p:spPr>
          <a:xfrm>
            <a:off x="365760" y="3959352"/>
            <a:ext cx="4206240" cy="658368"/>
          </a:xfrm>
          <a:prstGeom prst="roundRect">
            <a:avLst>
              <a:gd name="adj" fmla="val 11111"/>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44" name="Shape 42"/>
          <p:cNvSpPr/>
          <p:nvPr/>
        </p:nvSpPr>
        <p:spPr>
          <a:xfrm>
            <a:off x="438912" y="4069080"/>
            <a:ext cx="384048" cy="384048"/>
          </a:xfrm>
          <a:prstGeom prst="roundRect">
            <a:avLst>
              <a:gd name="adj" fmla="val 11905"/>
            </a:avLst>
          </a:prstGeom>
          <a:solidFill>
            <a:srgbClr val="00B4D8"/>
          </a:solidFill>
          <a:ln/>
        </p:spPr>
        <p:txBody>
          <a:bodyPr/>
          <a:lstStyle/>
          <a:p>
            <a:endParaRPr lang="en-IN"/>
          </a:p>
        </p:txBody>
      </p:sp>
      <p:sp>
        <p:nvSpPr>
          <p:cNvPr id="45" name="Text 43"/>
          <p:cNvSpPr/>
          <p:nvPr/>
        </p:nvSpPr>
        <p:spPr>
          <a:xfrm>
            <a:off x="438912" y="4069080"/>
            <a:ext cx="384048" cy="384048"/>
          </a:xfrm>
          <a:prstGeom prst="rect">
            <a:avLst/>
          </a:prstGeom>
          <a:noFill/>
          <a:ln/>
        </p:spPr>
        <p:txBody>
          <a:bodyPr wrap="square" lIns="0" tIns="0" rIns="0" bIns="0" rtlCol="0" anchor="ctr"/>
          <a:lstStyle/>
          <a:p>
            <a:pPr marL="0" indent="0" algn="ctr">
              <a:buNone/>
            </a:pPr>
            <a:r>
              <a:rPr lang="en-US" sz="1000" b="1" dirty="0">
                <a:solidFill>
                  <a:srgbClr val="0D1B2A"/>
                </a:solidFill>
              </a:rPr>
              <a:t>09</a:t>
            </a:r>
            <a:endParaRPr lang="en-US" sz="1000" dirty="0"/>
          </a:p>
        </p:txBody>
      </p:sp>
      <p:sp>
        <p:nvSpPr>
          <p:cNvPr id="46" name="Text 44"/>
          <p:cNvSpPr/>
          <p:nvPr/>
        </p:nvSpPr>
        <p:spPr>
          <a:xfrm>
            <a:off x="914400" y="4014216"/>
            <a:ext cx="356616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Security &amp; Monitoring</a:t>
            </a:r>
            <a:endParaRPr lang="en-US" sz="1200" dirty="0"/>
          </a:p>
        </p:txBody>
      </p:sp>
      <p:sp>
        <p:nvSpPr>
          <p:cNvPr id="47" name="Text 45"/>
          <p:cNvSpPr/>
          <p:nvPr/>
        </p:nvSpPr>
        <p:spPr>
          <a:xfrm>
            <a:off x="914400" y="4288536"/>
            <a:ext cx="3566160" cy="256032"/>
          </a:xfrm>
          <a:prstGeom prst="rect">
            <a:avLst/>
          </a:prstGeom>
          <a:noFill/>
          <a:ln/>
        </p:spPr>
        <p:txBody>
          <a:bodyPr wrap="square" lIns="0" tIns="0" rIns="0" bIns="0" rtlCol="0" anchor="ctr"/>
          <a:lstStyle/>
          <a:p>
            <a:pPr marL="0" indent="0">
              <a:buNone/>
            </a:pPr>
            <a:r>
              <a:rPr lang="en-US" sz="1000" dirty="0">
                <a:solidFill>
                  <a:srgbClr val="4A6080"/>
                </a:solidFill>
                <a:latin typeface="Calibri" pitchFamily="34" charset="0"/>
                <a:ea typeface="Calibri" pitchFamily="34" charset="-122"/>
                <a:cs typeface="Calibri" pitchFamily="34" charset="-120"/>
              </a:rPr>
              <a:t>OIDC, IRSA, CloudWatch, scanning</a:t>
            </a:r>
            <a:endParaRPr lang="en-US" sz="1000" dirty="0"/>
          </a:p>
        </p:txBody>
      </p:sp>
      <p:sp>
        <p:nvSpPr>
          <p:cNvPr id="48" name="Shape 46"/>
          <p:cNvSpPr/>
          <p:nvPr/>
        </p:nvSpPr>
        <p:spPr>
          <a:xfrm>
            <a:off x="4846320" y="3959352"/>
            <a:ext cx="4206240" cy="658368"/>
          </a:xfrm>
          <a:prstGeom prst="roundRect">
            <a:avLst>
              <a:gd name="adj" fmla="val 11111"/>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49" name="Shape 47"/>
          <p:cNvSpPr/>
          <p:nvPr/>
        </p:nvSpPr>
        <p:spPr>
          <a:xfrm>
            <a:off x="4919472" y="4069080"/>
            <a:ext cx="384048" cy="384048"/>
          </a:xfrm>
          <a:prstGeom prst="roundRect">
            <a:avLst>
              <a:gd name="adj" fmla="val 11905"/>
            </a:avLst>
          </a:prstGeom>
          <a:solidFill>
            <a:srgbClr val="00B4D8"/>
          </a:solidFill>
          <a:ln/>
        </p:spPr>
        <p:txBody>
          <a:bodyPr/>
          <a:lstStyle/>
          <a:p>
            <a:endParaRPr lang="en-IN"/>
          </a:p>
        </p:txBody>
      </p:sp>
      <p:sp>
        <p:nvSpPr>
          <p:cNvPr id="50" name="Text 48"/>
          <p:cNvSpPr/>
          <p:nvPr/>
        </p:nvSpPr>
        <p:spPr>
          <a:xfrm>
            <a:off x="4919472" y="4069080"/>
            <a:ext cx="384048" cy="384048"/>
          </a:xfrm>
          <a:prstGeom prst="rect">
            <a:avLst/>
          </a:prstGeom>
          <a:noFill/>
          <a:ln/>
        </p:spPr>
        <p:txBody>
          <a:bodyPr wrap="square" lIns="0" tIns="0" rIns="0" bIns="0" rtlCol="0" anchor="ctr"/>
          <a:lstStyle/>
          <a:p>
            <a:pPr marL="0" indent="0" algn="ctr">
              <a:buNone/>
            </a:pPr>
            <a:r>
              <a:rPr lang="en-US" sz="1000" b="1" dirty="0">
                <a:solidFill>
                  <a:srgbClr val="0D1B2A"/>
                </a:solidFill>
              </a:rPr>
              <a:t>10</a:t>
            </a:r>
            <a:endParaRPr lang="en-US" sz="1000" dirty="0"/>
          </a:p>
        </p:txBody>
      </p:sp>
      <p:sp>
        <p:nvSpPr>
          <p:cNvPr id="51" name="Text 49"/>
          <p:cNvSpPr/>
          <p:nvPr/>
        </p:nvSpPr>
        <p:spPr>
          <a:xfrm>
            <a:off x="5394960" y="4014216"/>
            <a:ext cx="356616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Demo Flow</a:t>
            </a:r>
            <a:endParaRPr lang="en-US" sz="1200" dirty="0"/>
          </a:p>
        </p:txBody>
      </p:sp>
      <p:sp>
        <p:nvSpPr>
          <p:cNvPr id="52" name="Text 50"/>
          <p:cNvSpPr/>
          <p:nvPr/>
        </p:nvSpPr>
        <p:spPr>
          <a:xfrm>
            <a:off x="5394960" y="4288536"/>
            <a:ext cx="3566160" cy="256032"/>
          </a:xfrm>
          <a:prstGeom prst="rect">
            <a:avLst/>
          </a:prstGeom>
          <a:noFill/>
          <a:ln/>
        </p:spPr>
        <p:txBody>
          <a:bodyPr wrap="square" lIns="0" tIns="0" rIns="0" bIns="0" rtlCol="0" anchor="ctr"/>
          <a:lstStyle/>
          <a:p>
            <a:pPr marL="0" indent="0">
              <a:buNone/>
            </a:pPr>
            <a:r>
              <a:rPr lang="en-US" sz="1000" dirty="0">
                <a:solidFill>
                  <a:srgbClr val="4A6080"/>
                </a:solidFill>
                <a:latin typeface="Calibri" pitchFamily="34" charset="0"/>
                <a:ea typeface="Calibri" pitchFamily="34" charset="-122"/>
                <a:cs typeface="Calibri" pitchFamily="34" charset="-120"/>
              </a:rPr>
              <a:t>Live walkthrough evidence</a:t>
            </a:r>
            <a:endParaRPr lang="en-US" sz="1000" dirty="0"/>
          </a:p>
        </p:txBody>
      </p:sp>
      <p:sp>
        <p:nvSpPr>
          <p:cNvPr id="53" name="Shape 51"/>
          <p:cNvSpPr/>
          <p:nvPr/>
        </p:nvSpPr>
        <p:spPr>
          <a:xfrm>
            <a:off x="365760" y="4709160"/>
            <a:ext cx="4206240" cy="658368"/>
          </a:xfrm>
          <a:prstGeom prst="roundRect">
            <a:avLst>
              <a:gd name="adj" fmla="val 11111"/>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54" name="Shape 52"/>
          <p:cNvSpPr/>
          <p:nvPr/>
        </p:nvSpPr>
        <p:spPr>
          <a:xfrm>
            <a:off x="438912" y="4818888"/>
            <a:ext cx="384048" cy="384048"/>
          </a:xfrm>
          <a:prstGeom prst="roundRect">
            <a:avLst>
              <a:gd name="adj" fmla="val 11905"/>
            </a:avLst>
          </a:prstGeom>
          <a:solidFill>
            <a:srgbClr val="00B4D8"/>
          </a:solidFill>
          <a:ln/>
        </p:spPr>
        <p:txBody>
          <a:bodyPr/>
          <a:lstStyle/>
          <a:p>
            <a:endParaRPr lang="en-IN"/>
          </a:p>
        </p:txBody>
      </p:sp>
      <p:sp>
        <p:nvSpPr>
          <p:cNvPr id="55" name="Text 53"/>
          <p:cNvSpPr/>
          <p:nvPr/>
        </p:nvSpPr>
        <p:spPr>
          <a:xfrm>
            <a:off x="438912" y="4818888"/>
            <a:ext cx="384048" cy="384048"/>
          </a:xfrm>
          <a:prstGeom prst="rect">
            <a:avLst/>
          </a:prstGeom>
          <a:noFill/>
          <a:ln/>
        </p:spPr>
        <p:txBody>
          <a:bodyPr wrap="square" lIns="0" tIns="0" rIns="0" bIns="0" rtlCol="0" anchor="ctr"/>
          <a:lstStyle/>
          <a:p>
            <a:pPr marL="0" indent="0" algn="ctr">
              <a:buNone/>
            </a:pPr>
            <a:r>
              <a:rPr lang="en-US" sz="1000" b="1" dirty="0">
                <a:solidFill>
                  <a:srgbClr val="0D1B2A"/>
                </a:solidFill>
              </a:rPr>
              <a:t>11</a:t>
            </a:r>
            <a:endParaRPr lang="en-US" sz="1000" dirty="0"/>
          </a:p>
        </p:txBody>
      </p:sp>
      <p:sp>
        <p:nvSpPr>
          <p:cNvPr id="56" name="Text 54"/>
          <p:cNvSpPr/>
          <p:nvPr/>
        </p:nvSpPr>
        <p:spPr>
          <a:xfrm>
            <a:off x="914400" y="4764024"/>
            <a:ext cx="356616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Outcomes &amp; Future Scope</a:t>
            </a:r>
            <a:endParaRPr lang="en-US" sz="1200" dirty="0"/>
          </a:p>
        </p:txBody>
      </p:sp>
      <p:sp>
        <p:nvSpPr>
          <p:cNvPr id="57" name="Text 55"/>
          <p:cNvSpPr/>
          <p:nvPr/>
        </p:nvSpPr>
        <p:spPr>
          <a:xfrm>
            <a:off x="914400" y="5038344"/>
            <a:ext cx="3566160" cy="256032"/>
          </a:xfrm>
          <a:prstGeom prst="rect">
            <a:avLst/>
          </a:prstGeom>
          <a:noFill/>
          <a:ln/>
        </p:spPr>
        <p:txBody>
          <a:bodyPr wrap="square" lIns="0" tIns="0" rIns="0" bIns="0" rtlCol="0" anchor="ctr"/>
          <a:lstStyle/>
          <a:p>
            <a:pPr marL="0" indent="0">
              <a:buNone/>
            </a:pPr>
            <a:r>
              <a:rPr lang="en-US" sz="1000" dirty="0">
                <a:solidFill>
                  <a:srgbClr val="4A6080"/>
                </a:solidFill>
                <a:latin typeface="Calibri" pitchFamily="34" charset="0"/>
                <a:ea typeface="Calibri" pitchFamily="34" charset="-122"/>
                <a:cs typeface="Calibri" pitchFamily="34" charset="-120"/>
              </a:rPr>
              <a:t>Results and next steps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6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lIns="0" tIns="0" rIns="0" bIns="0" rtlCol="0" anchor="ctr"/>
          <a:lstStyle/>
          <a:p>
            <a:pPr marL="0" indent="0">
              <a:buNone/>
            </a:pPr>
            <a:r>
              <a:rPr lang="en-US" sz="3600" b="1" dirty="0">
                <a:solidFill>
                  <a:srgbClr val="0D1B2A"/>
                </a:solidFill>
                <a:latin typeface="Calibri" pitchFamily="34" charset="0"/>
                <a:ea typeface="Calibri" pitchFamily="34" charset="-122"/>
                <a:cs typeface="Calibri" pitchFamily="34" charset="-120"/>
              </a:rPr>
              <a:t>What Is HireVoice?</a:t>
            </a:r>
            <a:endParaRPr lang="en-US" sz="3600" dirty="0"/>
          </a:p>
        </p:txBody>
      </p:sp>
      <p:sp>
        <p:nvSpPr>
          <p:cNvPr id="3" name="Text 1"/>
          <p:cNvSpPr/>
          <p:nvPr/>
        </p:nvSpPr>
        <p:spPr>
          <a:xfrm>
            <a:off x="457200" y="777240"/>
            <a:ext cx="8229600" cy="365760"/>
          </a:xfrm>
          <a:prstGeom prst="rect">
            <a:avLst/>
          </a:prstGeom>
          <a:noFill/>
          <a:ln/>
        </p:spPr>
        <p:txBody>
          <a:bodyPr wrap="square" lIns="0" tIns="0" rIns="0" bIns="0" rtlCol="0" anchor="ctr"/>
          <a:lstStyle/>
          <a:p>
            <a:pPr marL="0" indent="0">
              <a:buNone/>
            </a:pPr>
            <a:r>
              <a:rPr lang="en-US" sz="1300" dirty="0">
                <a:solidFill>
                  <a:srgbClr val="4A6080"/>
                </a:solidFill>
                <a:latin typeface="Calibri" pitchFamily="34" charset="0"/>
                <a:ea typeface="Calibri" pitchFamily="34" charset="-122"/>
                <a:cs typeface="Calibri" pitchFamily="34" charset="-120"/>
              </a:rPr>
              <a:t>An AI-powered hiring platform connecting candidates and recruiters through automation.</a:t>
            </a:r>
            <a:endParaRPr lang="en-US" sz="1300" dirty="0"/>
          </a:p>
        </p:txBody>
      </p:sp>
      <p:sp>
        <p:nvSpPr>
          <p:cNvPr id="4" name="Shape 2"/>
          <p:cNvSpPr/>
          <p:nvPr/>
        </p:nvSpPr>
        <p:spPr>
          <a:xfrm>
            <a:off x="365760" y="1280160"/>
            <a:ext cx="3931920" cy="3474720"/>
          </a:xfrm>
          <a:prstGeom prst="roundRect">
            <a:avLst>
              <a:gd name="adj" fmla="val 3158"/>
            </a:avLst>
          </a:prstGeom>
          <a:solidFill>
            <a:srgbClr val="E8F4FD"/>
          </a:solidFill>
          <a:ln/>
          <a:effectLst>
            <a:outerShdw blurRad="101600" dist="38100" dir="2700000" algn="bl" rotWithShape="0">
              <a:srgbClr val="000000">
                <a:alpha val="10000"/>
              </a:srgbClr>
            </a:outerShdw>
          </a:effectLst>
        </p:spPr>
        <p:txBody>
          <a:bodyPr/>
          <a:lstStyle/>
          <a:p>
            <a:endParaRPr lang="en-IN"/>
          </a:p>
        </p:txBody>
      </p:sp>
      <p:sp>
        <p:nvSpPr>
          <p:cNvPr id="5" name="Shape 3"/>
          <p:cNvSpPr/>
          <p:nvPr/>
        </p:nvSpPr>
        <p:spPr>
          <a:xfrm>
            <a:off x="548640" y="1371600"/>
            <a:ext cx="1371600" cy="347472"/>
          </a:xfrm>
          <a:prstGeom prst="roundRect">
            <a:avLst>
              <a:gd name="adj" fmla="val 15789"/>
            </a:avLst>
          </a:prstGeom>
          <a:solidFill>
            <a:srgbClr val="0077B6"/>
          </a:solidFill>
          <a:ln/>
        </p:spPr>
        <p:txBody>
          <a:bodyPr/>
          <a:lstStyle/>
          <a:p>
            <a:endParaRPr lang="en-IN"/>
          </a:p>
        </p:txBody>
      </p:sp>
      <p:sp>
        <p:nvSpPr>
          <p:cNvPr id="6" name="Text 4"/>
          <p:cNvSpPr/>
          <p:nvPr/>
        </p:nvSpPr>
        <p:spPr>
          <a:xfrm>
            <a:off x="548640" y="1371600"/>
            <a:ext cx="1371600" cy="347472"/>
          </a:xfrm>
          <a:prstGeom prst="rect">
            <a:avLst/>
          </a:prstGeom>
          <a:noFill/>
          <a:ln/>
        </p:spPr>
        <p:txBody>
          <a:bodyPr wrap="square" lIns="0" tIns="0" rIns="0" bIns="0" rtlCol="0" anchor="ctr"/>
          <a:lstStyle/>
          <a:p>
            <a:pPr marL="0" indent="0" algn="ctr">
              <a:buNone/>
            </a:pPr>
            <a:r>
              <a:rPr lang="en-US" sz="900" b="1" dirty="0">
                <a:solidFill>
                  <a:srgbClr val="FFFFFF"/>
                </a:solidFill>
              </a:rPr>
              <a:t>CANDIDATES</a:t>
            </a:r>
            <a:endParaRPr lang="en-US" sz="900" dirty="0"/>
          </a:p>
        </p:txBody>
      </p:sp>
      <p:sp>
        <p:nvSpPr>
          <p:cNvPr id="7" name="Text 5"/>
          <p:cNvSpPr/>
          <p:nvPr/>
        </p:nvSpPr>
        <p:spPr>
          <a:xfrm>
            <a:off x="548640" y="1828800"/>
            <a:ext cx="3566160" cy="2743200"/>
          </a:xfrm>
          <a:prstGeom prst="rect">
            <a:avLst/>
          </a:prstGeom>
          <a:noFill/>
          <a:ln/>
        </p:spPr>
        <p:txBody>
          <a:bodyPr wrap="square" rtlCol="0" anchor="ctr"/>
          <a:lstStyle/>
          <a:p>
            <a:pPr marL="342900" indent="-342900">
              <a:spcAft>
                <a:spcPts val="800"/>
              </a:spcAft>
              <a:buSzPct val="100000"/>
              <a:buChar char="•"/>
            </a:pPr>
            <a:r>
              <a:rPr lang="en-US" sz="1300" dirty="0">
                <a:solidFill>
                  <a:srgbClr val="1A2B4A"/>
                </a:solidFill>
                <a:latin typeface="Calibri" pitchFamily="34" charset="0"/>
                <a:ea typeface="Calibri" pitchFamily="34" charset="-122"/>
                <a:cs typeface="Calibri" pitchFamily="34" charset="-120"/>
              </a:rPr>
              <a:t>Sign up and browse job listings</a:t>
            </a:r>
            <a:endParaRPr lang="en-US" sz="1300" dirty="0"/>
          </a:p>
          <a:p>
            <a:pPr marL="342900" indent="-342900">
              <a:spcAft>
                <a:spcPts val="800"/>
              </a:spcAft>
              <a:buSzPct val="100000"/>
              <a:buChar char="•"/>
            </a:pPr>
            <a:r>
              <a:rPr lang="en-US" sz="1300" dirty="0">
                <a:solidFill>
                  <a:srgbClr val="1A2B4A"/>
                </a:solidFill>
                <a:latin typeface="Calibri" pitchFamily="34" charset="0"/>
                <a:ea typeface="Calibri" pitchFamily="34" charset="-122"/>
                <a:cs typeface="Calibri" pitchFamily="34" charset="-120"/>
              </a:rPr>
              <a:t>Upload PDF resumes to apply</a:t>
            </a:r>
            <a:endParaRPr lang="en-US" sz="1300" dirty="0"/>
          </a:p>
          <a:p>
            <a:pPr marL="342900" indent="-342900">
              <a:spcAft>
                <a:spcPts val="800"/>
              </a:spcAft>
              <a:buSzPct val="100000"/>
              <a:buChar char="•"/>
            </a:pPr>
            <a:r>
              <a:rPr lang="en-US" sz="1300" dirty="0">
                <a:solidFill>
                  <a:srgbClr val="1A2B4A"/>
                </a:solidFill>
                <a:latin typeface="Calibri" pitchFamily="34" charset="0"/>
                <a:ea typeface="Calibri" pitchFamily="34" charset="-122"/>
                <a:cs typeface="Calibri" pitchFamily="34" charset="-120"/>
              </a:rPr>
              <a:t>AI screens your resume and scores fit</a:t>
            </a:r>
            <a:endParaRPr lang="en-US" sz="1300" dirty="0"/>
          </a:p>
          <a:p>
            <a:pPr marL="342900" indent="-342900">
              <a:spcAft>
                <a:spcPts val="800"/>
              </a:spcAft>
              <a:buSzPct val="100000"/>
              <a:buChar char="•"/>
            </a:pPr>
            <a:r>
              <a:rPr lang="en-US" sz="1300" dirty="0">
                <a:solidFill>
                  <a:srgbClr val="1A2B4A"/>
                </a:solidFill>
                <a:latin typeface="Calibri" pitchFamily="34" charset="0"/>
                <a:ea typeface="Calibri" pitchFamily="34" charset="-122"/>
                <a:cs typeface="Calibri" pitchFamily="34" charset="-120"/>
              </a:rPr>
              <a:t>Receive invitation for AI voice interview</a:t>
            </a:r>
            <a:endParaRPr lang="en-US" sz="1300" dirty="0"/>
          </a:p>
          <a:p>
            <a:pPr marL="342900" indent="-342900">
              <a:spcAft>
                <a:spcPts val="800"/>
              </a:spcAft>
              <a:buSzPct val="100000"/>
              <a:buChar char="•"/>
            </a:pPr>
            <a:r>
              <a:rPr lang="en-US" sz="1300" dirty="0">
                <a:solidFill>
                  <a:srgbClr val="1A2B4A"/>
                </a:solidFill>
                <a:latin typeface="Calibri" pitchFamily="34" charset="0"/>
                <a:ea typeface="Calibri" pitchFamily="34" charset="-122"/>
                <a:cs typeface="Calibri" pitchFamily="34" charset="-120"/>
              </a:rPr>
              <a:t>Get structured assessments stored for review</a:t>
            </a:r>
            <a:endParaRPr lang="en-US" sz="1300" dirty="0"/>
          </a:p>
        </p:txBody>
      </p:sp>
      <p:sp>
        <p:nvSpPr>
          <p:cNvPr id="8" name="Shape 6"/>
          <p:cNvSpPr/>
          <p:nvPr/>
        </p:nvSpPr>
        <p:spPr>
          <a:xfrm>
            <a:off x="4846320" y="1280160"/>
            <a:ext cx="3931920" cy="3474720"/>
          </a:xfrm>
          <a:prstGeom prst="roundRect">
            <a:avLst>
              <a:gd name="adj" fmla="val 3158"/>
            </a:avLst>
          </a:prstGeom>
          <a:solidFill>
            <a:srgbClr val="E8FDF5"/>
          </a:solidFill>
          <a:ln/>
          <a:effectLst>
            <a:outerShdw blurRad="101600" dist="38100" dir="2700000" algn="bl" rotWithShape="0">
              <a:srgbClr val="000000">
                <a:alpha val="10000"/>
              </a:srgbClr>
            </a:outerShdw>
          </a:effectLst>
        </p:spPr>
        <p:txBody>
          <a:bodyPr/>
          <a:lstStyle/>
          <a:p>
            <a:endParaRPr lang="en-IN"/>
          </a:p>
        </p:txBody>
      </p:sp>
      <p:sp>
        <p:nvSpPr>
          <p:cNvPr id="9" name="Shape 7"/>
          <p:cNvSpPr/>
          <p:nvPr/>
        </p:nvSpPr>
        <p:spPr>
          <a:xfrm>
            <a:off x="5029200" y="1371600"/>
            <a:ext cx="1371600" cy="347472"/>
          </a:xfrm>
          <a:prstGeom prst="roundRect">
            <a:avLst>
              <a:gd name="adj" fmla="val 15789"/>
            </a:avLst>
          </a:prstGeom>
          <a:solidFill>
            <a:srgbClr val="06D6A0"/>
          </a:solidFill>
          <a:ln/>
        </p:spPr>
        <p:txBody>
          <a:bodyPr/>
          <a:lstStyle/>
          <a:p>
            <a:endParaRPr lang="en-IN"/>
          </a:p>
        </p:txBody>
      </p:sp>
      <p:sp>
        <p:nvSpPr>
          <p:cNvPr id="10" name="Text 8"/>
          <p:cNvSpPr/>
          <p:nvPr/>
        </p:nvSpPr>
        <p:spPr>
          <a:xfrm>
            <a:off x="5029200" y="1371600"/>
            <a:ext cx="1371600" cy="347472"/>
          </a:xfrm>
          <a:prstGeom prst="rect">
            <a:avLst/>
          </a:prstGeom>
          <a:noFill/>
          <a:ln/>
        </p:spPr>
        <p:txBody>
          <a:bodyPr wrap="square" lIns="0" tIns="0" rIns="0" bIns="0" rtlCol="0" anchor="ctr"/>
          <a:lstStyle/>
          <a:p>
            <a:pPr marL="0" indent="0" algn="ctr">
              <a:buNone/>
            </a:pPr>
            <a:r>
              <a:rPr lang="en-US" sz="900" b="1" dirty="0">
                <a:solidFill>
                  <a:srgbClr val="0D1B2A"/>
                </a:solidFill>
              </a:rPr>
              <a:t>RECRUITERS</a:t>
            </a:r>
            <a:endParaRPr lang="en-US" sz="900" dirty="0"/>
          </a:p>
        </p:txBody>
      </p:sp>
      <p:sp>
        <p:nvSpPr>
          <p:cNvPr id="11" name="Text 9"/>
          <p:cNvSpPr/>
          <p:nvPr/>
        </p:nvSpPr>
        <p:spPr>
          <a:xfrm>
            <a:off x="5029200" y="1828800"/>
            <a:ext cx="3566160" cy="2743200"/>
          </a:xfrm>
          <a:prstGeom prst="rect">
            <a:avLst/>
          </a:prstGeom>
          <a:noFill/>
          <a:ln/>
        </p:spPr>
        <p:txBody>
          <a:bodyPr wrap="square" rtlCol="0" anchor="ctr"/>
          <a:lstStyle/>
          <a:p>
            <a:pPr marL="342900" indent="-342900">
              <a:spcAft>
                <a:spcPts val="800"/>
              </a:spcAft>
              <a:buSzPct val="100000"/>
              <a:buChar char="•"/>
            </a:pPr>
            <a:r>
              <a:rPr lang="en-US" sz="1300" dirty="0">
                <a:solidFill>
                  <a:srgbClr val="1A2B4A"/>
                </a:solidFill>
                <a:latin typeface="Calibri" pitchFamily="34" charset="0"/>
                <a:ea typeface="Calibri" pitchFamily="34" charset="-122"/>
                <a:cs typeface="Calibri" pitchFamily="34" charset="-120"/>
              </a:rPr>
              <a:t>Sign up and post job openings</a:t>
            </a:r>
            <a:endParaRPr lang="en-US" sz="1300" dirty="0"/>
          </a:p>
          <a:p>
            <a:pPr marL="342900" indent="-342900">
              <a:spcAft>
                <a:spcPts val="800"/>
              </a:spcAft>
              <a:buSzPct val="100000"/>
              <a:buChar char="•"/>
            </a:pPr>
            <a:r>
              <a:rPr lang="en-US" sz="1300" dirty="0">
                <a:solidFill>
                  <a:srgbClr val="1A2B4A"/>
                </a:solidFill>
                <a:latin typeface="Calibri" pitchFamily="34" charset="0"/>
                <a:ea typeface="Calibri" pitchFamily="34" charset="-122"/>
                <a:cs typeface="Calibri" pitchFamily="34" charset="-120"/>
              </a:rPr>
              <a:t>View AI-ranked candidate list</a:t>
            </a:r>
            <a:endParaRPr lang="en-US" sz="1300" dirty="0"/>
          </a:p>
          <a:p>
            <a:pPr marL="342900" indent="-342900">
              <a:spcAft>
                <a:spcPts val="800"/>
              </a:spcAft>
              <a:buSzPct val="100000"/>
              <a:buChar char="•"/>
            </a:pPr>
            <a:r>
              <a:rPr lang="en-US" sz="1300" dirty="0">
                <a:solidFill>
                  <a:srgbClr val="1A2B4A"/>
                </a:solidFill>
                <a:latin typeface="Calibri" pitchFamily="34" charset="0"/>
                <a:ea typeface="Calibri" pitchFamily="34" charset="-122"/>
                <a:cs typeface="Calibri" pitchFamily="34" charset="-120"/>
              </a:rPr>
              <a:t>Access structured interview assessments</a:t>
            </a:r>
            <a:endParaRPr lang="en-US" sz="1300" dirty="0"/>
          </a:p>
          <a:p>
            <a:pPr marL="342900" indent="-342900">
              <a:spcAft>
                <a:spcPts val="800"/>
              </a:spcAft>
              <a:buSzPct val="100000"/>
              <a:buChar char="•"/>
            </a:pPr>
            <a:r>
              <a:rPr lang="en-US" sz="1300" dirty="0">
                <a:solidFill>
                  <a:srgbClr val="1A2B4A"/>
                </a:solidFill>
                <a:latin typeface="Calibri" pitchFamily="34" charset="0"/>
                <a:ea typeface="Calibri" pitchFamily="34" charset="-122"/>
                <a:cs typeface="Calibri" pitchFamily="34" charset="-120"/>
              </a:rPr>
              <a:t>Compare candidates objectively</a:t>
            </a:r>
            <a:endParaRPr lang="en-US" sz="1300" dirty="0"/>
          </a:p>
          <a:p>
            <a:pPr marL="342900" indent="-342900">
              <a:spcAft>
                <a:spcPts val="800"/>
              </a:spcAft>
              <a:buSzPct val="100000"/>
              <a:buChar char="•"/>
            </a:pPr>
            <a:r>
              <a:rPr lang="en-US" sz="1300" dirty="0">
                <a:solidFill>
                  <a:srgbClr val="1A2B4A"/>
                </a:solidFill>
                <a:latin typeface="Calibri" pitchFamily="34" charset="0"/>
                <a:ea typeface="Calibri" pitchFamily="34" charset="-122"/>
                <a:cs typeface="Calibri" pitchFamily="34" charset="-120"/>
              </a:rPr>
              <a:t>Make faster, data-driven hiring decisions</a:t>
            </a:r>
            <a:endParaRPr lang="en-US" sz="1300" dirty="0"/>
          </a:p>
        </p:txBody>
      </p:sp>
      <p:sp>
        <p:nvSpPr>
          <p:cNvPr id="12" name="Shape 10"/>
          <p:cNvSpPr/>
          <p:nvPr/>
        </p:nvSpPr>
        <p:spPr>
          <a:xfrm>
            <a:off x="3657600" y="2560320"/>
            <a:ext cx="1097280" cy="822960"/>
          </a:xfrm>
          <a:prstGeom prst="roundRect">
            <a:avLst>
              <a:gd name="adj" fmla="val 11111"/>
            </a:avLst>
          </a:prstGeom>
          <a:solidFill>
            <a:srgbClr val="0D1B2A"/>
          </a:solidFill>
          <a:ln/>
        </p:spPr>
        <p:txBody>
          <a:bodyPr/>
          <a:lstStyle/>
          <a:p>
            <a:endParaRPr lang="en-IN"/>
          </a:p>
        </p:txBody>
      </p:sp>
      <p:sp>
        <p:nvSpPr>
          <p:cNvPr id="13" name="Text 11"/>
          <p:cNvSpPr/>
          <p:nvPr/>
        </p:nvSpPr>
        <p:spPr>
          <a:xfrm>
            <a:off x="3657600" y="2560320"/>
            <a:ext cx="1097280" cy="822960"/>
          </a:xfrm>
          <a:prstGeom prst="rect">
            <a:avLst/>
          </a:prstGeom>
          <a:noFill/>
          <a:ln/>
        </p:spPr>
        <p:txBody>
          <a:bodyPr wrap="square" lIns="0" tIns="0" rIns="0" bIns="0" rtlCol="0" anchor="ctr"/>
          <a:lstStyle/>
          <a:p>
            <a:pPr marL="0" indent="0" algn="ctr">
              <a:buNone/>
            </a:pPr>
            <a:r>
              <a:rPr lang="en-US" sz="2000" dirty="0">
                <a:solidFill>
                  <a:srgbClr val="FFFFFF"/>
                </a:solidFill>
              </a:rPr>
              <a:t>🤖 AI</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Problem Statement</a:t>
            </a:r>
            <a:endParaRPr lang="en-US" sz="3600" dirty="0"/>
          </a:p>
        </p:txBody>
      </p:sp>
      <p:sp>
        <p:nvSpPr>
          <p:cNvPr id="3" name="Text 1"/>
          <p:cNvSpPr/>
          <p:nvPr/>
        </p:nvSpPr>
        <p:spPr>
          <a:xfrm>
            <a:off x="457200" y="777240"/>
            <a:ext cx="8229600" cy="347472"/>
          </a:xfrm>
          <a:prstGeom prst="rect">
            <a:avLst/>
          </a:prstGeom>
          <a:noFill/>
          <a:ln/>
        </p:spPr>
        <p:txBody>
          <a:bodyPr wrap="square" lIns="0" tIns="0" rIns="0" bIns="0" rtlCol="0" anchor="ctr"/>
          <a:lstStyle/>
          <a:p>
            <a:pPr marL="0" indent="0">
              <a:buNone/>
            </a:pPr>
            <a:r>
              <a:rPr lang="en-US" sz="1300" dirty="0">
                <a:solidFill>
                  <a:srgbClr val="AACCEE"/>
                </a:solidFill>
                <a:latin typeface="Calibri" pitchFamily="34" charset="0"/>
                <a:ea typeface="Calibri" pitchFamily="34" charset="-122"/>
                <a:cs typeface="Calibri" pitchFamily="34" charset="-120"/>
              </a:rPr>
              <a:t>Traditional hiring is slow, manual, inconsistent, and hard to scale.</a:t>
            </a:r>
            <a:endParaRPr lang="en-US" sz="1300" dirty="0"/>
          </a:p>
        </p:txBody>
      </p:sp>
      <p:sp>
        <p:nvSpPr>
          <p:cNvPr id="4" name="Shape 2"/>
          <p:cNvSpPr/>
          <p:nvPr/>
        </p:nvSpPr>
        <p:spPr>
          <a:xfrm>
            <a:off x="365760" y="1371600"/>
            <a:ext cx="2651760" cy="1508760"/>
          </a:xfrm>
          <a:prstGeom prst="roundRect">
            <a:avLst>
              <a:gd name="adj" fmla="val 6061"/>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5" name="Text 3"/>
          <p:cNvSpPr/>
          <p:nvPr/>
        </p:nvSpPr>
        <p:spPr>
          <a:xfrm>
            <a:off x="365760" y="1463040"/>
            <a:ext cx="2651760"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6" name="Text 4"/>
          <p:cNvSpPr/>
          <p:nvPr/>
        </p:nvSpPr>
        <p:spPr>
          <a:xfrm>
            <a:off x="502920" y="1920240"/>
            <a:ext cx="2377440" cy="320040"/>
          </a:xfrm>
          <a:prstGeom prst="rect">
            <a:avLst/>
          </a:prstGeom>
          <a:noFill/>
          <a:ln/>
        </p:spPr>
        <p:txBody>
          <a:bodyPr wrap="square" lIns="0" tIns="0" rIns="0" bIns="0" rtlCol="0" anchor="ctr"/>
          <a:lstStyle/>
          <a:p>
            <a:pPr marL="0" indent="0" algn="ctr">
              <a:buNone/>
            </a:pPr>
            <a:r>
              <a:rPr lang="en-US" sz="1100" b="1" dirty="0">
                <a:solidFill>
                  <a:srgbClr val="00B4D8"/>
                </a:solidFill>
              </a:rPr>
              <a:t>Manual Resume Screening</a:t>
            </a:r>
            <a:endParaRPr lang="en-US" sz="1100" dirty="0"/>
          </a:p>
        </p:txBody>
      </p:sp>
      <p:sp>
        <p:nvSpPr>
          <p:cNvPr id="7" name="Text 5"/>
          <p:cNvSpPr/>
          <p:nvPr/>
        </p:nvSpPr>
        <p:spPr>
          <a:xfrm>
            <a:off x="457200" y="2240280"/>
            <a:ext cx="2468880" cy="548640"/>
          </a:xfrm>
          <a:prstGeom prst="rect">
            <a:avLst/>
          </a:prstGeom>
          <a:noFill/>
          <a:ln/>
        </p:spPr>
        <p:txBody>
          <a:bodyPr wrap="square" lIns="0" tIns="0" rIns="0" bIns="0" rtlCol="0" anchor="ctr"/>
          <a:lstStyle/>
          <a:p>
            <a:pPr marL="0" indent="0" algn="ctr">
              <a:buNone/>
            </a:pPr>
            <a:r>
              <a:rPr lang="en-US" sz="1000" dirty="0">
                <a:solidFill>
                  <a:srgbClr val="AACCEE"/>
                </a:solidFill>
              </a:rPr>
              <a:t>Recruiters read every resume individually — takes hours for hundreds of applicants.</a:t>
            </a:r>
            <a:endParaRPr lang="en-US" sz="1000" dirty="0"/>
          </a:p>
        </p:txBody>
      </p:sp>
      <p:sp>
        <p:nvSpPr>
          <p:cNvPr id="8" name="Shape 6"/>
          <p:cNvSpPr/>
          <p:nvPr/>
        </p:nvSpPr>
        <p:spPr>
          <a:xfrm>
            <a:off x="3200400" y="1371600"/>
            <a:ext cx="2651760" cy="1508760"/>
          </a:xfrm>
          <a:prstGeom prst="roundRect">
            <a:avLst>
              <a:gd name="adj" fmla="val 6061"/>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9" name="Text 7"/>
          <p:cNvSpPr/>
          <p:nvPr/>
        </p:nvSpPr>
        <p:spPr>
          <a:xfrm>
            <a:off x="3200400" y="1463040"/>
            <a:ext cx="2651760"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0" name="Text 8"/>
          <p:cNvSpPr/>
          <p:nvPr/>
        </p:nvSpPr>
        <p:spPr>
          <a:xfrm>
            <a:off x="3337560" y="1920240"/>
            <a:ext cx="2377440" cy="320040"/>
          </a:xfrm>
          <a:prstGeom prst="rect">
            <a:avLst/>
          </a:prstGeom>
          <a:noFill/>
          <a:ln/>
        </p:spPr>
        <p:txBody>
          <a:bodyPr wrap="square" lIns="0" tIns="0" rIns="0" bIns="0" rtlCol="0" anchor="ctr"/>
          <a:lstStyle/>
          <a:p>
            <a:pPr marL="0" indent="0" algn="ctr">
              <a:buNone/>
            </a:pPr>
            <a:r>
              <a:rPr lang="en-US" sz="1100" b="1" dirty="0">
                <a:solidFill>
                  <a:srgbClr val="00B4D8"/>
                </a:solidFill>
              </a:rPr>
              <a:t>Inconsistent Shortlisting</a:t>
            </a:r>
            <a:endParaRPr lang="en-US" sz="1100" dirty="0"/>
          </a:p>
        </p:txBody>
      </p:sp>
      <p:sp>
        <p:nvSpPr>
          <p:cNvPr id="11" name="Text 9"/>
          <p:cNvSpPr/>
          <p:nvPr/>
        </p:nvSpPr>
        <p:spPr>
          <a:xfrm>
            <a:off x="3291840" y="2240280"/>
            <a:ext cx="2468880" cy="548640"/>
          </a:xfrm>
          <a:prstGeom prst="rect">
            <a:avLst/>
          </a:prstGeom>
          <a:noFill/>
          <a:ln/>
        </p:spPr>
        <p:txBody>
          <a:bodyPr wrap="square" lIns="0" tIns="0" rIns="0" bIns="0" rtlCol="0" anchor="ctr"/>
          <a:lstStyle/>
          <a:p>
            <a:pPr marL="0" indent="0" algn="ctr">
              <a:buNone/>
            </a:pPr>
            <a:r>
              <a:rPr lang="en-US" sz="1000" dirty="0">
                <a:solidFill>
                  <a:srgbClr val="AACCEE"/>
                </a:solidFill>
              </a:rPr>
              <a:t>No standardized scoring means different recruiters apply different criteria to candidates.</a:t>
            </a:r>
            <a:endParaRPr lang="en-US" sz="1000" dirty="0"/>
          </a:p>
        </p:txBody>
      </p:sp>
      <p:sp>
        <p:nvSpPr>
          <p:cNvPr id="12" name="Shape 10"/>
          <p:cNvSpPr/>
          <p:nvPr/>
        </p:nvSpPr>
        <p:spPr>
          <a:xfrm>
            <a:off x="6035040" y="1371600"/>
            <a:ext cx="2651760" cy="1508760"/>
          </a:xfrm>
          <a:prstGeom prst="roundRect">
            <a:avLst>
              <a:gd name="adj" fmla="val 6061"/>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13" name="Text 11"/>
          <p:cNvSpPr/>
          <p:nvPr/>
        </p:nvSpPr>
        <p:spPr>
          <a:xfrm>
            <a:off x="6035040" y="1463040"/>
            <a:ext cx="2651760"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4" name="Text 12"/>
          <p:cNvSpPr/>
          <p:nvPr/>
        </p:nvSpPr>
        <p:spPr>
          <a:xfrm>
            <a:off x="6172200" y="1920240"/>
            <a:ext cx="2377440" cy="320040"/>
          </a:xfrm>
          <a:prstGeom prst="rect">
            <a:avLst/>
          </a:prstGeom>
          <a:noFill/>
          <a:ln/>
        </p:spPr>
        <p:txBody>
          <a:bodyPr wrap="square" lIns="0" tIns="0" rIns="0" bIns="0" rtlCol="0" anchor="ctr"/>
          <a:lstStyle/>
          <a:p>
            <a:pPr marL="0" indent="0" algn="ctr">
              <a:buNone/>
            </a:pPr>
            <a:r>
              <a:rPr lang="en-US" sz="1100" b="1" dirty="0">
                <a:solidFill>
                  <a:srgbClr val="00B4D8"/>
                </a:solidFill>
              </a:rPr>
              <a:t>No Structured Comparison</a:t>
            </a:r>
            <a:endParaRPr lang="en-US" sz="1100" dirty="0"/>
          </a:p>
        </p:txBody>
      </p:sp>
      <p:sp>
        <p:nvSpPr>
          <p:cNvPr id="15" name="Text 13"/>
          <p:cNvSpPr/>
          <p:nvPr/>
        </p:nvSpPr>
        <p:spPr>
          <a:xfrm>
            <a:off x="6126480" y="2240280"/>
            <a:ext cx="2468880" cy="548640"/>
          </a:xfrm>
          <a:prstGeom prst="rect">
            <a:avLst/>
          </a:prstGeom>
          <a:noFill/>
          <a:ln/>
        </p:spPr>
        <p:txBody>
          <a:bodyPr wrap="square" lIns="0" tIns="0" rIns="0" bIns="0" rtlCol="0" anchor="ctr"/>
          <a:lstStyle/>
          <a:p>
            <a:pPr marL="0" indent="0" algn="ctr">
              <a:buNone/>
            </a:pPr>
            <a:r>
              <a:rPr lang="en-US" sz="1000" dirty="0">
                <a:solidFill>
                  <a:srgbClr val="AACCEE"/>
                </a:solidFill>
              </a:rPr>
              <a:t>Recruiters lack a unified dashboard to rank and compare candidates side-by-side.</a:t>
            </a:r>
            <a:endParaRPr lang="en-US" sz="1000" dirty="0"/>
          </a:p>
        </p:txBody>
      </p:sp>
      <p:sp>
        <p:nvSpPr>
          <p:cNvPr id="16" name="Shape 14"/>
          <p:cNvSpPr/>
          <p:nvPr/>
        </p:nvSpPr>
        <p:spPr>
          <a:xfrm>
            <a:off x="365760" y="3063240"/>
            <a:ext cx="2651760" cy="1508760"/>
          </a:xfrm>
          <a:prstGeom prst="roundRect">
            <a:avLst>
              <a:gd name="adj" fmla="val 6061"/>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17" name="Text 15"/>
          <p:cNvSpPr/>
          <p:nvPr/>
        </p:nvSpPr>
        <p:spPr>
          <a:xfrm>
            <a:off x="365760" y="3154680"/>
            <a:ext cx="2651760"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502920" y="3611880"/>
            <a:ext cx="2377440" cy="320040"/>
          </a:xfrm>
          <a:prstGeom prst="rect">
            <a:avLst/>
          </a:prstGeom>
          <a:noFill/>
          <a:ln/>
        </p:spPr>
        <p:txBody>
          <a:bodyPr wrap="square" lIns="0" tIns="0" rIns="0" bIns="0" rtlCol="0" anchor="ctr"/>
          <a:lstStyle/>
          <a:p>
            <a:pPr marL="0" indent="0" algn="ctr">
              <a:buNone/>
            </a:pPr>
            <a:r>
              <a:rPr lang="en-US" sz="1100" b="1" dirty="0">
                <a:solidFill>
                  <a:srgbClr val="00B4D8"/>
                </a:solidFill>
              </a:rPr>
              <a:t>Cannot Scale</a:t>
            </a:r>
            <a:endParaRPr lang="en-US" sz="1100" dirty="0"/>
          </a:p>
        </p:txBody>
      </p:sp>
      <p:sp>
        <p:nvSpPr>
          <p:cNvPr id="19" name="Text 17"/>
          <p:cNvSpPr/>
          <p:nvPr/>
        </p:nvSpPr>
        <p:spPr>
          <a:xfrm>
            <a:off x="457200" y="3931920"/>
            <a:ext cx="2468880" cy="548640"/>
          </a:xfrm>
          <a:prstGeom prst="rect">
            <a:avLst/>
          </a:prstGeom>
          <a:noFill/>
          <a:ln/>
        </p:spPr>
        <p:txBody>
          <a:bodyPr wrap="square" lIns="0" tIns="0" rIns="0" bIns="0" rtlCol="0" anchor="ctr"/>
          <a:lstStyle/>
          <a:p>
            <a:pPr marL="0" indent="0" algn="ctr">
              <a:buNone/>
            </a:pPr>
            <a:r>
              <a:rPr lang="en-US" sz="1000" dirty="0">
                <a:solidFill>
                  <a:srgbClr val="AACCEE"/>
                </a:solidFill>
              </a:rPr>
              <a:t>Manual processes break down at volume — large hiring drives become unmanageable.</a:t>
            </a:r>
            <a:endParaRPr lang="en-US" sz="1000" dirty="0"/>
          </a:p>
        </p:txBody>
      </p:sp>
      <p:sp>
        <p:nvSpPr>
          <p:cNvPr id="20" name="Shape 18"/>
          <p:cNvSpPr/>
          <p:nvPr/>
        </p:nvSpPr>
        <p:spPr>
          <a:xfrm>
            <a:off x="3200400" y="3063240"/>
            <a:ext cx="2651760" cy="1508760"/>
          </a:xfrm>
          <a:prstGeom prst="roundRect">
            <a:avLst>
              <a:gd name="adj" fmla="val 6061"/>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21" name="Text 19"/>
          <p:cNvSpPr/>
          <p:nvPr/>
        </p:nvSpPr>
        <p:spPr>
          <a:xfrm>
            <a:off x="3200400" y="3154680"/>
            <a:ext cx="2651760"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2" name="Text 20"/>
          <p:cNvSpPr/>
          <p:nvPr/>
        </p:nvSpPr>
        <p:spPr>
          <a:xfrm>
            <a:off x="3337560" y="3611880"/>
            <a:ext cx="2377440" cy="320040"/>
          </a:xfrm>
          <a:prstGeom prst="rect">
            <a:avLst/>
          </a:prstGeom>
          <a:noFill/>
          <a:ln/>
        </p:spPr>
        <p:txBody>
          <a:bodyPr wrap="square" lIns="0" tIns="0" rIns="0" bIns="0" rtlCol="0" anchor="ctr"/>
          <a:lstStyle/>
          <a:p>
            <a:pPr marL="0" indent="0" algn="ctr">
              <a:buNone/>
            </a:pPr>
            <a:r>
              <a:rPr lang="en-US" sz="1100" b="1" dirty="0">
                <a:solidFill>
                  <a:srgbClr val="00B4D8"/>
                </a:solidFill>
              </a:rPr>
              <a:t>Slow Candidate Feedback</a:t>
            </a:r>
            <a:endParaRPr lang="en-US" sz="1100" dirty="0"/>
          </a:p>
        </p:txBody>
      </p:sp>
      <p:sp>
        <p:nvSpPr>
          <p:cNvPr id="23" name="Text 21"/>
          <p:cNvSpPr/>
          <p:nvPr/>
        </p:nvSpPr>
        <p:spPr>
          <a:xfrm>
            <a:off x="3291840" y="3931920"/>
            <a:ext cx="2468880" cy="548640"/>
          </a:xfrm>
          <a:prstGeom prst="rect">
            <a:avLst/>
          </a:prstGeom>
          <a:noFill/>
          <a:ln/>
        </p:spPr>
        <p:txBody>
          <a:bodyPr wrap="square" lIns="0" tIns="0" rIns="0" bIns="0" rtlCol="0" anchor="ctr"/>
          <a:lstStyle/>
          <a:p>
            <a:pPr marL="0" indent="0" algn="ctr">
              <a:buNone/>
            </a:pPr>
            <a:r>
              <a:rPr lang="en-US" sz="1000" dirty="0">
                <a:solidFill>
                  <a:srgbClr val="AACCEE"/>
                </a:solidFill>
              </a:rPr>
              <a:t>Candidates wait days or weeks without updates, damaging employer brand.</a:t>
            </a:r>
            <a:endParaRPr lang="en-US" sz="1000" dirty="0"/>
          </a:p>
        </p:txBody>
      </p:sp>
      <p:sp>
        <p:nvSpPr>
          <p:cNvPr id="24" name="Shape 22"/>
          <p:cNvSpPr/>
          <p:nvPr/>
        </p:nvSpPr>
        <p:spPr>
          <a:xfrm>
            <a:off x="6035040" y="3063240"/>
            <a:ext cx="2651760" cy="1508760"/>
          </a:xfrm>
          <a:prstGeom prst="roundRect">
            <a:avLst>
              <a:gd name="adj" fmla="val 6061"/>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25" name="Text 23"/>
          <p:cNvSpPr/>
          <p:nvPr/>
        </p:nvSpPr>
        <p:spPr>
          <a:xfrm>
            <a:off x="6035040" y="3154680"/>
            <a:ext cx="2651760"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6" name="Text 24"/>
          <p:cNvSpPr/>
          <p:nvPr/>
        </p:nvSpPr>
        <p:spPr>
          <a:xfrm>
            <a:off x="6172200" y="3611880"/>
            <a:ext cx="2377440" cy="320040"/>
          </a:xfrm>
          <a:prstGeom prst="rect">
            <a:avLst/>
          </a:prstGeom>
          <a:noFill/>
          <a:ln/>
        </p:spPr>
        <p:txBody>
          <a:bodyPr wrap="square" lIns="0" tIns="0" rIns="0" bIns="0" rtlCol="0" anchor="ctr"/>
          <a:lstStyle/>
          <a:p>
            <a:pPr marL="0" indent="0" algn="ctr">
              <a:buNone/>
            </a:pPr>
            <a:r>
              <a:rPr lang="en-US" sz="1100" b="1" dirty="0">
                <a:solidFill>
                  <a:srgbClr val="00B4D8"/>
                </a:solidFill>
              </a:rPr>
              <a:t>Deployment Challenges</a:t>
            </a:r>
            <a:endParaRPr lang="en-US" sz="1100" dirty="0"/>
          </a:p>
        </p:txBody>
      </p:sp>
      <p:sp>
        <p:nvSpPr>
          <p:cNvPr id="27" name="Text 25"/>
          <p:cNvSpPr/>
          <p:nvPr/>
        </p:nvSpPr>
        <p:spPr>
          <a:xfrm>
            <a:off x="6126480" y="3931920"/>
            <a:ext cx="2468880" cy="548640"/>
          </a:xfrm>
          <a:prstGeom prst="rect">
            <a:avLst/>
          </a:prstGeom>
          <a:noFill/>
          <a:ln/>
        </p:spPr>
        <p:txBody>
          <a:bodyPr wrap="square" lIns="0" tIns="0" rIns="0" bIns="0" rtlCol="0" anchor="ctr"/>
          <a:lstStyle/>
          <a:p>
            <a:pPr marL="0" indent="0" algn="ctr">
              <a:buNone/>
            </a:pPr>
            <a:r>
              <a:rPr lang="en-US" sz="1000" dirty="0">
                <a:solidFill>
                  <a:srgbClr val="AACCEE"/>
                </a:solidFill>
              </a:rPr>
              <a:t>Need a secure, automated, cloud-native infrastructure that is production-ready.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6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lIns="0" tIns="0" rIns="0" bIns="0" rtlCol="0" anchor="ctr"/>
          <a:lstStyle/>
          <a:p>
            <a:pPr marL="0" indent="0">
              <a:buNone/>
            </a:pPr>
            <a:r>
              <a:rPr lang="en-US" sz="3600" b="1" dirty="0">
                <a:solidFill>
                  <a:srgbClr val="0D1B2A"/>
                </a:solidFill>
                <a:latin typeface="Calibri" pitchFamily="34" charset="0"/>
                <a:ea typeface="Calibri" pitchFamily="34" charset="-122"/>
                <a:cs typeface="Calibri" pitchFamily="34" charset="-120"/>
              </a:rPr>
              <a:t>Proposed Solution</a:t>
            </a:r>
            <a:endParaRPr lang="en-US" sz="3600" dirty="0"/>
          </a:p>
        </p:txBody>
      </p:sp>
      <p:sp>
        <p:nvSpPr>
          <p:cNvPr id="3" name="Shape 1"/>
          <p:cNvSpPr/>
          <p:nvPr/>
        </p:nvSpPr>
        <p:spPr>
          <a:xfrm>
            <a:off x="365760" y="960120"/>
            <a:ext cx="4160520" cy="1188720"/>
          </a:xfrm>
          <a:prstGeom prst="roundRect">
            <a:avLst>
              <a:gd name="adj" fmla="val 7692"/>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4" name="Shape 2"/>
          <p:cNvSpPr/>
          <p:nvPr/>
        </p:nvSpPr>
        <p:spPr>
          <a:xfrm>
            <a:off x="475488" y="1280160"/>
            <a:ext cx="438912" cy="438912"/>
          </a:xfrm>
          <a:prstGeom prst="roundRect">
            <a:avLst>
              <a:gd name="adj" fmla="val 12500"/>
            </a:avLst>
          </a:prstGeom>
          <a:solidFill>
            <a:srgbClr val="00B4D8"/>
          </a:solidFill>
          <a:ln/>
        </p:spPr>
        <p:txBody>
          <a:bodyPr/>
          <a:lstStyle/>
          <a:p>
            <a:endParaRPr lang="en-IN"/>
          </a:p>
        </p:txBody>
      </p:sp>
      <p:sp>
        <p:nvSpPr>
          <p:cNvPr id="5" name="Text 3"/>
          <p:cNvSpPr/>
          <p:nvPr/>
        </p:nvSpPr>
        <p:spPr>
          <a:xfrm>
            <a:off x="475488" y="1280160"/>
            <a:ext cx="438912" cy="438912"/>
          </a:xfrm>
          <a:prstGeom prst="rect">
            <a:avLst/>
          </a:prstGeom>
          <a:noFill/>
          <a:ln/>
        </p:spPr>
        <p:txBody>
          <a:bodyPr wrap="square" lIns="0" tIns="0" rIns="0" bIns="0" rtlCol="0" anchor="ctr"/>
          <a:lstStyle/>
          <a:p>
            <a:pPr marL="0" indent="0" algn="ctr">
              <a:buNone/>
            </a:pPr>
            <a:r>
              <a:rPr lang="en-US" sz="1100" b="1" dirty="0">
                <a:solidFill>
                  <a:srgbClr val="0D1B2A"/>
                </a:solidFill>
              </a:rPr>
              <a:t>01</a:t>
            </a:r>
            <a:endParaRPr lang="en-US" sz="1100" dirty="0"/>
          </a:p>
        </p:txBody>
      </p:sp>
      <p:sp>
        <p:nvSpPr>
          <p:cNvPr id="6" name="Text 4"/>
          <p:cNvSpPr/>
          <p:nvPr/>
        </p:nvSpPr>
        <p:spPr>
          <a:xfrm>
            <a:off x="1024128" y="1051560"/>
            <a:ext cx="3383280" cy="34747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Automated AI Resume Screening</a:t>
            </a:r>
            <a:endParaRPr lang="en-US" sz="1200" dirty="0"/>
          </a:p>
        </p:txBody>
      </p:sp>
      <p:sp>
        <p:nvSpPr>
          <p:cNvPr id="7" name="Text 5"/>
          <p:cNvSpPr/>
          <p:nvPr/>
        </p:nvSpPr>
        <p:spPr>
          <a:xfrm>
            <a:off x="1024128" y="1417320"/>
            <a:ext cx="3383280" cy="594360"/>
          </a:xfrm>
          <a:prstGeom prst="rect">
            <a:avLst/>
          </a:prstGeom>
          <a:noFill/>
          <a:ln/>
        </p:spPr>
        <p:txBody>
          <a:bodyPr wrap="square" lIns="0" tIns="0" rIns="0" bIns="0" rtlCol="0" anchor="ctr"/>
          <a:lstStyle/>
          <a:p>
            <a:pPr marL="0" indent="0">
              <a:buNone/>
            </a:pPr>
            <a:r>
              <a:rPr lang="en-US" sz="1050" dirty="0">
                <a:solidFill>
                  <a:srgbClr val="4A6080"/>
                </a:solidFill>
                <a:latin typeface="Calibri" pitchFamily="34" charset="0"/>
                <a:ea typeface="Calibri" pitchFamily="34" charset="-122"/>
                <a:cs typeface="Calibri" pitchFamily="34" charset="-120"/>
              </a:rPr>
              <a:t>LangGraph pipeline extracts profile, analyzes job fit, and generates a score automatically.</a:t>
            </a:r>
            <a:endParaRPr lang="en-US" sz="1050" dirty="0"/>
          </a:p>
        </p:txBody>
      </p:sp>
      <p:sp>
        <p:nvSpPr>
          <p:cNvPr id="8" name="Shape 6"/>
          <p:cNvSpPr/>
          <p:nvPr/>
        </p:nvSpPr>
        <p:spPr>
          <a:xfrm>
            <a:off x="4754880" y="960120"/>
            <a:ext cx="4160520" cy="1188720"/>
          </a:xfrm>
          <a:prstGeom prst="roundRect">
            <a:avLst>
              <a:gd name="adj" fmla="val 7692"/>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9" name="Shape 7"/>
          <p:cNvSpPr/>
          <p:nvPr/>
        </p:nvSpPr>
        <p:spPr>
          <a:xfrm>
            <a:off x="4864608" y="1280160"/>
            <a:ext cx="438912" cy="438912"/>
          </a:xfrm>
          <a:prstGeom prst="roundRect">
            <a:avLst>
              <a:gd name="adj" fmla="val 12500"/>
            </a:avLst>
          </a:prstGeom>
          <a:solidFill>
            <a:srgbClr val="00B4D8"/>
          </a:solidFill>
          <a:ln/>
        </p:spPr>
        <p:txBody>
          <a:bodyPr/>
          <a:lstStyle/>
          <a:p>
            <a:endParaRPr lang="en-IN"/>
          </a:p>
        </p:txBody>
      </p:sp>
      <p:sp>
        <p:nvSpPr>
          <p:cNvPr id="10" name="Text 8"/>
          <p:cNvSpPr/>
          <p:nvPr/>
        </p:nvSpPr>
        <p:spPr>
          <a:xfrm>
            <a:off x="4864608" y="1280160"/>
            <a:ext cx="438912" cy="438912"/>
          </a:xfrm>
          <a:prstGeom prst="rect">
            <a:avLst/>
          </a:prstGeom>
          <a:noFill/>
          <a:ln/>
        </p:spPr>
        <p:txBody>
          <a:bodyPr wrap="square" lIns="0" tIns="0" rIns="0" bIns="0" rtlCol="0" anchor="ctr"/>
          <a:lstStyle/>
          <a:p>
            <a:pPr marL="0" indent="0" algn="ctr">
              <a:buNone/>
            </a:pPr>
            <a:r>
              <a:rPr lang="en-US" sz="1100" b="1" dirty="0">
                <a:solidFill>
                  <a:srgbClr val="0D1B2A"/>
                </a:solidFill>
              </a:rPr>
              <a:t>02</a:t>
            </a:r>
            <a:endParaRPr lang="en-US" sz="1100" dirty="0"/>
          </a:p>
        </p:txBody>
      </p:sp>
      <p:sp>
        <p:nvSpPr>
          <p:cNvPr id="11" name="Text 9"/>
          <p:cNvSpPr/>
          <p:nvPr/>
        </p:nvSpPr>
        <p:spPr>
          <a:xfrm>
            <a:off x="5413248" y="1051560"/>
            <a:ext cx="3383280" cy="34747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AI Voice Interview Workflow</a:t>
            </a:r>
            <a:endParaRPr lang="en-US" sz="1200" dirty="0"/>
          </a:p>
        </p:txBody>
      </p:sp>
      <p:sp>
        <p:nvSpPr>
          <p:cNvPr id="12" name="Text 10"/>
          <p:cNvSpPr/>
          <p:nvPr/>
        </p:nvSpPr>
        <p:spPr>
          <a:xfrm>
            <a:off x="5413248" y="1417320"/>
            <a:ext cx="3383280" cy="594360"/>
          </a:xfrm>
          <a:prstGeom prst="rect">
            <a:avLst/>
          </a:prstGeom>
          <a:noFill/>
          <a:ln/>
        </p:spPr>
        <p:txBody>
          <a:bodyPr wrap="square" lIns="0" tIns="0" rIns="0" bIns="0" rtlCol="0" anchor="ctr"/>
          <a:lstStyle/>
          <a:p>
            <a:pPr marL="0" indent="0">
              <a:buNone/>
            </a:pPr>
            <a:r>
              <a:rPr lang="en-US" sz="1050" dirty="0">
                <a:solidFill>
                  <a:srgbClr val="4A6080"/>
                </a:solidFill>
                <a:latin typeface="Calibri" pitchFamily="34" charset="0"/>
                <a:ea typeface="Calibri" pitchFamily="34" charset="-122"/>
                <a:cs typeface="Calibri" pitchFamily="34" charset="-120"/>
              </a:rPr>
              <a:t>Groq Whisper STT transcribes candidate speech; Llama LLM assesses answers; Orpheus TTS responds.</a:t>
            </a:r>
            <a:endParaRPr lang="en-US" sz="1050" dirty="0"/>
          </a:p>
        </p:txBody>
      </p:sp>
      <p:sp>
        <p:nvSpPr>
          <p:cNvPr id="13" name="Shape 11"/>
          <p:cNvSpPr/>
          <p:nvPr/>
        </p:nvSpPr>
        <p:spPr>
          <a:xfrm>
            <a:off x="365760" y="2286000"/>
            <a:ext cx="4160520" cy="1188720"/>
          </a:xfrm>
          <a:prstGeom prst="roundRect">
            <a:avLst>
              <a:gd name="adj" fmla="val 7692"/>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14" name="Shape 12"/>
          <p:cNvSpPr/>
          <p:nvPr/>
        </p:nvSpPr>
        <p:spPr>
          <a:xfrm>
            <a:off x="475488" y="2606040"/>
            <a:ext cx="438912" cy="438912"/>
          </a:xfrm>
          <a:prstGeom prst="roundRect">
            <a:avLst>
              <a:gd name="adj" fmla="val 12500"/>
            </a:avLst>
          </a:prstGeom>
          <a:solidFill>
            <a:srgbClr val="00B4D8"/>
          </a:solidFill>
          <a:ln/>
        </p:spPr>
        <p:txBody>
          <a:bodyPr/>
          <a:lstStyle/>
          <a:p>
            <a:endParaRPr lang="en-IN"/>
          </a:p>
        </p:txBody>
      </p:sp>
      <p:sp>
        <p:nvSpPr>
          <p:cNvPr id="15" name="Text 13"/>
          <p:cNvSpPr/>
          <p:nvPr/>
        </p:nvSpPr>
        <p:spPr>
          <a:xfrm>
            <a:off x="475488" y="2606040"/>
            <a:ext cx="438912" cy="438912"/>
          </a:xfrm>
          <a:prstGeom prst="rect">
            <a:avLst/>
          </a:prstGeom>
          <a:noFill/>
          <a:ln/>
        </p:spPr>
        <p:txBody>
          <a:bodyPr wrap="square" lIns="0" tIns="0" rIns="0" bIns="0" rtlCol="0" anchor="ctr"/>
          <a:lstStyle/>
          <a:p>
            <a:pPr marL="0" indent="0" algn="ctr">
              <a:buNone/>
            </a:pPr>
            <a:r>
              <a:rPr lang="en-US" sz="1100" b="1" dirty="0">
                <a:solidFill>
                  <a:srgbClr val="0D1B2A"/>
                </a:solidFill>
              </a:rPr>
              <a:t>03</a:t>
            </a:r>
            <a:endParaRPr lang="en-US" sz="1100" dirty="0"/>
          </a:p>
        </p:txBody>
      </p:sp>
      <p:sp>
        <p:nvSpPr>
          <p:cNvPr id="16" name="Text 14"/>
          <p:cNvSpPr/>
          <p:nvPr/>
        </p:nvSpPr>
        <p:spPr>
          <a:xfrm>
            <a:off x="1024128" y="2377440"/>
            <a:ext cx="3383280" cy="34747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Recruiter Dashboard</a:t>
            </a:r>
            <a:endParaRPr lang="en-US" sz="1200" dirty="0"/>
          </a:p>
        </p:txBody>
      </p:sp>
      <p:sp>
        <p:nvSpPr>
          <p:cNvPr id="17" name="Text 15"/>
          <p:cNvSpPr/>
          <p:nvPr/>
        </p:nvSpPr>
        <p:spPr>
          <a:xfrm>
            <a:off x="1024128" y="2743200"/>
            <a:ext cx="3383280" cy="594360"/>
          </a:xfrm>
          <a:prstGeom prst="rect">
            <a:avLst/>
          </a:prstGeom>
          <a:noFill/>
          <a:ln/>
        </p:spPr>
        <p:txBody>
          <a:bodyPr wrap="square" lIns="0" tIns="0" rIns="0" bIns="0" rtlCol="0" anchor="ctr"/>
          <a:lstStyle/>
          <a:p>
            <a:pPr marL="0" indent="0">
              <a:buNone/>
            </a:pPr>
            <a:r>
              <a:rPr lang="en-US" sz="1050" dirty="0">
                <a:solidFill>
                  <a:srgbClr val="4A6080"/>
                </a:solidFill>
                <a:latin typeface="Calibri" pitchFamily="34" charset="0"/>
                <a:ea typeface="Calibri" pitchFamily="34" charset="-122"/>
                <a:cs typeface="Calibri" pitchFamily="34" charset="-120"/>
              </a:rPr>
              <a:t>Ranked candidates list with fit scores and structured interview assessments in one place.</a:t>
            </a:r>
            <a:endParaRPr lang="en-US" sz="1050" dirty="0"/>
          </a:p>
        </p:txBody>
      </p:sp>
      <p:sp>
        <p:nvSpPr>
          <p:cNvPr id="18" name="Shape 16"/>
          <p:cNvSpPr/>
          <p:nvPr/>
        </p:nvSpPr>
        <p:spPr>
          <a:xfrm>
            <a:off x="4754880" y="2286000"/>
            <a:ext cx="4160520" cy="1188720"/>
          </a:xfrm>
          <a:prstGeom prst="roundRect">
            <a:avLst>
              <a:gd name="adj" fmla="val 7692"/>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19" name="Shape 17"/>
          <p:cNvSpPr/>
          <p:nvPr/>
        </p:nvSpPr>
        <p:spPr>
          <a:xfrm>
            <a:off x="4864608" y="2606040"/>
            <a:ext cx="438912" cy="438912"/>
          </a:xfrm>
          <a:prstGeom prst="roundRect">
            <a:avLst>
              <a:gd name="adj" fmla="val 12500"/>
            </a:avLst>
          </a:prstGeom>
          <a:solidFill>
            <a:srgbClr val="00B4D8"/>
          </a:solidFill>
          <a:ln/>
        </p:spPr>
        <p:txBody>
          <a:bodyPr/>
          <a:lstStyle/>
          <a:p>
            <a:endParaRPr lang="en-IN"/>
          </a:p>
        </p:txBody>
      </p:sp>
      <p:sp>
        <p:nvSpPr>
          <p:cNvPr id="20" name="Text 18"/>
          <p:cNvSpPr/>
          <p:nvPr/>
        </p:nvSpPr>
        <p:spPr>
          <a:xfrm>
            <a:off x="4864608" y="2606040"/>
            <a:ext cx="438912" cy="438912"/>
          </a:xfrm>
          <a:prstGeom prst="rect">
            <a:avLst/>
          </a:prstGeom>
          <a:noFill/>
          <a:ln/>
        </p:spPr>
        <p:txBody>
          <a:bodyPr wrap="square" lIns="0" tIns="0" rIns="0" bIns="0" rtlCol="0" anchor="ctr"/>
          <a:lstStyle/>
          <a:p>
            <a:pPr marL="0" indent="0" algn="ctr">
              <a:buNone/>
            </a:pPr>
            <a:r>
              <a:rPr lang="en-US" sz="1100" b="1" dirty="0">
                <a:solidFill>
                  <a:srgbClr val="0D1B2A"/>
                </a:solidFill>
              </a:rPr>
              <a:t>04</a:t>
            </a:r>
            <a:endParaRPr lang="en-US" sz="1100" dirty="0"/>
          </a:p>
        </p:txBody>
      </p:sp>
      <p:sp>
        <p:nvSpPr>
          <p:cNvPr id="21" name="Text 19"/>
          <p:cNvSpPr/>
          <p:nvPr/>
        </p:nvSpPr>
        <p:spPr>
          <a:xfrm>
            <a:off x="5413248" y="2377440"/>
            <a:ext cx="3383280" cy="34747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Microservices Backend</a:t>
            </a:r>
            <a:endParaRPr lang="en-US" sz="1200" dirty="0"/>
          </a:p>
        </p:txBody>
      </p:sp>
      <p:sp>
        <p:nvSpPr>
          <p:cNvPr id="22" name="Text 20"/>
          <p:cNvSpPr/>
          <p:nvPr/>
        </p:nvSpPr>
        <p:spPr>
          <a:xfrm>
            <a:off x="5413248" y="2743200"/>
            <a:ext cx="3383280" cy="594360"/>
          </a:xfrm>
          <a:prstGeom prst="rect">
            <a:avLst/>
          </a:prstGeom>
          <a:noFill/>
          <a:ln/>
        </p:spPr>
        <p:txBody>
          <a:bodyPr wrap="square" lIns="0" tIns="0" rIns="0" bIns="0" rtlCol="0" anchor="ctr"/>
          <a:lstStyle/>
          <a:p>
            <a:pPr marL="0" indent="0">
              <a:buNone/>
            </a:pPr>
            <a:r>
              <a:rPr lang="en-US" sz="1050" dirty="0">
                <a:solidFill>
                  <a:srgbClr val="4A6080"/>
                </a:solidFill>
                <a:latin typeface="Calibri" pitchFamily="34" charset="0"/>
                <a:ea typeface="Calibri" pitchFamily="34" charset="-122"/>
                <a:cs typeface="Calibri" pitchFamily="34" charset="-120"/>
              </a:rPr>
              <a:t>Separate FastAPI services for Auth, Jobs, Screening, Interview — independently deployable.</a:t>
            </a:r>
            <a:endParaRPr lang="en-US" sz="1050" dirty="0"/>
          </a:p>
        </p:txBody>
      </p:sp>
      <p:sp>
        <p:nvSpPr>
          <p:cNvPr id="23" name="Shape 21"/>
          <p:cNvSpPr/>
          <p:nvPr/>
        </p:nvSpPr>
        <p:spPr>
          <a:xfrm>
            <a:off x="365760" y="3611880"/>
            <a:ext cx="4160520" cy="1188720"/>
          </a:xfrm>
          <a:prstGeom prst="roundRect">
            <a:avLst>
              <a:gd name="adj" fmla="val 7692"/>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24" name="Shape 22"/>
          <p:cNvSpPr/>
          <p:nvPr/>
        </p:nvSpPr>
        <p:spPr>
          <a:xfrm>
            <a:off x="475488" y="3931920"/>
            <a:ext cx="438912" cy="438912"/>
          </a:xfrm>
          <a:prstGeom prst="roundRect">
            <a:avLst>
              <a:gd name="adj" fmla="val 12500"/>
            </a:avLst>
          </a:prstGeom>
          <a:solidFill>
            <a:srgbClr val="00B4D8"/>
          </a:solidFill>
          <a:ln/>
        </p:spPr>
        <p:txBody>
          <a:bodyPr/>
          <a:lstStyle/>
          <a:p>
            <a:endParaRPr lang="en-IN"/>
          </a:p>
        </p:txBody>
      </p:sp>
      <p:sp>
        <p:nvSpPr>
          <p:cNvPr id="25" name="Text 23"/>
          <p:cNvSpPr/>
          <p:nvPr/>
        </p:nvSpPr>
        <p:spPr>
          <a:xfrm>
            <a:off x="475488" y="3931920"/>
            <a:ext cx="438912" cy="438912"/>
          </a:xfrm>
          <a:prstGeom prst="rect">
            <a:avLst/>
          </a:prstGeom>
          <a:noFill/>
          <a:ln/>
        </p:spPr>
        <p:txBody>
          <a:bodyPr wrap="square" lIns="0" tIns="0" rIns="0" bIns="0" rtlCol="0" anchor="ctr"/>
          <a:lstStyle/>
          <a:p>
            <a:pPr marL="0" indent="0" algn="ctr">
              <a:buNone/>
            </a:pPr>
            <a:r>
              <a:rPr lang="en-US" sz="1100" b="1" dirty="0">
                <a:solidFill>
                  <a:srgbClr val="0D1B2A"/>
                </a:solidFill>
              </a:rPr>
              <a:t>05</a:t>
            </a:r>
            <a:endParaRPr lang="en-US" sz="1100" dirty="0"/>
          </a:p>
        </p:txBody>
      </p:sp>
      <p:sp>
        <p:nvSpPr>
          <p:cNvPr id="26" name="Text 24"/>
          <p:cNvSpPr/>
          <p:nvPr/>
        </p:nvSpPr>
        <p:spPr>
          <a:xfrm>
            <a:off x="1024128" y="3703320"/>
            <a:ext cx="3383280" cy="34747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AWS EKS Cloud Deployment</a:t>
            </a:r>
            <a:endParaRPr lang="en-US" sz="1200" dirty="0"/>
          </a:p>
        </p:txBody>
      </p:sp>
      <p:sp>
        <p:nvSpPr>
          <p:cNvPr id="27" name="Text 25"/>
          <p:cNvSpPr/>
          <p:nvPr/>
        </p:nvSpPr>
        <p:spPr>
          <a:xfrm>
            <a:off x="1024128" y="4069080"/>
            <a:ext cx="3383280" cy="594360"/>
          </a:xfrm>
          <a:prstGeom prst="rect">
            <a:avLst/>
          </a:prstGeom>
          <a:noFill/>
          <a:ln/>
        </p:spPr>
        <p:txBody>
          <a:bodyPr wrap="square" lIns="0" tIns="0" rIns="0" bIns="0" rtlCol="0" anchor="ctr"/>
          <a:lstStyle/>
          <a:p>
            <a:pPr marL="0" indent="0">
              <a:buNone/>
            </a:pPr>
            <a:r>
              <a:rPr lang="en-US" sz="1050" dirty="0">
                <a:solidFill>
                  <a:srgbClr val="4A6080"/>
                </a:solidFill>
                <a:latin typeface="Calibri" pitchFamily="34" charset="0"/>
                <a:ea typeface="Calibri" pitchFamily="34" charset="-122"/>
                <a:cs typeface="Calibri" pitchFamily="34" charset="-120"/>
              </a:rPr>
              <a:t>Production-grade EKS cluster with private subnets, ALB ingress, HTTPS, and RDS PostgreSQL.</a:t>
            </a:r>
            <a:endParaRPr lang="en-US" sz="1050" dirty="0"/>
          </a:p>
        </p:txBody>
      </p:sp>
      <p:sp>
        <p:nvSpPr>
          <p:cNvPr id="28" name="Shape 26"/>
          <p:cNvSpPr/>
          <p:nvPr/>
        </p:nvSpPr>
        <p:spPr>
          <a:xfrm>
            <a:off x="4754880" y="3611880"/>
            <a:ext cx="4160520" cy="1188720"/>
          </a:xfrm>
          <a:prstGeom prst="roundRect">
            <a:avLst>
              <a:gd name="adj" fmla="val 7692"/>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29" name="Shape 27"/>
          <p:cNvSpPr/>
          <p:nvPr/>
        </p:nvSpPr>
        <p:spPr>
          <a:xfrm>
            <a:off x="4864608" y="3931920"/>
            <a:ext cx="438912" cy="438912"/>
          </a:xfrm>
          <a:prstGeom prst="roundRect">
            <a:avLst>
              <a:gd name="adj" fmla="val 12500"/>
            </a:avLst>
          </a:prstGeom>
          <a:solidFill>
            <a:srgbClr val="00B4D8"/>
          </a:solidFill>
          <a:ln/>
        </p:spPr>
        <p:txBody>
          <a:bodyPr/>
          <a:lstStyle/>
          <a:p>
            <a:endParaRPr lang="en-IN"/>
          </a:p>
        </p:txBody>
      </p:sp>
      <p:sp>
        <p:nvSpPr>
          <p:cNvPr id="30" name="Text 28"/>
          <p:cNvSpPr/>
          <p:nvPr/>
        </p:nvSpPr>
        <p:spPr>
          <a:xfrm>
            <a:off x="4864608" y="3931920"/>
            <a:ext cx="438912" cy="438912"/>
          </a:xfrm>
          <a:prstGeom prst="rect">
            <a:avLst/>
          </a:prstGeom>
          <a:noFill/>
          <a:ln/>
        </p:spPr>
        <p:txBody>
          <a:bodyPr wrap="square" lIns="0" tIns="0" rIns="0" bIns="0" rtlCol="0" anchor="ctr"/>
          <a:lstStyle/>
          <a:p>
            <a:pPr marL="0" indent="0" algn="ctr">
              <a:buNone/>
            </a:pPr>
            <a:r>
              <a:rPr lang="en-US" sz="1100" b="1" dirty="0">
                <a:solidFill>
                  <a:srgbClr val="0D1B2A"/>
                </a:solidFill>
              </a:rPr>
              <a:t>06</a:t>
            </a:r>
            <a:endParaRPr lang="en-US" sz="1100" dirty="0"/>
          </a:p>
        </p:txBody>
      </p:sp>
      <p:sp>
        <p:nvSpPr>
          <p:cNvPr id="31" name="Text 29"/>
          <p:cNvSpPr/>
          <p:nvPr/>
        </p:nvSpPr>
        <p:spPr>
          <a:xfrm>
            <a:off x="5413248" y="3703320"/>
            <a:ext cx="3383280" cy="34747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CI/CD Automation</a:t>
            </a:r>
            <a:endParaRPr lang="en-US" sz="1200" dirty="0"/>
          </a:p>
        </p:txBody>
      </p:sp>
      <p:sp>
        <p:nvSpPr>
          <p:cNvPr id="32" name="Text 30"/>
          <p:cNvSpPr/>
          <p:nvPr/>
        </p:nvSpPr>
        <p:spPr>
          <a:xfrm>
            <a:off x="5413248" y="4069080"/>
            <a:ext cx="3383280" cy="594360"/>
          </a:xfrm>
          <a:prstGeom prst="rect">
            <a:avLst/>
          </a:prstGeom>
          <a:noFill/>
          <a:ln/>
        </p:spPr>
        <p:txBody>
          <a:bodyPr wrap="square" lIns="0" tIns="0" rIns="0" bIns="0" rtlCol="0" anchor="ctr"/>
          <a:lstStyle/>
          <a:p>
            <a:pPr marL="0" indent="0">
              <a:buNone/>
            </a:pPr>
            <a:r>
              <a:rPr lang="en-US" sz="1050" dirty="0">
                <a:solidFill>
                  <a:srgbClr val="4A6080"/>
                </a:solidFill>
                <a:latin typeface="Calibri" pitchFamily="34" charset="0"/>
                <a:ea typeface="Calibri" pitchFamily="34" charset="-122"/>
                <a:cs typeface="Calibri" pitchFamily="34" charset="-120"/>
              </a:rPr>
              <a:t>GitHub Actions CI with OIDC + ArgoCD GitOps CD — zero manual deployment steps.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6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lIns="0" tIns="0" rIns="0" bIns="0" rtlCol="0" anchor="ctr"/>
          <a:lstStyle/>
          <a:p>
            <a:pPr marL="0" indent="0">
              <a:buNone/>
            </a:pPr>
            <a:r>
              <a:rPr lang="en-US" sz="3600" b="1" dirty="0">
                <a:solidFill>
                  <a:srgbClr val="0D1B2A"/>
                </a:solidFill>
                <a:latin typeface="Calibri" pitchFamily="34" charset="0"/>
                <a:ea typeface="Calibri" pitchFamily="34" charset="-122"/>
                <a:cs typeface="Calibri" pitchFamily="34" charset="-120"/>
              </a:rPr>
              <a:t>Key Features</a:t>
            </a:r>
            <a:endParaRPr lang="en-US" sz="3600" dirty="0"/>
          </a:p>
        </p:txBody>
      </p:sp>
      <p:sp>
        <p:nvSpPr>
          <p:cNvPr id="3" name="Shape 1"/>
          <p:cNvSpPr/>
          <p:nvPr/>
        </p:nvSpPr>
        <p:spPr>
          <a:xfrm>
            <a:off x="320040" y="1005840"/>
            <a:ext cx="2606040" cy="1188720"/>
          </a:xfrm>
          <a:prstGeom prst="roundRect">
            <a:avLst>
              <a:gd name="adj" fmla="val 9231"/>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4" name="Text 2"/>
          <p:cNvSpPr/>
          <p:nvPr/>
        </p:nvSpPr>
        <p:spPr>
          <a:xfrm>
            <a:off x="320040" y="1115568"/>
            <a:ext cx="2606040" cy="45720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5" name="Text 3"/>
          <p:cNvSpPr/>
          <p:nvPr/>
        </p:nvSpPr>
        <p:spPr>
          <a:xfrm>
            <a:off x="411480" y="1600200"/>
            <a:ext cx="2423160" cy="274320"/>
          </a:xfrm>
          <a:prstGeom prst="rect">
            <a:avLst/>
          </a:prstGeom>
          <a:noFill/>
          <a:ln/>
        </p:spPr>
        <p:txBody>
          <a:bodyPr wrap="square" lIns="0" tIns="0" rIns="0" bIns="0" rtlCol="0" anchor="ctr"/>
          <a:lstStyle/>
          <a:p>
            <a:pPr marL="0" indent="0" algn="ctr">
              <a:buNone/>
            </a:pPr>
            <a:r>
              <a:rPr lang="en-US" sz="1200" b="1" dirty="0">
                <a:solidFill>
                  <a:srgbClr val="0D1B2A"/>
                </a:solidFill>
              </a:rPr>
              <a:t>Candidate Auth</a:t>
            </a:r>
            <a:endParaRPr lang="en-US" sz="1200" dirty="0"/>
          </a:p>
        </p:txBody>
      </p:sp>
      <p:sp>
        <p:nvSpPr>
          <p:cNvPr id="6" name="Text 4"/>
          <p:cNvSpPr/>
          <p:nvPr/>
        </p:nvSpPr>
        <p:spPr>
          <a:xfrm>
            <a:off x="411480" y="1874520"/>
            <a:ext cx="2423160" cy="228600"/>
          </a:xfrm>
          <a:prstGeom prst="rect">
            <a:avLst/>
          </a:prstGeom>
          <a:noFill/>
          <a:ln/>
        </p:spPr>
        <p:txBody>
          <a:bodyPr wrap="square" lIns="0" tIns="0" rIns="0" bIns="0" rtlCol="0" anchor="ctr"/>
          <a:lstStyle/>
          <a:p>
            <a:pPr marL="0" indent="0" algn="ctr">
              <a:buNone/>
            </a:pPr>
            <a:r>
              <a:rPr lang="en-US" sz="1000" dirty="0">
                <a:solidFill>
                  <a:srgbClr val="4A6080"/>
                </a:solidFill>
              </a:rPr>
              <a:t>Signup &amp; Login</a:t>
            </a:r>
            <a:endParaRPr lang="en-US" sz="1000" dirty="0"/>
          </a:p>
        </p:txBody>
      </p:sp>
      <p:sp>
        <p:nvSpPr>
          <p:cNvPr id="7" name="Shape 5"/>
          <p:cNvSpPr/>
          <p:nvPr/>
        </p:nvSpPr>
        <p:spPr>
          <a:xfrm>
            <a:off x="3154680" y="1005840"/>
            <a:ext cx="2606040" cy="1188720"/>
          </a:xfrm>
          <a:prstGeom prst="roundRect">
            <a:avLst>
              <a:gd name="adj" fmla="val 9231"/>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8" name="Text 6"/>
          <p:cNvSpPr/>
          <p:nvPr/>
        </p:nvSpPr>
        <p:spPr>
          <a:xfrm>
            <a:off x="3154680" y="1115568"/>
            <a:ext cx="2606040" cy="45720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9" name="Text 7"/>
          <p:cNvSpPr/>
          <p:nvPr/>
        </p:nvSpPr>
        <p:spPr>
          <a:xfrm>
            <a:off x="3246120" y="1600200"/>
            <a:ext cx="2423160" cy="274320"/>
          </a:xfrm>
          <a:prstGeom prst="rect">
            <a:avLst/>
          </a:prstGeom>
          <a:noFill/>
          <a:ln/>
        </p:spPr>
        <p:txBody>
          <a:bodyPr wrap="square" lIns="0" tIns="0" rIns="0" bIns="0" rtlCol="0" anchor="ctr"/>
          <a:lstStyle/>
          <a:p>
            <a:pPr marL="0" indent="0" algn="ctr">
              <a:buNone/>
            </a:pPr>
            <a:r>
              <a:rPr lang="en-US" sz="1200" b="1" dirty="0">
                <a:solidFill>
                  <a:srgbClr val="0D1B2A"/>
                </a:solidFill>
              </a:rPr>
              <a:t>Recruiter Auth</a:t>
            </a:r>
            <a:endParaRPr lang="en-US" sz="1200" dirty="0"/>
          </a:p>
        </p:txBody>
      </p:sp>
      <p:sp>
        <p:nvSpPr>
          <p:cNvPr id="10" name="Text 8"/>
          <p:cNvSpPr/>
          <p:nvPr/>
        </p:nvSpPr>
        <p:spPr>
          <a:xfrm>
            <a:off x="3246120" y="1874520"/>
            <a:ext cx="2423160" cy="228600"/>
          </a:xfrm>
          <a:prstGeom prst="rect">
            <a:avLst/>
          </a:prstGeom>
          <a:noFill/>
          <a:ln/>
        </p:spPr>
        <p:txBody>
          <a:bodyPr wrap="square" lIns="0" tIns="0" rIns="0" bIns="0" rtlCol="0" anchor="ctr"/>
          <a:lstStyle/>
          <a:p>
            <a:pPr marL="0" indent="0" algn="ctr">
              <a:buNone/>
            </a:pPr>
            <a:r>
              <a:rPr lang="en-US" sz="1000" dirty="0">
                <a:solidFill>
                  <a:srgbClr val="4A6080"/>
                </a:solidFill>
              </a:rPr>
              <a:t>Signup &amp; Login</a:t>
            </a:r>
            <a:endParaRPr lang="en-US" sz="1000" dirty="0"/>
          </a:p>
        </p:txBody>
      </p:sp>
      <p:sp>
        <p:nvSpPr>
          <p:cNvPr id="11" name="Shape 9"/>
          <p:cNvSpPr/>
          <p:nvPr/>
        </p:nvSpPr>
        <p:spPr>
          <a:xfrm>
            <a:off x="5989320" y="1005840"/>
            <a:ext cx="2606040" cy="1188720"/>
          </a:xfrm>
          <a:prstGeom prst="roundRect">
            <a:avLst>
              <a:gd name="adj" fmla="val 9231"/>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12" name="Text 10"/>
          <p:cNvSpPr/>
          <p:nvPr/>
        </p:nvSpPr>
        <p:spPr>
          <a:xfrm>
            <a:off x="5989320" y="1115568"/>
            <a:ext cx="2606040" cy="45720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3" name="Text 11"/>
          <p:cNvSpPr/>
          <p:nvPr/>
        </p:nvSpPr>
        <p:spPr>
          <a:xfrm>
            <a:off x="6080760" y="1600200"/>
            <a:ext cx="2423160" cy="274320"/>
          </a:xfrm>
          <a:prstGeom prst="rect">
            <a:avLst/>
          </a:prstGeom>
          <a:noFill/>
          <a:ln/>
        </p:spPr>
        <p:txBody>
          <a:bodyPr wrap="square" lIns="0" tIns="0" rIns="0" bIns="0" rtlCol="0" anchor="ctr"/>
          <a:lstStyle/>
          <a:p>
            <a:pPr marL="0" indent="0" algn="ctr">
              <a:buNone/>
            </a:pPr>
            <a:r>
              <a:rPr lang="en-US" sz="1200" b="1" dirty="0">
                <a:solidFill>
                  <a:srgbClr val="0D1B2A"/>
                </a:solidFill>
              </a:rPr>
              <a:t>Job Posting</a:t>
            </a:r>
            <a:endParaRPr lang="en-US" sz="1200" dirty="0"/>
          </a:p>
        </p:txBody>
      </p:sp>
      <p:sp>
        <p:nvSpPr>
          <p:cNvPr id="14" name="Text 12"/>
          <p:cNvSpPr/>
          <p:nvPr/>
        </p:nvSpPr>
        <p:spPr>
          <a:xfrm>
            <a:off x="6080760" y="1874520"/>
            <a:ext cx="2423160" cy="228600"/>
          </a:xfrm>
          <a:prstGeom prst="rect">
            <a:avLst/>
          </a:prstGeom>
          <a:noFill/>
          <a:ln/>
        </p:spPr>
        <p:txBody>
          <a:bodyPr wrap="square" lIns="0" tIns="0" rIns="0" bIns="0" rtlCol="0" anchor="ctr"/>
          <a:lstStyle/>
          <a:p>
            <a:pPr marL="0" indent="0" algn="ctr">
              <a:buNone/>
            </a:pPr>
            <a:r>
              <a:rPr lang="en-US" sz="1000" dirty="0">
                <a:solidFill>
                  <a:srgbClr val="4A6080"/>
                </a:solidFill>
              </a:rPr>
              <a:t>Recruiter creates listings</a:t>
            </a:r>
            <a:endParaRPr lang="en-US" sz="1000" dirty="0"/>
          </a:p>
        </p:txBody>
      </p:sp>
      <p:sp>
        <p:nvSpPr>
          <p:cNvPr id="15" name="Shape 13"/>
          <p:cNvSpPr/>
          <p:nvPr/>
        </p:nvSpPr>
        <p:spPr>
          <a:xfrm>
            <a:off x="320040" y="2331720"/>
            <a:ext cx="2606040" cy="1188720"/>
          </a:xfrm>
          <a:prstGeom prst="roundRect">
            <a:avLst>
              <a:gd name="adj" fmla="val 9231"/>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16" name="Text 14"/>
          <p:cNvSpPr/>
          <p:nvPr/>
        </p:nvSpPr>
        <p:spPr>
          <a:xfrm>
            <a:off x="320040" y="2441448"/>
            <a:ext cx="2606040" cy="45720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7" name="Text 15"/>
          <p:cNvSpPr/>
          <p:nvPr/>
        </p:nvSpPr>
        <p:spPr>
          <a:xfrm>
            <a:off x="411480" y="2926080"/>
            <a:ext cx="2423160" cy="274320"/>
          </a:xfrm>
          <a:prstGeom prst="rect">
            <a:avLst/>
          </a:prstGeom>
          <a:noFill/>
          <a:ln/>
        </p:spPr>
        <p:txBody>
          <a:bodyPr wrap="square" lIns="0" tIns="0" rIns="0" bIns="0" rtlCol="0" anchor="ctr"/>
          <a:lstStyle/>
          <a:p>
            <a:pPr marL="0" indent="0" algn="ctr">
              <a:buNone/>
            </a:pPr>
            <a:r>
              <a:rPr lang="en-US" sz="1200" b="1" dirty="0">
                <a:solidFill>
                  <a:srgbClr val="0D1B2A"/>
                </a:solidFill>
              </a:rPr>
              <a:t>Resume Upload</a:t>
            </a:r>
            <a:endParaRPr lang="en-US" sz="1200" dirty="0"/>
          </a:p>
        </p:txBody>
      </p:sp>
      <p:sp>
        <p:nvSpPr>
          <p:cNvPr id="18" name="Text 16"/>
          <p:cNvSpPr/>
          <p:nvPr/>
        </p:nvSpPr>
        <p:spPr>
          <a:xfrm>
            <a:off x="411480" y="3200400"/>
            <a:ext cx="2423160" cy="228600"/>
          </a:xfrm>
          <a:prstGeom prst="rect">
            <a:avLst/>
          </a:prstGeom>
          <a:noFill/>
          <a:ln/>
        </p:spPr>
        <p:txBody>
          <a:bodyPr wrap="square" lIns="0" tIns="0" rIns="0" bIns="0" rtlCol="0" anchor="ctr"/>
          <a:lstStyle/>
          <a:p>
            <a:pPr marL="0" indent="0" algn="ctr">
              <a:buNone/>
            </a:pPr>
            <a:r>
              <a:rPr lang="en-US" sz="1000" dirty="0">
                <a:solidFill>
                  <a:srgbClr val="4A6080"/>
                </a:solidFill>
              </a:rPr>
              <a:t>PDF resume submission</a:t>
            </a:r>
            <a:endParaRPr lang="en-US" sz="1000" dirty="0"/>
          </a:p>
        </p:txBody>
      </p:sp>
      <p:sp>
        <p:nvSpPr>
          <p:cNvPr id="19" name="Shape 17"/>
          <p:cNvSpPr/>
          <p:nvPr/>
        </p:nvSpPr>
        <p:spPr>
          <a:xfrm>
            <a:off x="3154680" y="2331720"/>
            <a:ext cx="2606040" cy="1188720"/>
          </a:xfrm>
          <a:prstGeom prst="roundRect">
            <a:avLst>
              <a:gd name="adj" fmla="val 9231"/>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20" name="Text 18"/>
          <p:cNvSpPr/>
          <p:nvPr/>
        </p:nvSpPr>
        <p:spPr>
          <a:xfrm>
            <a:off x="3154680" y="2441448"/>
            <a:ext cx="2606040" cy="45720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21" name="Text 19"/>
          <p:cNvSpPr/>
          <p:nvPr/>
        </p:nvSpPr>
        <p:spPr>
          <a:xfrm>
            <a:off x="3246120" y="2926080"/>
            <a:ext cx="2423160" cy="274320"/>
          </a:xfrm>
          <a:prstGeom prst="rect">
            <a:avLst/>
          </a:prstGeom>
          <a:noFill/>
          <a:ln/>
        </p:spPr>
        <p:txBody>
          <a:bodyPr wrap="square" lIns="0" tIns="0" rIns="0" bIns="0" rtlCol="0" anchor="ctr"/>
          <a:lstStyle/>
          <a:p>
            <a:pPr marL="0" indent="0" algn="ctr">
              <a:buNone/>
            </a:pPr>
            <a:r>
              <a:rPr lang="en-US" sz="1200" b="1" dirty="0">
                <a:solidFill>
                  <a:srgbClr val="0D1B2A"/>
                </a:solidFill>
              </a:rPr>
              <a:t>AI Screening</a:t>
            </a:r>
            <a:endParaRPr lang="en-US" sz="1200" dirty="0"/>
          </a:p>
        </p:txBody>
      </p:sp>
      <p:sp>
        <p:nvSpPr>
          <p:cNvPr id="22" name="Text 20"/>
          <p:cNvSpPr/>
          <p:nvPr/>
        </p:nvSpPr>
        <p:spPr>
          <a:xfrm>
            <a:off x="3246120" y="3200400"/>
            <a:ext cx="2423160" cy="228600"/>
          </a:xfrm>
          <a:prstGeom prst="rect">
            <a:avLst/>
          </a:prstGeom>
          <a:noFill/>
          <a:ln/>
        </p:spPr>
        <p:txBody>
          <a:bodyPr wrap="square" lIns="0" tIns="0" rIns="0" bIns="0" rtlCol="0" anchor="ctr"/>
          <a:lstStyle/>
          <a:p>
            <a:pPr marL="0" indent="0" algn="ctr">
              <a:buNone/>
            </a:pPr>
            <a:r>
              <a:rPr lang="en-US" sz="1000" dirty="0">
                <a:solidFill>
                  <a:srgbClr val="4A6080"/>
                </a:solidFill>
              </a:rPr>
              <a:t>Score &amp; fit analysis</a:t>
            </a:r>
            <a:endParaRPr lang="en-US" sz="1000" dirty="0"/>
          </a:p>
        </p:txBody>
      </p:sp>
      <p:sp>
        <p:nvSpPr>
          <p:cNvPr id="23" name="Shape 21"/>
          <p:cNvSpPr/>
          <p:nvPr/>
        </p:nvSpPr>
        <p:spPr>
          <a:xfrm>
            <a:off x="5989320" y="2331720"/>
            <a:ext cx="2606040" cy="1188720"/>
          </a:xfrm>
          <a:prstGeom prst="roundRect">
            <a:avLst>
              <a:gd name="adj" fmla="val 9231"/>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24" name="Text 22"/>
          <p:cNvSpPr/>
          <p:nvPr/>
        </p:nvSpPr>
        <p:spPr>
          <a:xfrm>
            <a:off x="5989320" y="2441448"/>
            <a:ext cx="2606040" cy="45720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25" name="Text 23"/>
          <p:cNvSpPr/>
          <p:nvPr/>
        </p:nvSpPr>
        <p:spPr>
          <a:xfrm>
            <a:off x="6080760" y="2926080"/>
            <a:ext cx="2423160" cy="274320"/>
          </a:xfrm>
          <a:prstGeom prst="rect">
            <a:avLst/>
          </a:prstGeom>
          <a:noFill/>
          <a:ln/>
        </p:spPr>
        <p:txBody>
          <a:bodyPr wrap="square" lIns="0" tIns="0" rIns="0" bIns="0" rtlCol="0" anchor="ctr"/>
          <a:lstStyle/>
          <a:p>
            <a:pPr marL="0" indent="0" algn="ctr">
              <a:buNone/>
            </a:pPr>
            <a:r>
              <a:rPr lang="en-US" sz="1200" b="1" dirty="0">
                <a:solidFill>
                  <a:srgbClr val="0D1B2A"/>
                </a:solidFill>
              </a:rPr>
              <a:t>Interview Invite</a:t>
            </a:r>
            <a:endParaRPr lang="en-US" sz="1200" dirty="0"/>
          </a:p>
        </p:txBody>
      </p:sp>
      <p:sp>
        <p:nvSpPr>
          <p:cNvPr id="26" name="Text 24"/>
          <p:cNvSpPr/>
          <p:nvPr/>
        </p:nvSpPr>
        <p:spPr>
          <a:xfrm>
            <a:off x="6080760" y="3200400"/>
            <a:ext cx="2423160" cy="228600"/>
          </a:xfrm>
          <a:prstGeom prst="rect">
            <a:avLst/>
          </a:prstGeom>
          <a:noFill/>
          <a:ln/>
        </p:spPr>
        <p:txBody>
          <a:bodyPr wrap="square" lIns="0" tIns="0" rIns="0" bIns="0" rtlCol="0" anchor="ctr"/>
          <a:lstStyle/>
          <a:p>
            <a:pPr marL="0" indent="0" algn="ctr">
              <a:buNone/>
            </a:pPr>
            <a:r>
              <a:rPr lang="en-US" sz="1000" dirty="0">
                <a:solidFill>
                  <a:srgbClr val="4A6080"/>
                </a:solidFill>
              </a:rPr>
              <a:t>Threshold-based trigger</a:t>
            </a:r>
            <a:endParaRPr lang="en-US" sz="1000" dirty="0"/>
          </a:p>
        </p:txBody>
      </p:sp>
      <p:sp>
        <p:nvSpPr>
          <p:cNvPr id="27" name="Shape 25"/>
          <p:cNvSpPr/>
          <p:nvPr/>
        </p:nvSpPr>
        <p:spPr>
          <a:xfrm>
            <a:off x="320040" y="3657600"/>
            <a:ext cx="2606040" cy="1188720"/>
          </a:xfrm>
          <a:prstGeom prst="roundRect">
            <a:avLst>
              <a:gd name="adj" fmla="val 9231"/>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28" name="Text 26"/>
          <p:cNvSpPr/>
          <p:nvPr/>
        </p:nvSpPr>
        <p:spPr>
          <a:xfrm>
            <a:off x="320040" y="3767328"/>
            <a:ext cx="2606040" cy="45720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29" name="Text 27"/>
          <p:cNvSpPr/>
          <p:nvPr/>
        </p:nvSpPr>
        <p:spPr>
          <a:xfrm>
            <a:off x="411480" y="4251960"/>
            <a:ext cx="2423160" cy="274320"/>
          </a:xfrm>
          <a:prstGeom prst="rect">
            <a:avLst/>
          </a:prstGeom>
          <a:noFill/>
          <a:ln/>
        </p:spPr>
        <p:txBody>
          <a:bodyPr wrap="square" lIns="0" tIns="0" rIns="0" bIns="0" rtlCol="0" anchor="ctr"/>
          <a:lstStyle/>
          <a:p>
            <a:pPr marL="0" indent="0" algn="ctr">
              <a:buNone/>
            </a:pPr>
            <a:r>
              <a:rPr lang="en-US" sz="1200" b="1" dirty="0">
                <a:solidFill>
                  <a:srgbClr val="0D1B2A"/>
                </a:solidFill>
              </a:rPr>
              <a:t>Voice Interview</a:t>
            </a:r>
            <a:endParaRPr lang="en-US" sz="1200" dirty="0"/>
          </a:p>
        </p:txBody>
      </p:sp>
      <p:sp>
        <p:nvSpPr>
          <p:cNvPr id="30" name="Text 28"/>
          <p:cNvSpPr/>
          <p:nvPr/>
        </p:nvSpPr>
        <p:spPr>
          <a:xfrm>
            <a:off x="411480" y="4526280"/>
            <a:ext cx="2423160" cy="228600"/>
          </a:xfrm>
          <a:prstGeom prst="rect">
            <a:avLst/>
          </a:prstGeom>
          <a:noFill/>
          <a:ln/>
        </p:spPr>
        <p:txBody>
          <a:bodyPr wrap="square" lIns="0" tIns="0" rIns="0" bIns="0" rtlCol="0" anchor="ctr"/>
          <a:lstStyle/>
          <a:p>
            <a:pPr marL="0" indent="0" algn="ctr">
              <a:buNone/>
            </a:pPr>
            <a:r>
              <a:rPr lang="en-US" sz="1000" dirty="0">
                <a:solidFill>
                  <a:srgbClr val="4A6080"/>
                </a:solidFill>
              </a:rPr>
              <a:t>AI-driven STT/LLM/TTS</a:t>
            </a:r>
            <a:endParaRPr lang="en-US" sz="1000" dirty="0"/>
          </a:p>
        </p:txBody>
      </p:sp>
      <p:sp>
        <p:nvSpPr>
          <p:cNvPr id="31" name="Shape 29"/>
          <p:cNvSpPr/>
          <p:nvPr/>
        </p:nvSpPr>
        <p:spPr>
          <a:xfrm>
            <a:off x="3154680" y="3657600"/>
            <a:ext cx="2606040" cy="1188720"/>
          </a:xfrm>
          <a:prstGeom prst="roundRect">
            <a:avLst>
              <a:gd name="adj" fmla="val 9231"/>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32" name="Text 30"/>
          <p:cNvSpPr/>
          <p:nvPr/>
        </p:nvSpPr>
        <p:spPr>
          <a:xfrm>
            <a:off x="3154680" y="3767328"/>
            <a:ext cx="2606040" cy="45720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33" name="Text 31"/>
          <p:cNvSpPr/>
          <p:nvPr/>
        </p:nvSpPr>
        <p:spPr>
          <a:xfrm>
            <a:off x="3246120" y="4251960"/>
            <a:ext cx="2423160" cy="274320"/>
          </a:xfrm>
          <a:prstGeom prst="rect">
            <a:avLst/>
          </a:prstGeom>
          <a:noFill/>
          <a:ln/>
        </p:spPr>
        <p:txBody>
          <a:bodyPr wrap="square" lIns="0" tIns="0" rIns="0" bIns="0" rtlCol="0" anchor="ctr"/>
          <a:lstStyle/>
          <a:p>
            <a:pPr marL="0" indent="0" algn="ctr">
              <a:buNone/>
            </a:pPr>
            <a:r>
              <a:rPr lang="en-US" sz="1200" b="1" dirty="0">
                <a:solidFill>
                  <a:srgbClr val="0D1B2A"/>
                </a:solidFill>
              </a:rPr>
              <a:t>Recruiter Review</a:t>
            </a:r>
            <a:endParaRPr lang="en-US" sz="1200" dirty="0"/>
          </a:p>
        </p:txBody>
      </p:sp>
      <p:sp>
        <p:nvSpPr>
          <p:cNvPr id="34" name="Text 32"/>
          <p:cNvSpPr/>
          <p:nvPr/>
        </p:nvSpPr>
        <p:spPr>
          <a:xfrm>
            <a:off x="3246120" y="4526280"/>
            <a:ext cx="2423160" cy="228600"/>
          </a:xfrm>
          <a:prstGeom prst="rect">
            <a:avLst/>
          </a:prstGeom>
          <a:noFill/>
          <a:ln/>
        </p:spPr>
        <p:txBody>
          <a:bodyPr wrap="square" lIns="0" tIns="0" rIns="0" bIns="0" rtlCol="0" anchor="ctr"/>
          <a:lstStyle/>
          <a:p>
            <a:pPr marL="0" indent="0" algn="ctr">
              <a:buNone/>
            </a:pPr>
            <a:r>
              <a:rPr lang="en-US" sz="1000" dirty="0">
                <a:solidFill>
                  <a:srgbClr val="4A6080"/>
                </a:solidFill>
              </a:rPr>
              <a:t>Ranked applicants view</a:t>
            </a:r>
            <a:endParaRPr lang="en-US" sz="1000" dirty="0"/>
          </a:p>
        </p:txBody>
      </p:sp>
      <p:sp>
        <p:nvSpPr>
          <p:cNvPr id="35" name="Shape 33"/>
          <p:cNvSpPr/>
          <p:nvPr/>
        </p:nvSpPr>
        <p:spPr>
          <a:xfrm>
            <a:off x="5989320" y="3657600"/>
            <a:ext cx="2606040" cy="1188720"/>
          </a:xfrm>
          <a:prstGeom prst="roundRect">
            <a:avLst>
              <a:gd name="adj" fmla="val 9231"/>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36" name="Text 34"/>
          <p:cNvSpPr/>
          <p:nvPr/>
        </p:nvSpPr>
        <p:spPr>
          <a:xfrm>
            <a:off x="5989320" y="3767328"/>
            <a:ext cx="2606040" cy="45720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37" name="Text 35"/>
          <p:cNvSpPr/>
          <p:nvPr/>
        </p:nvSpPr>
        <p:spPr>
          <a:xfrm>
            <a:off x="6080760" y="4251960"/>
            <a:ext cx="2423160" cy="274320"/>
          </a:xfrm>
          <a:prstGeom prst="rect">
            <a:avLst/>
          </a:prstGeom>
          <a:noFill/>
          <a:ln/>
        </p:spPr>
        <p:txBody>
          <a:bodyPr wrap="square" lIns="0" tIns="0" rIns="0" bIns="0" rtlCol="0" anchor="ctr"/>
          <a:lstStyle/>
          <a:p>
            <a:pPr marL="0" indent="0" algn="ctr">
              <a:buNone/>
            </a:pPr>
            <a:r>
              <a:rPr lang="en-US" sz="1200" b="1" dirty="0">
                <a:solidFill>
                  <a:srgbClr val="0D1B2A"/>
                </a:solidFill>
              </a:rPr>
              <a:t>K8s Deployment</a:t>
            </a:r>
            <a:endParaRPr lang="en-US" sz="1200" dirty="0"/>
          </a:p>
        </p:txBody>
      </p:sp>
      <p:sp>
        <p:nvSpPr>
          <p:cNvPr id="38" name="Text 36"/>
          <p:cNvSpPr/>
          <p:nvPr/>
        </p:nvSpPr>
        <p:spPr>
          <a:xfrm>
            <a:off x="6080760" y="4526280"/>
            <a:ext cx="2423160" cy="228600"/>
          </a:xfrm>
          <a:prstGeom prst="rect">
            <a:avLst/>
          </a:prstGeom>
          <a:noFill/>
          <a:ln/>
        </p:spPr>
        <p:txBody>
          <a:bodyPr wrap="square" lIns="0" tIns="0" rIns="0" bIns="0" rtlCol="0" anchor="ctr"/>
          <a:lstStyle/>
          <a:p>
            <a:pPr marL="0" indent="0" algn="ctr">
              <a:buNone/>
            </a:pPr>
            <a:r>
              <a:rPr lang="en-US" sz="1000" dirty="0">
                <a:solidFill>
                  <a:srgbClr val="4A6080"/>
                </a:solidFill>
              </a:rPr>
              <a:t>Scalable microservices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54864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Application User Flow</a:t>
            </a:r>
            <a:endParaRPr lang="en-US" sz="3600" dirty="0"/>
          </a:p>
        </p:txBody>
      </p:sp>
      <p:sp>
        <p:nvSpPr>
          <p:cNvPr id="3" name="Text 1"/>
          <p:cNvSpPr/>
          <p:nvPr/>
        </p:nvSpPr>
        <p:spPr>
          <a:xfrm>
            <a:off x="457200" y="658368"/>
            <a:ext cx="8229600" cy="320040"/>
          </a:xfrm>
          <a:prstGeom prst="rect">
            <a:avLst/>
          </a:prstGeom>
          <a:noFill/>
          <a:ln/>
        </p:spPr>
        <p:txBody>
          <a:bodyPr wrap="square" lIns="0" tIns="0" rIns="0" bIns="0" rtlCol="0" anchor="ctr"/>
          <a:lstStyle/>
          <a:p>
            <a:pPr marL="0" indent="0">
              <a:buNone/>
            </a:pPr>
            <a:r>
              <a:rPr lang="en-US" sz="1300" dirty="0">
                <a:solidFill>
                  <a:srgbClr val="AACCEE"/>
                </a:solidFill>
              </a:rPr>
              <a:t>End-to-end journey from candidate login to recruiter review</a:t>
            </a:r>
            <a:endParaRPr lang="en-US" sz="1300" dirty="0"/>
          </a:p>
        </p:txBody>
      </p:sp>
      <p:sp>
        <p:nvSpPr>
          <p:cNvPr id="4" name="Shape 2"/>
          <p:cNvSpPr/>
          <p:nvPr/>
        </p:nvSpPr>
        <p:spPr>
          <a:xfrm>
            <a:off x="320040" y="1737360"/>
            <a:ext cx="1005840" cy="777240"/>
          </a:xfrm>
          <a:prstGeom prst="roundRect">
            <a:avLst>
              <a:gd name="adj" fmla="val 11765"/>
            </a:avLst>
          </a:prstGeom>
          <a:solidFill>
            <a:srgbClr val="0077B6"/>
          </a:solidFill>
          <a:ln/>
        </p:spPr>
        <p:txBody>
          <a:bodyPr/>
          <a:lstStyle/>
          <a:p>
            <a:endParaRPr lang="en-IN"/>
          </a:p>
        </p:txBody>
      </p:sp>
      <p:sp>
        <p:nvSpPr>
          <p:cNvPr id="5" name="Text 3"/>
          <p:cNvSpPr/>
          <p:nvPr/>
        </p:nvSpPr>
        <p:spPr>
          <a:xfrm>
            <a:off x="320040" y="1737360"/>
            <a:ext cx="1005840" cy="777240"/>
          </a:xfrm>
          <a:prstGeom prst="rect">
            <a:avLst/>
          </a:prstGeom>
          <a:noFill/>
          <a:ln/>
        </p:spPr>
        <p:txBody>
          <a:bodyPr wrap="square" lIns="0" tIns="0" rIns="0" bIns="0" rtlCol="0" anchor="ctr"/>
          <a:lstStyle/>
          <a:p>
            <a:pPr marL="0" indent="0" algn="ctr">
              <a:buNone/>
            </a:pPr>
            <a:r>
              <a:rPr lang="en-US" sz="950" b="1" dirty="0">
                <a:solidFill>
                  <a:srgbClr val="FFFFFF"/>
                </a:solidFill>
              </a:rPr>
              <a:t>Candidate</a:t>
            </a:r>
            <a:endParaRPr lang="en-US" sz="950" dirty="0"/>
          </a:p>
          <a:p>
            <a:pPr marL="0" indent="0" algn="ctr">
              <a:buNone/>
            </a:pPr>
            <a:r>
              <a:rPr lang="en-US" sz="950" b="1" dirty="0">
                <a:solidFill>
                  <a:srgbClr val="FFFFFF"/>
                </a:solidFill>
              </a:rPr>
              <a:t>Login/Signup</a:t>
            </a:r>
            <a:endParaRPr lang="en-US" sz="950" dirty="0"/>
          </a:p>
        </p:txBody>
      </p:sp>
      <p:sp>
        <p:nvSpPr>
          <p:cNvPr id="6" name="Shape 4"/>
          <p:cNvSpPr/>
          <p:nvPr/>
        </p:nvSpPr>
        <p:spPr>
          <a:xfrm>
            <a:off x="1344168" y="2125980"/>
            <a:ext cx="274320" cy="0"/>
          </a:xfrm>
          <a:prstGeom prst="line">
            <a:avLst/>
          </a:prstGeom>
          <a:noFill/>
          <a:ln w="25400">
            <a:solidFill>
              <a:srgbClr val="00B4D8"/>
            </a:solidFill>
            <a:prstDash val="solid"/>
          </a:ln>
        </p:spPr>
        <p:txBody>
          <a:bodyPr/>
          <a:lstStyle/>
          <a:p>
            <a:endParaRPr lang="en-IN"/>
          </a:p>
        </p:txBody>
      </p:sp>
      <p:sp>
        <p:nvSpPr>
          <p:cNvPr id="7" name="Shape 5"/>
          <p:cNvSpPr/>
          <p:nvPr/>
        </p:nvSpPr>
        <p:spPr>
          <a:xfrm>
            <a:off x="1554480" y="1737360"/>
            <a:ext cx="1005840" cy="777240"/>
          </a:xfrm>
          <a:prstGeom prst="roundRect">
            <a:avLst>
              <a:gd name="adj" fmla="val 11765"/>
            </a:avLst>
          </a:prstGeom>
          <a:solidFill>
            <a:srgbClr val="0077B6"/>
          </a:solidFill>
          <a:ln/>
        </p:spPr>
        <p:txBody>
          <a:bodyPr/>
          <a:lstStyle/>
          <a:p>
            <a:endParaRPr lang="en-IN"/>
          </a:p>
        </p:txBody>
      </p:sp>
      <p:sp>
        <p:nvSpPr>
          <p:cNvPr id="8" name="Text 6"/>
          <p:cNvSpPr/>
          <p:nvPr/>
        </p:nvSpPr>
        <p:spPr>
          <a:xfrm>
            <a:off x="1554480" y="1737360"/>
            <a:ext cx="1005840" cy="777240"/>
          </a:xfrm>
          <a:prstGeom prst="rect">
            <a:avLst/>
          </a:prstGeom>
          <a:noFill/>
          <a:ln/>
        </p:spPr>
        <p:txBody>
          <a:bodyPr wrap="square" lIns="0" tIns="0" rIns="0" bIns="0" rtlCol="0" anchor="ctr"/>
          <a:lstStyle/>
          <a:p>
            <a:pPr marL="0" indent="0" algn="ctr">
              <a:buNone/>
            </a:pPr>
            <a:r>
              <a:rPr lang="en-US" sz="950" b="1" dirty="0">
                <a:solidFill>
                  <a:srgbClr val="FFFFFF"/>
                </a:solidFill>
              </a:rPr>
              <a:t>Browse</a:t>
            </a:r>
            <a:endParaRPr lang="en-US" sz="950" dirty="0"/>
          </a:p>
          <a:p>
            <a:pPr marL="0" indent="0" algn="ctr">
              <a:buNone/>
            </a:pPr>
            <a:r>
              <a:rPr lang="en-US" sz="950" b="1" dirty="0">
                <a:solidFill>
                  <a:srgbClr val="FFFFFF"/>
                </a:solidFill>
              </a:rPr>
              <a:t>Jobs</a:t>
            </a:r>
            <a:endParaRPr lang="en-US" sz="950" dirty="0"/>
          </a:p>
        </p:txBody>
      </p:sp>
      <p:sp>
        <p:nvSpPr>
          <p:cNvPr id="9" name="Shape 7"/>
          <p:cNvSpPr/>
          <p:nvPr/>
        </p:nvSpPr>
        <p:spPr>
          <a:xfrm>
            <a:off x="2578608" y="2125980"/>
            <a:ext cx="274320" cy="0"/>
          </a:xfrm>
          <a:prstGeom prst="line">
            <a:avLst/>
          </a:prstGeom>
          <a:noFill/>
          <a:ln w="25400">
            <a:solidFill>
              <a:srgbClr val="00B4D8"/>
            </a:solidFill>
            <a:prstDash val="solid"/>
          </a:ln>
        </p:spPr>
        <p:txBody>
          <a:bodyPr/>
          <a:lstStyle/>
          <a:p>
            <a:endParaRPr lang="en-IN"/>
          </a:p>
        </p:txBody>
      </p:sp>
      <p:sp>
        <p:nvSpPr>
          <p:cNvPr id="10" name="Shape 8"/>
          <p:cNvSpPr/>
          <p:nvPr/>
        </p:nvSpPr>
        <p:spPr>
          <a:xfrm>
            <a:off x="2788920" y="1737360"/>
            <a:ext cx="1005840" cy="777240"/>
          </a:xfrm>
          <a:prstGeom prst="roundRect">
            <a:avLst>
              <a:gd name="adj" fmla="val 11765"/>
            </a:avLst>
          </a:prstGeom>
          <a:solidFill>
            <a:srgbClr val="0077B6"/>
          </a:solidFill>
          <a:ln/>
        </p:spPr>
        <p:txBody>
          <a:bodyPr/>
          <a:lstStyle/>
          <a:p>
            <a:endParaRPr lang="en-IN"/>
          </a:p>
        </p:txBody>
      </p:sp>
      <p:sp>
        <p:nvSpPr>
          <p:cNvPr id="11" name="Text 9"/>
          <p:cNvSpPr/>
          <p:nvPr/>
        </p:nvSpPr>
        <p:spPr>
          <a:xfrm>
            <a:off x="2788920" y="1737360"/>
            <a:ext cx="1005840" cy="777240"/>
          </a:xfrm>
          <a:prstGeom prst="rect">
            <a:avLst/>
          </a:prstGeom>
          <a:noFill/>
          <a:ln/>
        </p:spPr>
        <p:txBody>
          <a:bodyPr wrap="square" lIns="0" tIns="0" rIns="0" bIns="0" rtlCol="0" anchor="ctr"/>
          <a:lstStyle/>
          <a:p>
            <a:pPr marL="0" indent="0" algn="ctr">
              <a:buNone/>
            </a:pPr>
            <a:r>
              <a:rPr lang="en-US" sz="950" b="1" dirty="0">
                <a:solidFill>
                  <a:srgbClr val="FFFFFF"/>
                </a:solidFill>
              </a:rPr>
              <a:t>Apply with</a:t>
            </a:r>
            <a:endParaRPr lang="en-US" sz="950" dirty="0"/>
          </a:p>
          <a:p>
            <a:pPr marL="0" indent="0" algn="ctr">
              <a:buNone/>
            </a:pPr>
            <a:r>
              <a:rPr lang="en-US" sz="950" b="1" dirty="0">
                <a:solidFill>
                  <a:srgbClr val="FFFFFF"/>
                </a:solidFill>
              </a:rPr>
              <a:t>Resume</a:t>
            </a:r>
            <a:endParaRPr lang="en-US" sz="950" dirty="0"/>
          </a:p>
        </p:txBody>
      </p:sp>
      <p:sp>
        <p:nvSpPr>
          <p:cNvPr id="12" name="Shape 10"/>
          <p:cNvSpPr/>
          <p:nvPr/>
        </p:nvSpPr>
        <p:spPr>
          <a:xfrm>
            <a:off x="3813048" y="2125980"/>
            <a:ext cx="274320" cy="0"/>
          </a:xfrm>
          <a:prstGeom prst="line">
            <a:avLst/>
          </a:prstGeom>
          <a:noFill/>
          <a:ln w="25400">
            <a:solidFill>
              <a:srgbClr val="00B4D8"/>
            </a:solidFill>
            <a:prstDash val="solid"/>
          </a:ln>
        </p:spPr>
        <p:txBody>
          <a:bodyPr/>
          <a:lstStyle/>
          <a:p>
            <a:endParaRPr lang="en-IN"/>
          </a:p>
        </p:txBody>
      </p:sp>
      <p:sp>
        <p:nvSpPr>
          <p:cNvPr id="13" name="Shape 11"/>
          <p:cNvSpPr/>
          <p:nvPr/>
        </p:nvSpPr>
        <p:spPr>
          <a:xfrm>
            <a:off x="4023360" y="1737360"/>
            <a:ext cx="1005840" cy="777240"/>
          </a:xfrm>
          <a:prstGeom prst="roundRect">
            <a:avLst>
              <a:gd name="adj" fmla="val 11765"/>
            </a:avLst>
          </a:prstGeom>
          <a:solidFill>
            <a:srgbClr val="7B2FBE"/>
          </a:solidFill>
          <a:ln/>
        </p:spPr>
        <p:txBody>
          <a:bodyPr/>
          <a:lstStyle/>
          <a:p>
            <a:endParaRPr lang="en-IN"/>
          </a:p>
        </p:txBody>
      </p:sp>
      <p:sp>
        <p:nvSpPr>
          <p:cNvPr id="14" name="Text 12"/>
          <p:cNvSpPr/>
          <p:nvPr/>
        </p:nvSpPr>
        <p:spPr>
          <a:xfrm>
            <a:off x="4023360" y="1737360"/>
            <a:ext cx="1005840" cy="777240"/>
          </a:xfrm>
          <a:prstGeom prst="rect">
            <a:avLst/>
          </a:prstGeom>
          <a:noFill/>
          <a:ln/>
        </p:spPr>
        <p:txBody>
          <a:bodyPr wrap="square" lIns="0" tIns="0" rIns="0" bIns="0" rtlCol="0" anchor="ctr"/>
          <a:lstStyle/>
          <a:p>
            <a:pPr marL="0" indent="0" algn="ctr">
              <a:buNone/>
            </a:pPr>
            <a:r>
              <a:rPr lang="en-US" sz="950" b="1" dirty="0">
                <a:solidFill>
                  <a:srgbClr val="FFFFFF"/>
                </a:solidFill>
              </a:rPr>
              <a:t>AI Resume</a:t>
            </a:r>
            <a:endParaRPr lang="en-US" sz="950" dirty="0"/>
          </a:p>
          <a:p>
            <a:pPr marL="0" indent="0" algn="ctr">
              <a:buNone/>
            </a:pPr>
            <a:r>
              <a:rPr lang="en-US" sz="950" b="1" dirty="0">
                <a:solidFill>
                  <a:srgbClr val="FFFFFF"/>
                </a:solidFill>
              </a:rPr>
              <a:t>Screening</a:t>
            </a:r>
            <a:endParaRPr lang="en-US" sz="950" dirty="0"/>
          </a:p>
        </p:txBody>
      </p:sp>
      <p:sp>
        <p:nvSpPr>
          <p:cNvPr id="15" name="Shape 13"/>
          <p:cNvSpPr/>
          <p:nvPr/>
        </p:nvSpPr>
        <p:spPr>
          <a:xfrm>
            <a:off x="5047488" y="2125980"/>
            <a:ext cx="274320" cy="0"/>
          </a:xfrm>
          <a:prstGeom prst="line">
            <a:avLst/>
          </a:prstGeom>
          <a:noFill/>
          <a:ln w="25400">
            <a:solidFill>
              <a:srgbClr val="00B4D8"/>
            </a:solidFill>
            <a:prstDash val="solid"/>
          </a:ln>
        </p:spPr>
        <p:txBody>
          <a:bodyPr/>
          <a:lstStyle/>
          <a:p>
            <a:endParaRPr lang="en-IN"/>
          </a:p>
        </p:txBody>
      </p:sp>
      <p:sp>
        <p:nvSpPr>
          <p:cNvPr id="16" name="Shape 14"/>
          <p:cNvSpPr/>
          <p:nvPr/>
        </p:nvSpPr>
        <p:spPr>
          <a:xfrm>
            <a:off x="5257800" y="1737360"/>
            <a:ext cx="1005840" cy="777240"/>
          </a:xfrm>
          <a:prstGeom prst="roundRect">
            <a:avLst>
              <a:gd name="adj" fmla="val 11765"/>
            </a:avLst>
          </a:prstGeom>
          <a:solidFill>
            <a:srgbClr val="7B2FBE"/>
          </a:solidFill>
          <a:ln/>
        </p:spPr>
        <p:txBody>
          <a:bodyPr/>
          <a:lstStyle/>
          <a:p>
            <a:endParaRPr lang="en-IN"/>
          </a:p>
        </p:txBody>
      </p:sp>
      <p:sp>
        <p:nvSpPr>
          <p:cNvPr id="17" name="Text 15"/>
          <p:cNvSpPr/>
          <p:nvPr/>
        </p:nvSpPr>
        <p:spPr>
          <a:xfrm>
            <a:off x="5257800" y="1737360"/>
            <a:ext cx="1005840" cy="777240"/>
          </a:xfrm>
          <a:prstGeom prst="rect">
            <a:avLst/>
          </a:prstGeom>
          <a:noFill/>
          <a:ln/>
        </p:spPr>
        <p:txBody>
          <a:bodyPr wrap="square" lIns="0" tIns="0" rIns="0" bIns="0" rtlCol="0" anchor="ctr"/>
          <a:lstStyle/>
          <a:p>
            <a:pPr marL="0" indent="0" algn="ctr">
              <a:buNone/>
            </a:pPr>
            <a:r>
              <a:rPr lang="en-US" sz="950" b="1" dirty="0">
                <a:solidFill>
                  <a:srgbClr val="FFFFFF"/>
                </a:solidFill>
              </a:rPr>
              <a:t>Score</a:t>
            </a:r>
            <a:endParaRPr lang="en-US" sz="950" dirty="0"/>
          </a:p>
          <a:p>
            <a:pPr marL="0" indent="0" algn="ctr">
              <a:buNone/>
            </a:pPr>
            <a:r>
              <a:rPr lang="en-US" sz="950" b="1" dirty="0">
                <a:solidFill>
                  <a:srgbClr val="FFFFFF"/>
                </a:solidFill>
              </a:rPr>
              <a:t>Generated</a:t>
            </a:r>
            <a:endParaRPr lang="en-US" sz="950" dirty="0"/>
          </a:p>
        </p:txBody>
      </p:sp>
      <p:sp>
        <p:nvSpPr>
          <p:cNvPr id="18" name="Shape 16"/>
          <p:cNvSpPr/>
          <p:nvPr/>
        </p:nvSpPr>
        <p:spPr>
          <a:xfrm>
            <a:off x="6281928" y="2125980"/>
            <a:ext cx="274320" cy="0"/>
          </a:xfrm>
          <a:prstGeom prst="line">
            <a:avLst/>
          </a:prstGeom>
          <a:noFill/>
          <a:ln w="25400">
            <a:solidFill>
              <a:srgbClr val="00B4D8"/>
            </a:solidFill>
            <a:prstDash val="solid"/>
          </a:ln>
        </p:spPr>
        <p:txBody>
          <a:bodyPr/>
          <a:lstStyle/>
          <a:p>
            <a:endParaRPr lang="en-IN"/>
          </a:p>
        </p:txBody>
      </p:sp>
      <p:sp>
        <p:nvSpPr>
          <p:cNvPr id="19" name="Shape 17"/>
          <p:cNvSpPr/>
          <p:nvPr/>
        </p:nvSpPr>
        <p:spPr>
          <a:xfrm>
            <a:off x="6492240" y="1737360"/>
            <a:ext cx="1005840" cy="777240"/>
          </a:xfrm>
          <a:prstGeom prst="roundRect">
            <a:avLst>
              <a:gd name="adj" fmla="val 11765"/>
            </a:avLst>
          </a:prstGeom>
          <a:solidFill>
            <a:srgbClr val="BE2F6B"/>
          </a:solidFill>
          <a:ln/>
        </p:spPr>
        <p:txBody>
          <a:bodyPr/>
          <a:lstStyle/>
          <a:p>
            <a:endParaRPr lang="en-IN"/>
          </a:p>
        </p:txBody>
      </p:sp>
      <p:sp>
        <p:nvSpPr>
          <p:cNvPr id="20" name="Text 18"/>
          <p:cNvSpPr/>
          <p:nvPr/>
        </p:nvSpPr>
        <p:spPr>
          <a:xfrm>
            <a:off x="6492240" y="1737360"/>
            <a:ext cx="1005840" cy="777240"/>
          </a:xfrm>
          <a:prstGeom prst="rect">
            <a:avLst/>
          </a:prstGeom>
          <a:noFill/>
          <a:ln/>
        </p:spPr>
        <p:txBody>
          <a:bodyPr wrap="square" lIns="0" tIns="0" rIns="0" bIns="0" rtlCol="0" anchor="ctr"/>
          <a:lstStyle/>
          <a:p>
            <a:pPr marL="0" indent="0" algn="ctr">
              <a:buNone/>
            </a:pPr>
            <a:r>
              <a:rPr lang="en-US" sz="950" b="1" dirty="0">
                <a:solidFill>
                  <a:srgbClr val="FFFFFF"/>
                </a:solidFill>
              </a:rPr>
              <a:t>AI Voice</a:t>
            </a:r>
            <a:endParaRPr lang="en-US" sz="950" dirty="0"/>
          </a:p>
          <a:p>
            <a:pPr marL="0" indent="0" algn="ctr">
              <a:buNone/>
            </a:pPr>
            <a:r>
              <a:rPr lang="en-US" sz="950" b="1" dirty="0">
                <a:solidFill>
                  <a:srgbClr val="FFFFFF"/>
                </a:solidFill>
              </a:rPr>
              <a:t>Interview</a:t>
            </a:r>
            <a:endParaRPr lang="en-US" sz="950" dirty="0"/>
          </a:p>
        </p:txBody>
      </p:sp>
      <p:sp>
        <p:nvSpPr>
          <p:cNvPr id="21" name="Shape 19"/>
          <p:cNvSpPr/>
          <p:nvPr/>
        </p:nvSpPr>
        <p:spPr>
          <a:xfrm>
            <a:off x="7516368" y="2125980"/>
            <a:ext cx="274320" cy="0"/>
          </a:xfrm>
          <a:prstGeom prst="line">
            <a:avLst/>
          </a:prstGeom>
          <a:noFill/>
          <a:ln w="25400">
            <a:solidFill>
              <a:srgbClr val="00B4D8"/>
            </a:solidFill>
            <a:prstDash val="solid"/>
          </a:ln>
        </p:spPr>
        <p:txBody>
          <a:bodyPr/>
          <a:lstStyle/>
          <a:p>
            <a:endParaRPr lang="en-IN"/>
          </a:p>
        </p:txBody>
      </p:sp>
      <p:sp>
        <p:nvSpPr>
          <p:cNvPr id="22" name="Shape 20"/>
          <p:cNvSpPr/>
          <p:nvPr/>
        </p:nvSpPr>
        <p:spPr>
          <a:xfrm>
            <a:off x="7726680" y="1737360"/>
            <a:ext cx="1005840" cy="777240"/>
          </a:xfrm>
          <a:prstGeom prst="roundRect">
            <a:avLst>
              <a:gd name="adj" fmla="val 11765"/>
            </a:avLst>
          </a:prstGeom>
          <a:solidFill>
            <a:srgbClr val="06D6A0"/>
          </a:solidFill>
          <a:ln/>
        </p:spPr>
        <p:txBody>
          <a:bodyPr/>
          <a:lstStyle/>
          <a:p>
            <a:endParaRPr lang="en-IN"/>
          </a:p>
        </p:txBody>
      </p:sp>
      <p:sp>
        <p:nvSpPr>
          <p:cNvPr id="23" name="Text 21"/>
          <p:cNvSpPr/>
          <p:nvPr/>
        </p:nvSpPr>
        <p:spPr>
          <a:xfrm>
            <a:off x="7726680" y="1737360"/>
            <a:ext cx="1005840" cy="777240"/>
          </a:xfrm>
          <a:prstGeom prst="rect">
            <a:avLst/>
          </a:prstGeom>
          <a:noFill/>
          <a:ln/>
        </p:spPr>
        <p:txBody>
          <a:bodyPr wrap="square" lIns="0" tIns="0" rIns="0" bIns="0" rtlCol="0" anchor="ctr"/>
          <a:lstStyle/>
          <a:p>
            <a:pPr marL="0" indent="0" algn="ctr">
              <a:buNone/>
            </a:pPr>
            <a:r>
              <a:rPr lang="en-US" sz="950" b="1" dirty="0">
                <a:solidFill>
                  <a:srgbClr val="FFFFFF"/>
                </a:solidFill>
              </a:rPr>
              <a:t>Assessment</a:t>
            </a:r>
            <a:endParaRPr lang="en-US" sz="950" dirty="0"/>
          </a:p>
          <a:p>
            <a:pPr marL="0" indent="0" algn="ctr">
              <a:buNone/>
            </a:pPr>
            <a:r>
              <a:rPr lang="en-US" sz="950" b="1" dirty="0">
                <a:solidFill>
                  <a:srgbClr val="FFFFFF"/>
                </a:solidFill>
              </a:rPr>
              <a:t>Stored</a:t>
            </a:r>
            <a:endParaRPr lang="en-US" sz="950" dirty="0"/>
          </a:p>
        </p:txBody>
      </p:sp>
      <p:sp>
        <p:nvSpPr>
          <p:cNvPr id="24" name="Shape 22"/>
          <p:cNvSpPr/>
          <p:nvPr/>
        </p:nvSpPr>
        <p:spPr>
          <a:xfrm>
            <a:off x="8750808" y="2125980"/>
            <a:ext cx="274320" cy="0"/>
          </a:xfrm>
          <a:prstGeom prst="line">
            <a:avLst/>
          </a:prstGeom>
          <a:noFill/>
          <a:ln w="25400">
            <a:solidFill>
              <a:srgbClr val="00B4D8"/>
            </a:solidFill>
            <a:prstDash val="solid"/>
          </a:ln>
        </p:spPr>
        <p:txBody>
          <a:bodyPr/>
          <a:lstStyle/>
          <a:p>
            <a:endParaRPr lang="en-IN"/>
          </a:p>
        </p:txBody>
      </p:sp>
      <p:sp>
        <p:nvSpPr>
          <p:cNvPr id="25" name="Shape 23"/>
          <p:cNvSpPr/>
          <p:nvPr/>
        </p:nvSpPr>
        <p:spPr>
          <a:xfrm>
            <a:off x="8961120" y="1737360"/>
            <a:ext cx="1005840" cy="777240"/>
          </a:xfrm>
          <a:prstGeom prst="roundRect">
            <a:avLst>
              <a:gd name="adj" fmla="val 11765"/>
            </a:avLst>
          </a:prstGeom>
          <a:solidFill>
            <a:srgbClr val="06D6A0"/>
          </a:solidFill>
          <a:ln/>
        </p:spPr>
        <p:txBody>
          <a:bodyPr/>
          <a:lstStyle/>
          <a:p>
            <a:endParaRPr lang="en-IN"/>
          </a:p>
        </p:txBody>
      </p:sp>
      <p:sp>
        <p:nvSpPr>
          <p:cNvPr id="26" name="Text 24"/>
          <p:cNvSpPr/>
          <p:nvPr/>
        </p:nvSpPr>
        <p:spPr>
          <a:xfrm>
            <a:off x="8961120" y="1737360"/>
            <a:ext cx="1005840" cy="777240"/>
          </a:xfrm>
          <a:prstGeom prst="rect">
            <a:avLst/>
          </a:prstGeom>
          <a:noFill/>
          <a:ln/>
        </p:spPr>
        <p:txBody>
          <a:bodyPr wrap="square" lIns="0" tIns="0" rIns="0" bIns="0" rtlCol="0" anchor="ctr"/>
          <a:lstStyle/>
          <a:p>
            <a:pPr marL="0" indent="0" algn="ctr">
              <a:buNone/>
            </a:pPr>
            <a:r>
              <a:rPr lang="en-US" sz="950" b="1" dirty="0">
                <a:solidFill>
                  <a:srgbClr val="FFFFFF"/>
                </a:solidFill>
              </a:rPr>
              <a:t>Recruiter</a:t>
            </a:r>
            <a:endParaRPr lang="en-US" sz="950" dirty="0"/>
          </a:p>
          <a:p>
            <a:pPr marL="0" indent="0" algn="ctr">
              <a:buNone/>
            </a:pPr>
            <a:r>
              <a:rPr lang="en-US" sz="950" b="1" dirty="0">
                <a:solidFill>
                  <a:srgbClr val="FFFFFF"/>
                </a:solidFill>
              </a:rPr>
              <a:t>Reviews</a:t>
            </a:r>
            <a:endParaRPr lang="en-US" sz="950" dirty="0"/>
          </a:p>
        </p:txBody>
      </p:sp>
      <p:sp>
        <p:nvSpPr>
          <p:cNvPr id="27" name="Text 25"/>
          <p:cNvSpPr/>
          <p:nvPr/>
        </p:nvSpPr>
        <p:spPr>
          <a:xfrm>
            <a:off x="320040" y="1325880"/>
            <a:ext cx="1005840" cy="320040"/>
          </a:xfrm>
          <a:prstGeom prst="rect">
            <a:avLst/>
          </a:prstGeom>
          <a:noFill/>
          <a:ln/>
        </p:spPr>
        <p:txBody>
          <a:bodyPr wrap="square" lIns="0" tIns="0" rIns="0" bIns="0" rtlCol="0" anchor="ctr"/>
          <a:lstStyle/>
          <a:p>
            <a:pPr marL="0" indent="0" algn="ctr">
              <a:buNone/>
            </a:pPr>
            <a:r>
              <a:rPr lang="en-US" sz="1300" b="1" dirty="0">
                <a:solidFill>
                  <a:srgbClr val="00B4D8"/>
                </a:solidFill>
              </a:rPr>
              <a:t>1</a:t>
            </a:r>
            <a:endParaRPr lang="en-US" sz="1300" dirty="0"/>
          </a:p>
        </p:txBody>
      </p:sp>
      <p:sp>
        <p:nvSpPr>
          <p:cNvPr id="28" name="Text 26"/>
          <p:cNvSpPr/>
          <p:nvPr/>
        </p:nvSpPr>
        <p:spPr>
          <a:xfrm>
            <a:off x="1554480" y="1325880"/>
            <a:ext cx="1005840" cy="320040"/>
          </a:xfrm>
          <a:prstGeom prst="rect">
            <a:avLst/>
          </a:prstGeom>
          <a:noFill/>
          <a:ln/>
        </p:spPr>
        <p:txBody>
          <a:bodyPr wrap="square" lIns="0" tIns="0" rIns="0" bIns="0" rtlCol="0" anchor="ctr"/>
          <a:lstStyle/>
          <a:p>
            <a:pPr marL="0" indent="0" algn="ctr">
              <a:buNone/>
            </a:pPr>
            <a:r>
              <a:rPr lang="en-US" sz="1300" b="1" dirty="0">
                <a:solidFill>
                  <a:srgbClr val="00B4D8"/>
                </a:solidFill>
              </a:rPr>
              <a:t>2</a:t>
            </a:r>
            <a:endParaRPr lang="en-US" sz="1300" dirty="0"/>
          </a:p>
        </p:txBody>
      </p:sp>
      <p:sp>
        <p:nvSpPr>
          <p:cNvPr id="29" name="Text 27"/>
          <p:cNvSpPr/>
          <p:nvPr/>
        </p:nvSpPr>
        <p:spPr>
          <a:xfrm>
            <a:off x="2788920" y="1325880"/>
            <a:ext cx="1005840" cy="320040"/>
          </a:xfrm>
          <a:prstGeom prst="rect">
            <a:avLst/>
          </a:prstGeom>
          <a:noFill/>
          <a:ln/>
        </p:spPr>
        <p:txBody>
          <a:bodyPr wrap="square" lIns="0" tIns="0" rIns="0" bIns="0" rtlCol="0" anchor="ctr"/>
          <a:lstStyle/>
          <a:p>
            <a:pPr marL="0" indent="0" algn="ctr">
              <a:buNone/>
            </a:pPr>
            <a:r>
              <a:rPr lang="en-US" sz="1300" b="1" dirty="0">
                <a:solidFill>
                  <a:srgbClr val="00B4D8"/>
                </a:solidFill>
              </a:rPr>
              <a:t>3</a:t>
            </a:r>
            <a:endParaRPr lang="en-US" sz="1300" dirty="0"/>
          </a:p>
        </p:txBody>
      </p:sp>
      <p:sp>
        <p:nvSpPr>
          <p:cNvPr id="30" name="Text 28"/>
          <p:cNvSpPr/>
          <p:nvPr/>
        </p:nvSpPr>
        <p:spPr>
          <a:xfrm>
            <a:off x="4023360" y="1325880"/>
            <a:ext cx="1005840" cy="320040"/>
          </a:xfrm>
          <a:prstGeom prst="rect">
            <a:avLst/>
          </a:prstGeom>
          <a:noFill/>
          <a:ln/>
        </p:spPr>
        <p:txBody>
          <a:bodyPr wrap="square" lIns="0" tIns="0" rIns="0" bIns="0" rtlCol="0" anchor="ctr"/>
          <a:lstStyle/>
          <a:p>
            <a:pPr marL="0" indent="0" algn="ctr">
              <a:buNone/>
            </a:pPr>
            <a:r>
              <a:rPr lang="en-US" sz="1300" b="1" dirty="0">
                <a:solidFill>
                  <a:srgbClr val="00B4D8"/>
                </a:solidFill>
              </a:rPr>
              <a:t>4</a:t>
            </a:r>
            <a:endParaRPr lang="en-US" sz="1300" dirty="0"/>
          </a:p>
        </p:txBody>
      </p:sp>
      <p:sp>
        <p:nvSpPr>
          <p:cNvPr id="31" name="Text 29"/>
          <p:cNvSpPr/>
          <p:nvPr/>
        </p:nvSpPr>
        <p:spPr>
          <a:xfrm>
            <a:off x="5257800" y="1325880"/>
            <a:ext cx="1005840" cy="320040"/>
          </a:xfrm>
          <a:prstGeom prst="rect">
            <a:avLst/>
          </a:prstGeom>
          <a:noFill/>
          <a:ln/>
        </p:spPr>
        <p:txBody>
          <a:bodyPr wrap="square" lIns="0" tIns="0" rIns="0" bIns="0" rtlCol="0" anchor="ctr"/>
          <a:lstStyle/>
          <a:p>
            <a:pPr marL="0" indent="0" algn="ctr">
              <a:buNone/>
            </a:pPr>
            <a:r>
              <a:rPr lang="en-US" sz="1300" b="1" dirty="0">
                <a:solidFill>
                  <a:srgbClr val="00B4D8"/>
                </a:solidFill>
              </a:rPr>
              <a:t>5</a:t>
            </a:r>
            <a:endParaRPr lang="en-US" sz="1300" dirty="0"/>
          </a:p>
        </p:txBody>
      </p:sp>
      <p:sp>
        <p:nvSpPr>
          <p:cNvPr id="32" name="Text 30"/>
          <p:cNvSpPr/>
          <p:nvPr/>
        </p:nvSpPr>
        <p:spPr>
          <a:xfrm>
            <a:off x="6492240" y="1325880"/>
            <a:ext cx="1005840" cy="320040"/>
          </a:xfrm>
          <a:prstGeom prst="rect">
            <a:avLst/>
          </a:prstGeom>
          <a:noFill/>
          <a:ln/>
        </p:spPr>
        <p:txBody>
          <a:bodyPr wrap="square" lIns="0" tIns="0" rIns="0" bIns="0" rtlCol="0" anchor="ctr"/>
          <a:lstStyle/>
          <a:p>
            <a:pPr marL="0" indent="0" algn="ctr">
              <a:buNone/>
            </a:pPr>
            <a:r>
              <a:rPr lang="en-US" sz="1300" b="1" dirty="0">
                <a:solidFill>
                  <a:srgbClr val="00B4D8"/>
                </a:solidFill>
              </a:rPr>
              <a:t>6</a:t>
            </a:r>
            <a:endParaRPr lang="en-US" sz="1300" dirty="0"/>
          </a:p>
        </p:txBody>
      </p:sp>
      <p:sp>
        <p:nvSpPr>
          <p:cNvPr id="33" name="Text 31"/>
          <p:cNvSpPr/>
          <p:nvPr/>
        </p:nvSpPr>
        <p:spPr>
          <a:xfrm>
            <a:off x="7726680" y="1325880"/>
            <a:ext cx="1005840" cy="320040"/>
          </a:xfrm>
          <a:prstGeom prst="rect">
            <a:avLst/>
          </a:prstGeom>
          <a:noFill/>
          <a:ln/>
        </p:spPr>
        <p:txBody>
          <a:bodyPr wrap="square" lIns="0" tIns="0" rIns="0" bIns="0" rtlCol="0" anchor="ctr"/>
          <a:lstStyle/>
          <a:p>
            <a:pPr marL="0" indent="0" algn="ctr">
              <a:buNone/>
            </a:pPr>
            <a:r>
              <a:rPr lang="en-US" sz="1300" b="1" dirty="0">
                <a:solidFill>
                  <a:srgbClr val="00B4D8"/>
                </a:solidFill>
              </a:rPr>
              <a:t>7</a:t>
            </a:r>
            <a:endParaRPr lang="en-US" sz="1300" dirty="0"/>
          </a:p>
        </p:txBody>
      </p:sp>
      <p:sp>
        <p:nvSpPr>
          <p:cNvPr id="34" name="Text 32"/>
          <p:cNvSpPr/>
          <p:nvPr/>
        </p:nvSpPr>
        <p:spPr>
          <a:xfrm>
            <a:off x="8961120" y="1325880"/>
            <a:ext cx="1005840" cy="320040"/>
          </a:xfrm>
          <a:prstGeom prst="rect">
            <a:avLst/>
          </a:prstGeom>
          <a:noFill/>
          <a:ln/>
        </p:spPr>
        <p:txBody>
          <a:bodyPr wrap="square" lIns="0" tIns="0" rIns="0" bIns="0" rtlCol="0" anchor="ctr"/>
          <a:lstStyle/>
          <a:p>
            <a:pPr marL="0" indent="0" algn="ctr">
              <a:buNone/>
            </a:pPr>
            <a:r>
              <a:rPr lang="en-US" sz="1300" b="1" dirty="0">
                <a:solidFill>
                  <a:srgbClr val="00B4D8"/>
                </a:solidFill>
              </a:rPr>
              <a:t>8</a:t>
            </a:r>
            <a:endParaRPr lang="en-US" sz="1300" dirty="0"/>
          </a:p>
        </p:txBody>
      </p:sp>
      <p:sp>
        <p:nvSpPr>
          <p:cNvPr id="35" name="Shape 33"/>
          <p:cNvSpPr/>
          <p:nvPr/>
        </p:nvSpPr>
        <p:spPr>
          <a:xfrm>
            <a:off x="2743200" y="2971800"/>
            <a:ext cx="3657600" cy="548640"/>
          </a:xfrm>
          <a:prstGeom prst="rect">
            <a:avLst/>
          </a:prstGeom>
          <a:solidFill>
            <a:srgbClr val="1A2B4A"/>
          </a:solidFill>
          <a:ln/>
        </p:spPr>
        <p:txBody>
          <a:bodyPr/>
          <a:lstStyle/>
          <a:p>
            <a:endParaRPr lang="en-IN"/>
          </a:p>
        </p:txBody>
      </p:sp>
      <p:sp>
        <p:nvSpPr>
          <p:cNvPr id="36" name="Text 34"/>
          <p:cNvSpPr/>
          <p:nvPr/>
        </p:nvSpPr>
        <p:spPr>
          <a:xfrm>
            <a:off x="2743200" y="2971800"/>
            <a:ext cx="3657600" cy="548640"/>
          </a:xfrm>
          <a:prstGeom prst="rect">
            <a:avLst/>
          </a:prstGeom>
          <a:noFill/>
          <a:ln/>
        </p:spPr>
        <p:txBody>
          <a:bodyPr wrap="square" lIns="0" tIns="0" rIns="0" bIns="0" rtlCol="0" anchor="ctr"/>
          <a:lstStyle/>
          <a:p>
            <a:pPr marL="0" indent="0" algn="ctr">
              <a:buNone/>
            </a:pPr>
            <a:r>
              <a:rPr lang="en-US" sz="1050" dirty="0">
                <a:solidFill>
                  <a:srgbClr val="F4A261"/>
                </a:solidFill>
              </a:rPr>
              <a:t>⚠  Score ≥ Threshold?  →  YES: AI Interview Invited  |  NO: Screening Ends</a:t>
            </a:r>
            <a:endParaRPr lang="en-US" sz="1050" dirty="0"/>
          </a:p>
        </p:txBody>
      </p:sp>
      <p:sp>
        <p:nvSpPr>
          <p:cNvPr id="37" name="Shape 35"/>
          <p:cNvSpPr/>
          <p:nvPr/>
        </p:nvSpPr>
        <p:spPr>
          <a:xfrm>
            <a:off x="457200" y="3840480"/>
            <a:ext cx="8229600" cy="731520"/>
          </a:xfrm>
          <a:prstGeom prst="roundRect">
            <a:avLst>
              <a:gd name="adj" fmla="val 12500"/>
            </a:avLst>
          </a:prstGeom>
          <a:solidFill>
            <a:srgbClr val="1A2B4A"/>
          </a:solidFill>
          <a:ln/>
        </p:spPr>
        <p:txBody>
          <a:bodyPr/>
          <a:lstStyle/>
          <a:p>
            <a:endParaRPr lang="en-IN"/>
          </a:p>
        </p:txBody>
      </p:sp>
      <p:sp>
        <p:nvSpPr>
          <p:cNvPr id="38" name="Text 36"/>
          <p:cNvSpPr/>
          <p:nvPr/>
        </p:nvSpPr>
        <p:spPr>
          <a:xfrm>
            <a:off x="457200" y="3840480"/>
            <a:ext cx="8229600" cy="731520"/>
          </a:xfrm>
          <a:prstGeom prst="rect">
            <a:avLst/>
          </a:prstGeom>
          <a:noFill/>
          <a:ln/>
        </p:spPr>
        <p:txBody>
          <a:bodyPr wrap="square" lIns="0" tIns="0" rIns="0" bIns="0" rtlCol="0" anchor="ctr"/>
          <a:lstStyle/>
          <a:p>
            <a:pPr marL="0" indent="0" algn="ctr">
              <a:buNone/>
            </a:pPr>
            <a:r>
              <a:rPr lang="en-US" sz="1200" dirty="0">
                <a:solidFill>
                  <a:srgbClr val="06D6A0"/>
                </a:solidFill>
              </a:rPr>
              <a:t>Recruiter Flow:  Post Job  →  View Applicant List  →  Check Scores &amp; Assessments  →  Make Hiring Decision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6FF"/>
        </a:solidFill>
        <a:effectLst/>
      </p:bgPr>
    </p:bg>
    <p:spTree>
      <p:nvGrpSpPr>
        <p:cNvPr id="1" name=""/>
        <p:cNvGrpSpPr/>
        <p:nvPr/>
      </p:nvGrpSpPr>
      <p:grpSpPr>
        <a:xfrm>
          <a:off x="0" y="0"/>
          <a:ext cx="0" cy="0"/>
          <a:chOff x="0" y="0"/>
          <a:chExt cx="0" cy="0"/>
        </a:xfrm>
      </p:grpSpPr>
      <p:sp>
        <p:nvSpPr>
          <p:cNvPr id="2" name="Text 0"/>
          <p:cNvSpPr/>
          <p:nvPr/>
        </p:nvSpPr>
        <p:spPr>
          <a:xfrm>
            <a:off x="457200" y="109728"/>
            <a:ext cx="8229600" cy="502920"/>
          </a:xfrm>
          <a:prstGeom prst="rect">
            <a:avLst/>
          </a:prstGeom>
          <a:noFill/>
          <a:ln/>
        </p:spPr>
        <p:txBody>
          <a:bodyPr wrap="square" lIns="0" tIns="0" rIns="0" bIns="0" rtlCol="0" anchor="ctr"/>
          <a:lstStyle/>
          <a:p>
            <a:pPr marL="0" indent="0">
              <a:buNone/>
            </a:pPr>
            <a:r>
              <a:rPr lang="en-US" sz="3200" b="1" dirty="0">
                <a:solidFill>
                  <a:srgbClr val="0D1B2A"/>
                </a:solidFill>
                <a:latin typeface="Calibri" pitchFamily="34" charset="0"/>
                <a:ea typeface="Calibri" pitchFamily="34" charset="-122"/>
                <a:cs typeface="Calibri" pitchFamily="34" charset="-120"/>
              </a:rPr>
              <a:t>Application Architecture</a:t>
            </a:r>
            <a:endParaRPr lang="en-US" sz="3200" dirty="0"/>
          </a:p>
        </p:txBody>
      </p:sp>
      <p:sp>
        <p:nvSpPr>
          <p:cNvPr id="3" name="Shape 1"/>
          <p:cNvSpPr/>
          <p:nvPr/>
        </p:nvSpPr>
        <p:spPr>
          <a:xfrm>
            <a:off x="274320" y="731520"/>
            <a:ext cx="1645920" cy="685800"/>
          </a:xfrm>
          <a:prstGeom prst="roundRect">
            <a:avLst>
              <a:gd name="adj" fmla="val 13333"/>
            </a:avLst>
          </a:prstGeom>
          <a:solidFill>
            <a:srgbClr val="0077B6"/>
          </a:solidFill>
          <a:ln/>
        </p:spPr>
        <p:txBody>
          <a:bodyPr/>
          <a:lstStyle/>
          <a:p>
            <a:endParaRPr lang="en-IN"/>
          </a:p>
        </p:txBody>
      </p:sp>
      <p:sp>
        <p:nvSpPr>
          <p:cNvPr id="4" name="Text 2"/>
          <p:cNvSpPr/>
          <p:nvPr/>
        </p:nvSpPr>
        <p:spPr>
          <a:xfrm>
            <a:off x="274320" y="731520"/>
            <a:ext cx="1645920" cy="685800"/>
          </a:xfrm>
          <a:prstGeom prst="rect">
            <a:avLst/>
          </a:prstGeom>
          <a:noFill/>
          <a:ln/>
        </p:spPr>
        <p:txBody>
          <a:bodyPr wrap="square" lIns="0" tIns="0" rIns="0" bIns="0" rtlCol="0" anchor="ctr"/>
          <a:lstStyle/>
          <a:p>
            <a:pPr marL="0" indent="0" algn="ctr">
              <a:buNone/>
            </a:pPr>
            <a:r>
              <a:rPr lang="en-US" sz="1100" b="1" dirty="0">
                <a:solidFill>
                  <a:srgbClr val="FFFFFF"/>
                </a:solidFill>
              </a:rPr>
              <a:t>React / Vite</a:t>
            </a:r>
            <a:endParaRPr lang="en-US" sz="1100" dirty="0"/>
          </a:p>
          <a:p>
            <a:pPr marL="0" indent="0" algn="ctr">
              <a:buNone/>
            </a:pPr>
            <a:r>
              <a:rPr lang="en-US" sz="1100" b="1" dirty="0">
                <a:solidFill>
                  <a:srgbClr val="FFFFFF"/>
                </a:solidFill>
              </a:rPr>
              <a:t>Frontend</a:t>
            </a:r>
            <a:endParaRPr lang="en-US" sz="1100" dirty="0"/>
          </a:p>
        </p:txBody>
      </p:sp>
      <p:sp>
        <p:nvSpPr>
          <p:cNvPr id="5" name="Shape 3"/>
          <p:cNvSpPr/>
          <p:nvPr/>
        </p:nvSpPr>
        <p:spPr>
          <a:xfrm>
            <a:off x="1920240" y="1069848"/>
            <a:ext cx="548640" cy="0"/>
          </a:xfrm>
          <a:prstGeom prst="line">
            <a:avLst/>
          </a:prstGeom>
          <a:noFill/>
          <a:ln w="25400">
            <a:solidFill>
              <a:srgbClr val="00B4D8"/>
            </a:solidFill>
            <a:prstDash val="solid"/>
          </a:ln>
        </p:spPr>
        <p:txBody>
          <a:bodyPr/>
          <a:lstStyle/>
          <a:p>
            <a:endParaRPr lang="en-IN"/>
          </a:p>
        </p:txBody>
      </p:sp>
      <p:sp>
        <p:nvSpPr>
          <p:cNvPr id="6" name="Shape 4"/>
          <p:cNvSpPr/>
          <p:nvPr/>
        </p:nvSpPr>
        <p:spPr>
          <a:xfrm>
            <a:off x="2468880" y="731520"/>
            <a:ext cx="1828800" cy="685800"/>
          </a:xfrm>
          <a:prstGeom prst="roundRect">
            <a:avLst>
              <a:gd name="adj" fmla="val 13333"/>
            </a:avLst>
          </a:prstGeom>
          <a:solidFill>
            <a:srgbClr val="0D1B2A"/>
          </a:solidFill>
          <a:ln/>
        </p:spPr>
        <p:txBody>
          <a:bodyPr/>
          <a:lstStyle/>
          <a:p>
            <a:endParaRPr lang="en-IN"/>
          </a:p>
        </p:txBody>
      </p:sp>
      <p:sp>
        <p:nvSpPr>
          <p:cNvPr id="7" name="Text 5"/>
          <p:cNvSpPr/>
          <p:nvPr/>
        </p:nvSpPr>
        <p:spPr>
          <a:xfrm>
            <a:off x="2468880" y="731520"/>
            <a:ext cx="1828800" cy="685800"/>
          </a:xfrm>
          <a:prstGeom prst="rect">
            <a:avLst/>
          </a:prstGeom>
          <a:noFill/>
          <a:ln/>
        </p:spPr>
        <p:txBody>
          <a:bodyPr wrap="square" lIns="0" tIns="0" rIns="0" bIns="0" rtlCol="0" anchor="ctr"/>
          <a:lstStyle/>
          <a:p>
            <a:pPr marL="0" indent="0" algn="ctr">
              <a:buNone/>
            </a:pPr>
            <a:r>
              <a:rPr lang="en-US" sz="1100" b="1" dirty="0">
                <a:solidFill>
                  <a:srgbClr val="FFFFFF"/>
                </a:solidFill>
              </a:rPr>
              <a:t>FastAPI</a:t>
            </a:r>
            <a:endParaRPr lang="en-US" sz="1100" dirty="0"/>
          </a:p>
          <a:p>
            <a:pPr marL="0" indent="0" algn="ctr">
              <a:buNone/>
            </a:pPr>
            <a:r>
              <a:rPr lang="en-US" sz="1100" b="1" dirty="0">
                <a:solidFill>
                  <a:srgbClr val="FFFFFF"/>
                </a:solidFill>
              </a:rPr>
              <a:t>API Gateway</a:t>
            </a:r>
            <a:endParaRPr lang="en-US" sz="1100" dirty="0"/>
          </a:p>
        </p:txBody>
      </p:sp>
      <p:sp>
        <p:nvSpPr>
          <p:cNvPr id="8" name="Text 6"/>
          <p:cNvSpPr/>
          <p:nvPr/>
        </p:nvSpPr>
        <p:spPr>
          <a:xfrm>
            <a:off x="2468880" y="1481328"/>
            <a:ext cx="1828800" cy="274320"/>
          </a:xfrm>
          <a:prstGeom prst="rect">
            <a:avLst/>
          </a:prstGeom>
          <a:noFill/>
          <a:ln/>
        </p:spPr>
        <p:txBody>
          <a:bodyPr wrap="square" lIns="0" tIns="0" rIns="0" bIns="0" rtlCol="0" anchor="ctr"/>
          <a:lstStyle/>
          <a:p>
            <a:pPr marL="0" indent="0" algn="ctr">
              <a:buNone/>
            </a:pPr>
            <a:r>
              <a:rPr lang="en-US" sz="900" dirty="0">
                <a:solidFill>
                  <a:srgbClr val="00B4D8"/>
                </a:solidFill>
              </a:rPr>
              <a:t>JWT Auth</a:t>
            </a:r>
            <a:endParaRPr lang="en-US" sz="900" dirty="0"/>
          </a:p>
        </p:txBody>
      </p:sp>
      <p:sp>
        <p:nvSpPr>
          <p:cNvPr id="9" name="Shape 7"/>
          <p:cNvSpPr/>
          <p:nvPr/>
        </p:nvSpPr>
        <p:spPr>
          <a:xfrm>
            <a:off x="4297680" y="1069848"/>
            <a:ext cx="457200" cy="0"/>
          </a:xfrm>
          <a:prstGeom prst="line">
            <a:avLst/>
          </a:prstGeom>
          <a:noFill/>
          <a:ln w="25400">
            <a:solidFill>
              <a:srgbClr val="00B4D8"/>
            </a:solidFill>
            <a:prstDash val="solid"/>
          </a:ln>
        </p:spPr>
        <p:txBody>
          <a:bodyPr/>
          <a:lstStyle/>
          <a:p>
            <a:endParaRPr lang="en-IN"/>
          </a:p>
        </p:txBody>
      </p:sp>
      <p:sp>
        <p:nvSpPr>
          <p:cNvPr id="10" name="Shape 8"/>
          <p:cNvSpPr/>
          <p:nvPr/>
        </p:nvSpPr>
        <p:spPr>
          <a:xfrm>
            <a:off x="4754880" y="548640"/>
            <a:ext cx="4023360" cy="4114800"/>
          </a:xfrm>
          <a:prstGeom prst="roundRect">
            <a:avLst>
              <a:gd name="adj" fmla="val 2727"/>
            </a:avLst>
          </a:prstGeom>
          <a:solidFill>
            <a:srgbClr val="E8F0FF"/>
          </a:solidFill>
          <a:ln/>
          <a:effectLst>
            <a:outerShdw blurRad="101600" dist="38100" dir="2700000" algn="bl" rotWithShape="0">
              <a:srgbClr val="000000">
                <a:alpha val="10000"/>
              </a:srgbClr>
            </a:outerShdw>
          </a:effectLst>
        </p:spPr>
        <p:txBody>
          <a:bodyPr/>
          <a:lstStyle/>
          <a:p>
            <a:endParaRPr lang="en-IN"/>
          </a:p>
        </p:txBody>
      </p:sp>
      <p:sp>
        <p:nvSpPr>
          <p:cNvPr id="11" name="Text 9"/>
          <p:cNvSpPr/>
          <p:nvPr/>
        </p:nvSpPr>
        <p:spPr>
          <a:xfrm>
            <a:off x="4754880" y="594360"/>
            <a:ext cx="4023360" cy="320040"/>
          </a:xfrm>
          <a:prstGeom prst="rect">
            <a:avLst/>
          </a:prstGeom>
          <a:noFill/>
          <a:ln/>
        </p:spPr>
        <p:txBody>
          <a:bodyPr wrap="square" lIns="0" tIns="0" rIns="0" bIns="0" rtlCol="0" anchor="ctr"/>
          <a:lstStyle/>
          <a:p>
            <a:pPr marL="0" indent="0" algn="ctr">
              <a:buNone/>
            </a:pPr>
            <a:r>
              <a:rPr lang="en-US" sz="900" b="1" dirty="0">
                <a:solidFill>
                  <a:srgbClr val="4A6080"/>
                </a:solidFill>
              </a:rPr>
              <a:t>MICROSERVICES</a:t>
            </a:r>
            <a:endParaRPr lang="en-US" sz="900" dirty="0"/>
          </a:p>
        </p:txBody>
      </p:sp>
      <p:sp>
        <p:nvSpPr>
          <p:cNvPr id="12" name="Shape 10"/>
          <p:cNvSpPr/>
          <p:nvPr/>
        </p:nvSpPr>
        <p:spPr>
          <a:xfrm>
            <a:off x="4937760" y="1005840"/>
            <a:ext cx="3657600" cy="658368"/>
          </a:xfrm>
          <a:prstGeom prst="roundRect">
            <a:avLst>
              <a:gd name="adj" fmla="val 11111"/>
            </a:avLst>
          </a:prstGeom>
          <a:solidFill>
            <a:srgbClr val="0077B6">
              <a:alpha val="90000"/>
            </a:srgbClr>
          </a:solidFill>
          <a:ln/>
        </p:spPr>
        <p:txBody>
          <a:bodyPr/>
          <a:lstStyle/>
          <a:p>
            <a:endParaRPr lang="en-IN"/>
          </a:p>
        </p:txBody>
      </p:sp>
      <p:sp>
        <p:nvSpPr>
          <p:cNvPr id="13" name="Text 11"/>
          <p:cNvSpPr/>
          <p:nvPr/>
        </p:nvSpPr>
        <p:spPr>
          <a:xfrm>
            <a:off x="5074920" y="1005840"/>
            <a:ext cx="2560320" cy="658368"/>
          </a:xfrm>
          <a:prstGeom prst="rect">
            <a:avLst/>
          </a:prstGeom>
          <a:noFill/>
          <a:ln/>
        </p:spPr>
        <p:txBody>
          <a:bodyPr wrap="square" lIns="0" tIns="0" rIns="0" bIns="0" rtlCol="0" anchor="ctr"/>
          <a:lstStyle/>
          <a:p>
            <a:pPr marL="0" indent="0">
              <a:buNone/>
            </a:pPr>
            <a:r>
              <a:rPr lang="en-US" sz="1200" b="1" dirty="0">
                <a:solidFill>
                  <a:srgbClr val="FFFFFF"/>
                </a:solidFill>
              </a:rPr>
              <a:t>Auth Service</a:t>
            </a:r>
            <a:endParaRPr lang="en-US" sz="1200" dirty="0"/>
          </a:p>
        </p:txBody>
      </p:sp>
      <p:sp>
        <p:nvSpPr>
          <p:cNvPr id="14" name="Text 12"/>
          <p:cNvSpPr/>
          <p:nvPr/>
        </p:nvSpPr>
        <p:spPr>
          <a:xfrm>
            <a:off x="7406640" y="1005840"/>
            <a:ext cx="1051560" cy="658368"/>
          </a:xfrm>
          <a:prstGeom prst="rect">
            <a:avLst/>
          </a:prstGeom>
          <a:noFill/>
          <a:ln/>
        </p:spPr>
        <p:txBody>
          <a:bodyPr wrap="square" lIns="0" tIns="0" rIns="0" bIns="0" rtlCol="0" anchor="ctr"/>
          <a:lstStyle/>
          <a:p>
            <a:pPr marL="0" indent="0" algn="r">
              <a:buNone/>
            </a:pPr>
            <a:r>
              <a:rPr lang="en-US" sz="1000" dirty="0">
                <a:solidFill>
                  <a:srgbClr val="FFFFFF"/>
                </a:solidFill>
              </a:rPr>
              <a:t>:8001</a:t>
            </a:r>
            <a:endParaRPr lang="en-US" sz="1000" dirty="0"/>
          </a:p>
        </p:txBody>
      </p:sp>
      <p:sp>
        <p:nvSpPr>
          <p:cNvPr id="15" name="Shape 13"/>
          <p:cNvSpPr/>
          <p:nvPr/>
        </p:nvSpPr>
        <p:spPr>
          <a:xfrm>
            <a:off x="4937760" y="1810512"/>
            <a:ext cx="3657600" cy="658368"/>
          </a:xfrm>
          <a:prstGeom prst="roundRect">
            <a:avLst>
              <a:gd name="adj" fmla="val 11111"/>
            </a:avLst>
          </a:prstGeom>
          <a:solidFill>
            <a:srgbClr val="7B2FBE">
              <a:alpha val="90000"/>
            </a:srgbClr>
          </a:solidFill>
          <a:ln/>
        </p:spPr>
        <p:txBody>
          <a:bodyPr/>
          <a:lstStyle/>
          <a:p>
            <a:endParaRPr lang="en-IN"/>
          </a:p>
        </p:txBody>
      </p:sp>
      <p:sp>
        <p:nvSpPr>
          <p:cNvPr id="16" name="Text 14"/>
          <p:cNvSpPr/>
          <p:nvPr/>
        </p:nvSpPr>
        <p:spPr>
          <a:xfrm>
            <a:off x="5074920" y="1810512"/>
            <a:ext cx="2560320" cy="658368"/>
          </a:xfrm>
          <a:prstGeom prst="rect">
            <a:avLst/>
          </a:prstGeom>
          <a:noFill/>
          <a:ln/>
        </p:spPr>
        <p:txBody>
          <a:bodyPr wrap="square" lIns="0" tIns="0" rIns="0" bIns="0" rtlCol="0" anchor="ctr"/>
          <a:lstStyle/>
          <a:p>
            <a:pPr marL="0" indent="0">
              <a:buNone/>
            </a:pPr>
            <a:r>
              <a:rPr lang="en-US" sz="1200" b="1" dirty="0">
                <a:solidFill>
                  <a:srgbClr val="FFFFFF"/>
                </a:solidFill>
              </a:rPr>
              <a:t>Jobs Service</a:t>
            </a:r>
            <a:endParaRPr lang="en-US" sz="1200" dirty="0"/>
          </a:p>
        </p:txBody>
      </p:sp>
      <p:sp>
        <p:nvSpPr>
          <p:cNvPr id="17" name="Text 15"/>
          <p:cNvSpPr/>
          <p:nvPr/>
        </p:nvSpPr>
        <p:spPr>
          <a:xfrm>
            <a:off x="7406640" y="1810512"/>
            <a:ext cx="1051560" cy="658368"/>
          </a:xfrm>
          <a:prstGeom prst="rect">
            <a:avLst/>
          </a:prstGeom>
          <a:noFill/>
          <a:ln/>
        </p:spPr>
        <p:txBody>
          <a:bodyPr wrap="square" lIns="0" tIns="0" rIns="0" bIns="0" rtlCol="0" anchor="ctr"/>
          <a:lstStyle/>
          <a:p>
            <a:pPr marL="0" indent="0" algn="r">
              <a:buNone/>
            </a:pPr>
            <a:r>
              <a:rPr lang="en-US" sz="1000" dirty="0">
                <a:solidFill>
                  <a:srgbClr val="FFFFFF"/>
                </a:solidFill>
              </a:rPr>
              <a:t>:8002</a:t>
            </a:r>
            <a:endParaRPr lang="en-US" sz="1000" dirty="0"/>
          </a:p>
        </p:txBody>
      </p:sp>
      <p:sp>
        <p:nvSpPr>
          <p:cNvPr id="18" name="Shape 16"/>
          <p:cNvSpPr/>
          <p:nvPr/>
        </p:nvSpPr>
        <p:spPr>
          <a:xfrm>
            <a:off x="4937760" y="2615184"/>
            <a:ext cx="3657600" cy="658368"/>
          </a:xfrm>
          <a:prstGeom prst="roundRect">
            <a:avLst>
              <a:gd name="adj" fmla="val 11111"/>
            </a:avLst>
          </a:prstGeom>
          <a:solidFill>
            <a:srgbClr val="BE2F6B">
              <a:alpha val="90000"/>
            </a:srgbClr>
          </a:solidFill>
          <a:ln/>
        </p:spPr>
        <p:txBody>
          <a:bodyPr/>
          <a:lstStyle/>
          <a:p>
            <a:endParaRPr lang="en-IN"/>
          </a:p>
        </p:txBody>
      </p:sp>
      <p:sp>
        <p:nvSpPr>
          <p:cNvPr id="19" name="Text 17"/>
          <p:cNvSpPr/>
          <p:nvPr/>
        </p:nvSpPr>
        <p:spPr>
          <a:xfrm>
            <a:off x="5074920" y="2615184"/>
            <a:ext cx="2560320" cy="658368"/>
          </a:xfrm>
          <a:prstGeom prst="rect">
            <a:avLst/>
          </a:prstGeom>
          <a:noFill/>
          <a:ln/>
        </p:spPr>
        <p:txBody>
          <a:bodyPr wrap="square" lIns="0" tIns="0" rIns="0" bIns="0" rtlCol="0" anchor="ctr"/>
          <a:lstStyle/>
          <a:p>
            <a:pPr marL="0" indent="0">
              <a:buNone/>
            </a:pPr>
            <a:r>
              <a:rPr lang="en-US" sz="1200" b="1" dirty="0">
                <a:solidFill>
                  <a:srgbClr val="FFFFFF"/>
                </a:solidFill>
              </a:rPr>
              <a:t>Screening Service</a:t>
            </a:r>
            <a:endParaRPr lang="en-US" sz="1200" dirty="0"/>
          </a:p>
        </p:txBody>
      </p:sp>
      <p:sp>
        <p:nvSpPr>
          <p:cNvPr id="20" name="Text 18"/>
          <p:cNvSpPr/>
          <p:nvPr/>
        </p:nvSpPr>
        <p:spPr>
          <a:xfrm>
            <a:off x="7406640" y="2615184"/>
            <a:ext cx="1051560" cy="658368"/>
          </a:xfrm>
          <a:prstGeom prst="rect">
            <a:avLst/>
          </a:prstGeom>
          <a:noFill/>
          <a:ln/>
        </p:spPr>
        <p:txBody>
          <a:bodyPr wrap="square" lIns="0" tIns="0" rIns="0" bIns="0" rtlCol="0" anchor="ctr"/>
          <a:lstStyle/>
          <a:p>
            <a:pPr marL="0" indent="0" algn="r">
              <a:buNone/>
            </a:pPr>
            <a:r>
              <a:rPr lang="en-US" sz="1000" dirty="0">
                <a:solidFill>
                  <a:srgbClr val="FFFFFF"/>
                </a:solidFill>
              </a:rPr>
              <a:t>:8003</a:t>
            </a:r>
            <a:endParaRPr lang="en-US" sz="1000" dirty="0"/>
          </a:p>
        </p:txBody>
      </p:sp>
      <p:sp>
        <p:nvSpPr>
          <p:cNvPr id="21" name="Shape 19"/>
          <p:cNvSpPr/>
          <p:nvPr/>
        </p:nvSpPr>
        <p:spPr>
          <a:xfrm>
            <a:off x="4937760" y="3419856"/>
            <a:ext cx="3657600" cy="658368"/>
          </a:xfrm>
          <a:prstGeom prst="roundRect">
            <a:avLst>
              <a:gd name="adj" fmla="val 11111"/>
            </a:avLst>
          </a:prstGeom>
          <a:solidFill>
            <a:srgbClr val="F4A261">
              <a:alpha val="90000"/>
            </a:srgbClr>
          </a:solidFill>
          <a:ln/>
        </p:spPr>
        <p:txBody>
          <a:bodyPr/>
          <a:lstStyle/>
          <a:p>
            <a:endParaRPr lang="en-IN"/>
          </a:p>
        </p:txBody>
      </p:sp>
      <p:sp>
        <p:nvSpPr>
          <p:cNvPr id="22" name="Text 20"/>
          <p:cNvSpPr/>
          <p:nvPr/>
        </p:nvSpPr>
        <p:spPr>
          <a:xfrm>
            <a:off x="5074920" y="3419856"/>
            <a:ext cx="2560320" cy="658368"/>
          </a:xfrm>
          <a:prstGeom prst="rect">
            <a:avLst/>
          </a:prstGeom>
          <a:noFill/>
          <a:ln/>
        </p:spPr>
        <p:txBody>
          <a:bodyPr wrap="square" lIns="0" tIns="0" rIns="0" bIns="0" rtlCol="0" anchor="ctr"/>
          <a:lstStyle/>
          <a:p>
            <a:pPr marL="0" indent="0">
              <a:buNone/>
            </a:pPr>
            <a:r>
              <a:rPr lang="en-US" sz="1200" b="1" dirty="0">
                <a:solidFill>
                  <a:srgbClr val="FFFFFF"/>
                </a:solidFill>
              </a:rPr>
              <a:t>Interview Service</a:t>
            </a:r>
            <a:endParaRPr lang="en-US" sz="1200" dirty="0"/>
          </a:p>
        </p:txBody>
      </p:sp>
      <p:sp>
        <p:nvSpPr>
          <p:cNvPr id="23" name="Text 21"/>
          <p:cNvSpPr/>
          <p:nvPr/>
        </p:nvSpPr>
        <p:spPr>
          <a:xfrm>
            <a:off x="7406640" y="3419856"/>
            <a:ext cx="1051560" cy="658368"/>
          </a:xfrm>
          <a:prstGeom prst="rect">
            <a:avLst/>
          </a:prstGeom>
          <a:noFill/>
          <a:ln/>
        </p:spPr>
        <p:txBody>
          <a:bodyPr wrap="square" lIns="0" tIns="0" rIns="0" bIns="0" rtlCol="0" anchor="ctr"/>
          <a:lstStyle/>
          <a:p>
            <a:pPr marL="0" indent="0" algn="r">
              <a:buNone/>
            </a:pPr>
            <a:r>
              <a:rPr lang="en-US" sz="1000" dirty="0">
                <a:solidFill>
                  <a:srgbClr val="FFFFFF"/>
                </a:solidFill>
              </a:rPr>
              <a:t>:8004</a:t>
            </a:r>
            <a:endParaRPr lang="en-US" sz="1000" dirty="0"/>
          </a:p>
        </p:txBody>
      </p:sp>
      <p:sp>
        <p:nvSpPr>
          <p:cNvPr id="24" name="Shape 22"/>
          <p:cNvSpPr/>
          <p:nvPr/>
        </p:nvSpPr>
        <p:spPr>
          <a:xfrm>
            <a:off x="4937760" y="4206240"/>
            <a:ext cx="3657600" cy="347472"/>
          </a:xfrm>
          <a:prstGeom prst="roundRect">
            <a:avLst>
              <a:gd name="adj" fmla="val 18421"/>
            </a:avLst>
          </a:prstGeom>
          <a:solidFill>
            <a:srgbClr val="1A2B4A"/>
          </a:solidFill>
          <a:ln/>
        </p:spPr>
        <p:txBody>
          <a:bodyPr/>
          <a:lstStyle/>
          <a:p>
            <a:endParaRPr lang="en-IN"/>
          </a:p>
        </p:txBody>
      </p:sp>
      <p:sp>
        <p:nvSpPr>
          <p:cNvPr id="25" name="Text 23"/>
          <p:cNvSpPr/>
          <p:nvPr/>
        </p:nvSpPr>
        <p:spPr>
          <a:xfrm>
            <a:off x="4937760" y="4206240"/>
            <a:ext cx="3657600" cy="347472"/>
          </a:xfrm>
          <a:prstGeom prst="rect">
            <a:avLst/>
          </a:prstGeom>
          <a:noFill/>
          <a:ln/>
        </p:spPr>
        <p:txBody>
          <a:bodyPr wrap="square" lIns="0" tIns="0" rIns="0" bIns="0" rtlCol="0" anchor="ctr"/>
          <a:lstStyle/>
          <a:p>
            <a:pPr marL="0" indent="0" algn="ctr">
              <a:buNone/>
            </a:pPr>
            <a:r>
              <a:rPr lang="en-US" sz="850" dirty="0">
                <a:solidFill>
                  <a:srgbClr val="00B4D8"/>
                </a:solidFill>
              </a:rPr>
              <a:t>Screening: LangGraph pipeline  |  Interview: Groq Whisper STT · Llama LLM · Orpheus TTS</a:t>
            </a:r>
            <a:endParaRPr lang="en-US" sz="850" dirty="0"/>
          </a:p>
        </p:txBody>
      </p:sp>
      <p:sp>
        <p:nvSpPr>
          <p:cNvPr id="26" name="Shape 24"/>
          <p:cNvSpPr/>
          <p:nvPr/>
        </p:nvSpPr>
        <p:spPr>
          <a:xfrm>
            <a:off x="274320" y="2926080"/>
            <a:ext cx="4114800" cy="640080"/>
          </a:xfrm>
          <a:prstGeom prst="roundRect">
            <a:avLst>
              <a:gd name="adj" fmla="val 14286"/>
            </a:avLst>
          </a:prstGeom>
          <a:solidFill>
            <a:srgbClr val="06D6A0">
              <a:alpha val="85000"/>
            </a:srgbClr>
          </a:solidFill>
          <a:ln/>
        </p:spPr>
        <p:txBody>
          <a:bodyPr/>
          <a:lstStyle/>
          <a:p>
            <a:endParaRPr lang="en-IN"/>
          </a:p>
        </p:txBody>
      </p:sp>
      <p:sp>
        <p:nvSpPr>
          <p:cNvPr id="27" name="Text 25"/>
          <p:cNvSpPr/>
          <p:nvPr/>
        </p:nvSpPr>
        <p:spPr>
          <a:xfrm>
            <a:off x="274320" y="2926080"/>
            <a:ext cx="4114800" cy="640080"/>
          </a:xfrm>
          <a:prstGeom prst="rect">
            <a:avLst/>
          </a:prstGeom>
          <a:noFill/>
          <a:ln/>
        </p:spPr>
        <p:txBody>
          <a:bodyPr wrap="square" lIns="0" tIns="0" rIns="0" bIns="0" rtlCol="0" anchor="ctr"/>
          <a:lstStyle/>
          <a:p>
            <a:pPr marL="0" indent="0" algn="ctr">
              <a:buNone/>
            </a:pPr>
            <a:r>
              <a:rPr lang="en-US" sz="1200" b="1" dirty="0">
                <a:solidFill>
                  <a:srgbClr val="FFFFFF"/>
                </a:solidFill>
              </a:rPr>
              <a:t>PostgreSQL / Amazon RDS  (shared across services)</a:t>
            </a:r>
            <a:endParaRPr lang="en-US" sz="1200" dirty="0"/>
          </a:p>
        </p:txBody>
      </p:sp>
      <p:sp>
        <p:nvSpPr>
          <p:cNvPr id="28" name="Shape 26"/>
          <p:cNvSpPr/>
          <p:nvPr/>
        </p:nvSpPr>
        <p:spPr>
          <a:xfrm>
            <a:off x="3383280" y="1417320"/>
            <a:ext cx="0" cy="1508760"/>
          </a:xfrm>
          <a:prstGeom prst="line">
            <a:avLst/>
          </a:prstGeom>
          <a:noFill/>
          <a:ln w="19050">
            <a:solidFill>
              <a:srgbClr val="00B4D8"/>
            </a:solidFill>
            <a:prstDash val="solid"/>
          </a:ln>
        </p:spPr>
        <p:txBody>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6FF"/>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548640"/>
          </a:xfrm>
          <a:prstGeom prst="rect">
            <a:avLst/>
          </a:prstGeom>
          <a:noFill/>
          <a:ln/>
        </p:spPr>
        <p:txBody>
          <a:bodyPr wrap="square" lIns="0" tIns="0" rIns="0" bIns="0" rtlCol="0" anchor="ctr"/>
          <a:lstStyle/>
          <a:p>
            <a:pPr marL="0" indent="0">
              <a:buNone/>
            </a:pPr>
            <a:r>
              <a:rPr lang="en-US" sz="3400" b="1" dirty="0">
                <a:solidFill>
                  <a:srgbClr val="0D1B2A"/>
                </a:solidFill>
                <a:latin typeface="Calibri" pitchFamily="34" charset="0"/>
                <a:ea typeface="Calibri" pitchFamily="34" charset="-122"/>
                <a:cs typeface="Calibri" pitchFamily="34" charset="-120"/>
              </a:rPr>
              <a:t>Microservices Breakdown</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28600" y="822960"/>
          <a:ext cx="8686800" cy="4096512"/>
        </p:xfrm>
        <a:graphic>
          <a:graphicData uri="http://schemas.openxmlformats.org/drawingml/2006/table">
            <a:tbl>
              <a:tblPr/>
              <a:tblGrid>
                <a:gridCol w="20116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512064">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Service</a:t>
                      </a:r>
                      <a:endParaRPr lang="en-US" sz="11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0D1B2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Tech / Port</a:t>
                      </a:r>
                      <a:endParaRPr lang="en-US" sz="11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0D1B2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Responsibility</a:t>
                      </a:r>
                      <a:endParaRPr lang="en-US" sz="11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512064">
                <a:tc>
                  <a:txBody>
                    <a:bodyPr/>
                    <a:lstStyle/>
                    <a:p>
                      <a:pPr marL="0" indent="0">
                        <a:buNone/>
                      </a:pPr>
                      <a:r>
                        <a:rPr lang="en-US" sz="1100" dirty="0">
                          <a:solidFill>
                            <a:srgbClr val="1A2B4A"/>
                          </a:solidFill>
                          <a:latin typeface="Calibri" pitchFamily="34" charset="0"/>
                          <a:ea typeface="Calibri" pitchFamily="34" charset="-122"/>
                          <a:cs typeface="Calibri" pitchFamily="34" charset="-120"/>
                        </a:rPr>
                        <a:t>Frontend (React/Vite)</a:t>
                      </a:r>
                      <a:endParaRPr lang="en-US" sz="11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100" dirty="0">
                          <a:solidFill>
                            <a:srgbClr val="1A2B4A"/>
                          </a:solidFill>
                          <a:latin typeface="Calibri" pitchFamily="34" charset="0"/>
                          <a:ea typeface="Calibri" pitchFamily="34" charset="-122"/>
                          <a:cs typeface="Calibri" pitchFamily="34" charset="-120"/>
                        </a:rPr>
                        <a:t>Nginx · :80</a:t>
                      </a:r>
                      <a:endParaRPr lang="en-US" sz="11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100" dirty="0">
                          <a:solidFill>
                            <a:srgbClr val="1A2B4A"/>
                          </a:solidFill>
                          <a:latin typeface="Calibri" pitchFamily="34" charset="0"/>
                          <a:ea typeface="Calibri" pitchFamily="34" charset="-122"/>
                          <a:cs typeface="Calibri" pitchFamily="34" charset="-120"/>
                        </a:rPr>
                        <a:t>Job listings, apply flow, recruiter dashboard UI</a:t>
                      </a:r>
                      <a:endParaRPr lang="en-US" sz="11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buNone/>
                      </a:pPr>
                      <a:r>
                        <a:rPr lang="en-US" sz="1100" dirty="0">
                          <a:solidFill>
                            <a:srgbClr val="1A2B4A"/>
                          </a:solidFill>
                          <a:latin typeface="Calibri" pitchFamily="34" charset="0"/>
                          <a:ea typeface="Calibri" pitchFamily="34" charset="-122"/>
                          <a:cs typeface="Calibri" pitchFamily="34" charset="-120"/>
                        </a:rPr>
                        <a:t>API Gateway (FastAPI)</a:t>
                      </a:r>
                      <a:endParaRPr lang="en-US" sz="11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100" dirty="0">
                          <a:solidFill>
                            <a:srgbClr val="1A2B4A"/>
                          </a:solidFill>
                          <a:latin typeface="Calibri" pitchFamily="34" charset="0"/>
                          <a:ea typeface="Calibri" pitchFamily="34" charset="-122"/>
                          <a:cs typeface="Calibri" pitchFamily="34" charset="-120"/>
                        </a:rPr>
                        <a:t>FastAPI · :8000</a:t>
                      </a:r>
                      <a:endParaRPr lang="en-US" sz="11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100" dirty="0">
                          <a:solidFill>
                            <a:srgbClr val="1A2B4A"/>
                          </a:solidFill>
                          <a:latin typeface="Calibri" pitchFamily="34" charset="0"/>
                          <a:ea typeface="Calibri" pitchFamily="34" charset="-122"/>
                          <a:cs typeface="Calibri" pitchFamily="34" charset="-120"/>
                        </a:rPr>
                        <a:t>Reverse proxy, JWT validation, route delegation</a:t>
                      </a:r>
                      <a:endParaRPr lang="en-US" sz="11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marL="0" indent="0">
                        <a:buNone/>
                      </a:pPr>
                      <a:r>
                        <a:rPr lang="en-US" sz="1100" dirty="0">
                          <a:solidFill>
                            <a:srgbClr val="1A2B4A"/>
                          </a:solidFill>
                          <a:latin typeface="Calibri" pitchFamily="34" charset="0"/>
                          <a:ea typeface="Calibri" pitchFamily="34" charset="-122"/>
                          <a:cs typeface="Calibri" pitchFamily="34" charset="-120"/>
                        </a:rPr>
                        <a:t>Auth Service</a:t>
                      </a:r>
                      <a:endParaRPr lang="en-US" sz="11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100" dirty="0">
                          <a:solidFill>
                            <a:srgbClr val="1A2B4A"/>
                          </a:solidFill>
                          <a:latin typeface="Calibri" pitchFamily="34" charset="0"/>
                          <a:ea typeface="Calibri" pitchFamily="34" charset="-122"/>
                          <a:cs typeface="Calibri" pitchFamily="34" charset="-120"/>
                        </a:rPr>
                        <a:t>FastAPI · :8001</a:t>
                      </a:r>
                      <a:endParaRPr lang="en-US" sz="11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100" dirty="0">
                          <a:solidFill>
                            <a:srgbClr val="1A2B4A"/>
                          </a:solidFill>
                          <a:latin typeface="Calibri" pitchFamily="34" charset="0"/>
                          <a:ea typeface="Calibri" pitchFamily="34" charset="-122"/>
                          <a:cs typeface="Calibri" pitchFamily="34" charset="-120"/>
                        </a:rPr>
                        <a:t>Candidate &amp; recruiter signup, login, JWT issuance</a:t>
                      </a:r>
                      <a:endParaRPr lang="en-US" sz="11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buNone/>
                      </a:pPr>
                      <a:r>
                        <a:rPr lang="en-US" sz="1100" dirty="0">
                          <a:solidFill>
                            <a:srgbClr val="1A2B4A"/>
                          </a:solidFill>
                          <a:latin typeface="Calibri" pitchFamily="34" charset="0"/>
                          <a:ea typeface="Calibri" pitchFamily="34" charset="-122"/>
                          <a:cs typeface="Calibri" pitchFamily="34" charset="-120"/>
                        </a:rPr>
                        <a:t>Jobs Service</a:t>
                      </a:r>
                      <a:endParaRPr lang="en-US" sz="11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100" dirty="0">
                          <a:solidFill>
                            <a:srgbClr val="1A2B4A"/>
                          </a:solidFill>
                          <a:latin typeface="Calibri" pitchFamily="34" charset="0"/>
                          <a:ea typeface="Calibri" pitchFamily="34" charset="-122"/>
                          <a:cs typeface="Calibri" pitchFamily="34" charset="-120"/>
                        </a:rPr>
                        <a:t>FastAPI · :8002</a:t>
                      </a:r>
                      <a:endParaRPr lang="en-US" sz="11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100" dirty="0">
                          <a:solidFill>
                            <a:srgbClr val="1A2B4A"/>
                          </a:solidFill>
                          <a:latin typeface="Calibri" pitchFamily="34" charset="0"/>
                          <a:ea typeface="Calibri" pitchFamily="34" charset="-122"/>
                          <a:cs typeface="Calibri" pitchFamily="34" charset="-120"/>
                        </a:rPr>
                        <a:t>Create/list jobs, trigger screening on application</a:t>
                      </a:r>
                      <a:endParaRPr lang="en-US" sz="11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2064">
                <a:tc>
                  <a:txBody>
                    <a:bodyPr/>
                    <a:lstStyle/>
                    <a:p>
                      <a:pPr marL="0" indent="0">
                        <a:buNone/>
                      </a:pPr>
                      <a:r>
                        <a:rPr lang="en-US" sz="1100" dirty="0">
                          <a:solidFill>
                            <a:srgbClr val="1A2B4A"/>
                          </a:solidFill>
                          <a:latin typeface="Calibri" pitchFamily="34" charset="0"/>
                          <a:ea typeface="Calibri" pitchFamily="34" charset="-122"/>
                          <a:cs typeface="Calibri" pitchFamily="34" charset="-120"/>
                        </a:rPr>
                        <a:t>Screening Service</a:t>
                      </a:r>
                      <a:endParaRPr lang="en-US" sz="11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100" dirty="0">
                          <a:solidFill>
                            <a:srgbClr val="1A2B4A"/>
                          </a:solidFill>
                          <a:latin typeface="Calibri" pitchFamily="34" charset="0"/>
                          <a:ea typeface="Calibri" pitchFamily="34" charset="-122"/>
                          <a:cs typeface="Calibri" pitchFamily="34" charset="-120"/>
                        </a:rPr>
                        <a:t>FastAPI · :8003</a:t>
                      </a:r>
                      <a:endParaRPr lang="en-US" sz="11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100" dirty="0">
                          <a:solidFill>
                            <a:srgbClr val="1A2B4A"/>
                          </a:solidFill>
                          <a:latin typeface="Calibri" pitchFamily="34" charset="0"/>
                          <a:ea typeface="Calibri" pitchFamily="34" charset="-122"/>
                          <a:cs typeface="Calibri" pitchFamily="34" charset="-120"/>
                        </a:rPr>
                        <a:t>LangGraph resume extraction, fit analysis, scoring</a:t>
                      </a:r>
                      <a:endParaRPr lang="en-US" sz="11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12064">
                <a:tc>
                  <a:txBody>
                    <a:bodyPr/>
                    <a:lstStyle/>
                    <a:p>
                      <a:pPr marL="0" indent="0">
                        <a:buNone/>
                      </a:pPr>
                      <a:r>
                        <a:rPr lang="en-US" sz="1100" dirty="0">
                          <a:solidFill>
                            <a:srgbClr val="1A2B4A"/>
                          </a:solidFill>
                          <a:latin typeface="Calibri" pitchFamily="34" charset="0"/>
                          <a:ea typeface="Calibri" pitchFamily="34" charset="-122"/>
                          <a:cs typeface="Calibri" pitchFamily="34" charset="-120"/>
                        </a:rPr>
                        <a:t>Interview Service</a:t>
                      </a:r>
                      <a:endParaRPr lang="en-US" sz="11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100" dirty="0">
                          <a:solidFill>
                            <a:srgbClr val="1A2B4A"/>
                          </a:solidFill>
                          <a:latin typeface="Calibri" pitchFamily="34" charset="0"/>
                          <a:ea typeface="Calibri" pitchFamily="34" charset="-122"/>
                          <a:cs typeface="Calibri" pitchFamily="34" charset="-120"/>
                        </a:rPr>
                        <a:t>FastAPI · :8004</a:t>
                      </a:r>
                      <a:endParaRPr lang="en-US" sz="11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100" dirty="0">
                          <a:solidFill>
                            <a:srgbClr val="1A2B4A"/>
                          </a:solidFill>
                          <a:latin typeface="Calibri" pitchFamily="34" charset="0"/>
                          <a:ea typeface="Calibri" pitchFamily="34" charset="-122"/>
                          <a:cs typeface="Calibri" pitchFamily="34" charset="-120"/>
                        </a:rPr>
                        <a:t>Groq STT, Llama LLM Q&amp;A, Orpheus TTS, assessment</a:t>
                      </a:r>
                      <a:endParaRPr lang="en-US" sz="11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12064">
                <a:tc>
                  <a:txBody>
                    <a:bodyPr/>
                    <a:lstStyle/>
                    <a:p>
                      <a:pPr marL="0" indent="0">
                        <a:buNone/>
                      </a:pPr>
                      <a:r>
                        <a:rPr lang="en-US" sz="1100" dirty="0">
                          <a:solidFill>
                            <a:srgbClr val="1A2B4A"/>
                          </a:solidFill>
                          <a:latin typeface="Calibri" pitchFamily="34" charset="0"/>
                          <a:ea typeface="Calibri" pitchFamily="34" charset="-122"/>
                          <a:cs typeface="Calibri" pitchFamily="34" charset="-120"/>
                        </a:rPr>
                        <a:t>PostgreSQL / RDS</a:t>
                      </a:r>
                      <a:endParaRPr lang="en-US" sz="11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100" dirty="0">
                          <a:solidFill>
                            <a:srgbClr val="1A2B4A"/>
                          </a:solidFill>
                          <a:latin typeface="Calibri" pitchFamily="34" charset="0"/>
                          <a:ea typeface="Calibri" pitchFamily="34" charset="-122"/>
                          <a:cs typeface="Calibri" pitchFamily="34" charset="-120"/>
                        </a:rPr>
                        <a:t>Postgres · :5432</a:t>
                      </a:r>
                      <a:endParaRPr lang="en-US" sz="11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100" dirty="0">
                          <a:solidFill>
                            <a:srgbClr val="1A2B4A"/>
                          </a:solidFill>
                          <a:latin typeface="Calibri" pitchFamily="34" charset="0"/>
                          <a:ea typeface="Calibri" pitchFamily="34" charset="-122"/>
                          <a:cs typeface="Calibri" pitchFamily="34" charset="-120"/>
                        </a:rPr>
                        <a:t>Persistent storage for users, jobs, scores, assessments</a:t>
                      </a:r>
                      <a:endParaRPr lang="en-US" sz="11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54864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AI Workflow</a:t>
            </a:r>
            <a:endParaRPr lang="en-US" sz="3400" dirty="0"/>
          </a:p>
        </p:txBody>
      </p:sp>
      <p:sp>
        <p:nvSpPr>
          <p:cNvPr id="3" name="Shape 1"/>
          <p:cNvSpPr/>
          <p:nvPr/>
        </p:nvSpPr>
        <p:spPr>
          <a:xfrm>
            <a:off x="274320" y="822960"/>
            <a:ext cx="4114800" cy="4023360"/>
          </a:xfrm>
          <a:prstGeom prst="roundRect">
            <a:avLst>
              <a:gd name="adj" fmla="val 2727"/>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4" name="Text 2"/>
          <p:cNvSpPr/>
          <p:nvPr/>
        </p:nvSpPr>
        <p:spPr>
          <a:xfrm>
            <a:off x="457200" y="868680"/>
            <a:ext cx="3749040" cy="384048"/>
          </a:xfrm>
          <a:prstGeom prst="rect">
            <a:avLst/>
          </a:prstGeom>
          <a:noFill/>
          <a:ln/>
        </p:spPr>
        <p:txBody>
          <a:bodyPr wrap="square" lIns="0" tIns="0" rIns="0" bIns="0" rtlCol="0" anchor="ctr"/>
          <a:lstStyle/>
          <a:p>
            <a:pPr marL="0" indent="0">
              <a:buNone/>
            </a:pPr>
            <a:r>
              <a:rPr lang="en-US" sz="1300" b="1" dirty="0">
                <a:solidFill>
                  <a:srgbClr val="00B4D8"/>
                </a:solidFill>
              </a:rPr>
              <a:t>📄 Resume Screening Pipeline</a:t>
            </a:r>
            <a:endParaRPr lang="en-US" sz="1300" dirty="0"/>
          </a:p>
        </p:txBody>
      </p:sp>
      <p:sp>
        <p:nvSpPr>
          <p:cNvPr id="5" name="Text 3"/>
          <p:cNvSpPr/>
          <p:nvPr/>
        </p:nvSpPr>
        <p:spPr>
          <a:xfrm>
            <a:off x="457200" y="1234440"/>
            <a:ext cx="3749040" cy="256032"/>
          </a:xfrm>
          <a:prstGeom prst="rect">
            <a:avLst/>
          </a:prstGeom>
          <a:noFill/>
          <a:ln/>
        </p:spPr>
        <p:txBody>
          <a:bodyPr wrap="square" lIns="0" tIns="0" rIns="0" bIns="0" rtlCol="0" anchor="ctr"/>
          <a:lstStyle/>
          <a:p>
            <a:pPr marL="0" indent="0">
              <a:buNone/>
            </a:pPr>
            <a:r>
              <a:rPr lang="en-US" sz="1000" dirty="0">
                <a:solidFill>
                  <a:srgbClr val="AACCEE"/>
                </a:solidFill>
              </a:rPr>
              <a:t>Powered by LangGraph</a:t>
            </a:r>
            <a:endParaRPr lang="en-US" sz="1000" dirty="0"/>
          </a:p>
        </p:txBody>
      </p:sp>
      <p:sp>
        <p:nvSpPr>
          <p:cNvPr id="6" name="Shape 4"/>
          <p:cNvSpPr/>
          <p:nvPr/>
        </p:nvSpPr>
        <p:spPr>
          <a:xfrm>
            <a:off x="457200" y="1600200"/>
            <a:ext cx="347472" cy="384048"/>
          </a:xfrm>
          <a:prstGeom prst="roundRect">
            <a:avLst>
              <a:gd name="adj" fmla="val 13158"/>
            </a:avLst>
          </a:prstGeom>
          <a:solidFill>
            <a:srgbClr val="00B4D8"/>
          </a:solidFill>
          <a:ln/>
        </p:spPr>
        <p:txBody>
          <a:bodyPr/>
          <a:lstStyle/>
          <a:p>
            <a:endParaRPr lang="en-IN"/>
          </a:p>
        </p:txBody>
      </p:sp>
      <p:sp>
        <p:nvSpPr>
          <p:cNvPr id="7" name="Text 5"/>
          <p:cNvSpPr/>
          <p:nvPr/>
        </p:nvSpPr>
        <p:spPr>
          <a:xfrm>
            <a:off x="457200" y="1600200"/>
            <a:ext cx="347472" cy="384048"/>
          </a:xfrm>
          <a:prstGeom prst="rect">
            <a:avLst/>
          </a:prstGeom>
          <a:noFill/>
          <a:ln/>
        </p:spPr>
        <p:txBody>
          <a:bodyPr wrap="square" lIns="0" tIns="0" rIns="0" bIns="0" rtlCol="0" anchor="ctr"/>
          <a:lstStyle/>
          <a:p>
            <a:pPr marL="0" indent="0" algn="ctr">
              <a:buNone/>
            </a:pPr>
            <a:r>
              <a:rPr lang="en-US" sz="900" b="1" dirty="0">
                <a:solidFill>
                  <a:srgbClr val="0D1B2A"/>
                </a:solidFill>
              </a:rPr>
              <a:t>01</a:t>
            </a:r>
            <a:endParaRPr lang="en-US" sz="900" dirty="0"/>
          </a:p>
        </p:txBody>
      </p:sp>
      <p:sp>
        <p:nvSpPr>
          <p:cNvPr id="8" name="Text 6"/>
          <p:cNvSpPr/>
          <p:nvPr/>
        </p:nvSpPr>
        <p:spPr>
          <a:xfrm>
            <a:off x="914400" y="1618488"/>
            <a:ext cx="3291840" cy="201168"/>
          </a:xfrm>
          <a:prstGeom prst="rect">
            <a:avLst/>
          </a:prstGeom>
          <a:noFill/>
          <a:ln/>
        </p:spPr>
        <p:txBody>
          <a:bodyPr wrap="square" lIns="0" tIns="0" rIns="0" bIns="0" rtlCol="0" anchor="ctr"/>
          <a:lstStyle/>
          <a:p>
            <a:pPr marL="0" indent="0">
              <a:buNone/>
            </a:pPr>
            <a:r>
              <a:rPr lang="en-US" sz="1100" b="1" dirty="0">
                <a:solidFill>
                  <a:srgbClr val="FFFFFF"/>
                </a:solidFill>
              </a:rPr>
              <a:t>PDF Resume Upload</a:t>
            </a:r>
            <a:endParaRPr lang="en-US" sz="1100" dirty="0"/>
          </a:p>
        </p:txBody>
      </p:sp>
      <p:sp>
        <p:nvSpPr>
          <p:cNvPr id="9" name="Text 7"/>
          <p:cNvSpPr/>
          <p:nvPr/>
        </p:nvSpPr>
        <p:spPr>
          <a:xfrm>
            <a:off x="914400" y="1819656"/>
            <a:ext cx="3291840" cy="164592"/>
          </a:xfrm>
          <a:prstGeom prst="rect">
            <a:avLst/>
          </a:prstGeom>
          <a:noFill/>
          <a:ln/>
        </p:spPr>
        <p:txBody>
          <a:bodyPr wrap="square" lIns="0" tIns="0" rIns="0" bIns="0" rtlCol="0" anchor="ctr"/>
          <a:lstStyle/>
          <a:p>
            <a:pPr marL="0" indent="0">
              <a:buNone/>
            </a:pPr>
            <a:r>
              <a:rPr lang="en-US" sz="950" dirty="0">
                <a:solidFill>
                  <a:srgbClr val="AACCEE"/>
                </a:solidFill>
              </a:rPr>
              <a:t>Candidate submits PDF</a:t>
            </a:r>
            <a:endParaRPr lang="en-US" sz="950" dirty="0"/>
          </a:p>
        </p:txBody>
      </p:sp>
      <p:sp>
        <p:nvSpPr>
          <p:cNvPr id="10" name="Shape 8"/>
          <p:cNvSpPr/>
          <p:nvPr/>
        </p:nvSpPr>
        <p:spPr>
          <a:xfrm>
            <a:off x="612648" y="1984248"/>
            <a:ext cx="0" cy="228600"/>
          </a:xfrm>
          <a:prstGeom prst="line">
            <a:avLst/>
          </a:prstGeom>
          <a:noFill/>
          <a:ln w="19050">
            <a:solidFill>
              <a:srgbClr val="00B4D8"/>
            </a:solidFill>
            <a:prstDash val="solid"/>
          </a:ln>
        </p:spPr>
        <p:txBody>
          <a:bodyPr/>
          <a:lstStyle/>
          <a:p>
            <a:endParaRPr lang="en-IN"/>
          </a:p>
        </p:txBody>
      </p:sp>
      <p:sp>
        <p:nvSpPr>
          <p:cNvPr id="11" name="Shape 9"/>
          <p:cNvSpPr/>
          <p:nvPr/>
        </p:nvSpPr>
        <p:spPr>
          <a:xfrm>
            <a:off x="457200" y="2212848"/>
            <a:ext cx="347472" cy="384048"/>
          </a:xfrm>
          <a:prstGeom prst="roundRect">
            <a:avLst>
              <a:gd name="adj" fmla="val 13158"/>
            </a:avLst>
          </a:prstGeom>
          <a:solidFill>
            <a:srgbClr val="00B4D8"/>
          </a:solidFill>
          <a:ln/>
        </p:spPr>
        <p:txBody>
          <a:bodyPr/>
          <a:lstStyle/>
          <a:p>
            <a:endParaRPr lang="en-IN"/>
          </a:p>
        </p:txBody>
      </p:sp>
      <p:sp>
        <p:nvSpPr>
          <p:cNvPr id="12" name="Text 10"/>
          <p:cNvSpPr/>
          <p:nvPr/>
        </p:nvSpPr>
        <p:spPr>
          <a:xfrm>
            <a:off x="457200" y="2212848"/>
            <a:ext cx="347472" cy="384048"/>
          </a:xfrm>
          <a:prstGeom prst="rect">
            <a:avLst/>
          </a:prstGeom>
          <a:noFill/>
          <a:ln/>
        </p:spPr>
        <p:txBody>
          <a:bodyPr wrap="square" lIns="0" tIns="0" rIns="0" bIns="0" rtlCol="0" anchor="ctr"/>
          <a:lstStyle/>
          <a:p>
            <a:pPr marL="0" indent="0" algn="ctr">
              <a:buNone/>
            </a:pPr>
            <a:r>
              <a:rPr lang="en-US" sz="900" b="1" dirty="0">
                <a:solidFill>
                  <a:srgbClr val="0D1B2A"/>
                </a:solidFill>
              </a:rPr>
              <a:t>02</a:t>
            </a:r>
            <a:endParaRPr lang="en-US" sz="900" dirty="0"/>
          </a:p>
        </p:txBody>
      </p:sp>
      <p:sp>
        <p:nvSpPr>
          <p:cNvPr id="13" name="Text 11"/>
          <p:cNvSpPr/>
          <p:nvPr/>
        </p:nvSpPr>
        <p:spPr>
          <a:xfrm>
            <a:off x="914400" y="2231136"/>
            <a:ext cx="3291840" cy="201168"/>
          </a:xfrm>
          <a:prstGeom prst="rect">
            <a:avLst/>
          </a:prstGeom>
          <a:noFill/>
          <a:ln/>
        </p:spPr>
        <p:txBody>
          <a:bodyPr wrap="square" lIns="0" tIns="0" rIns="0" bIns="0" rtlCol="0" anchor="ctr"/>
          <a:lstStyle/>
          <a:p>
            <a:pPr marL="0" indent="0">
              <a:buNone/>
            </a:pPr>
            <a:r>
              <a:rPr lang="en-US" sz="1100" b="1" dirty="0">
                <a:solidFill>
                  <a:srgbClr val="FFFFFF"/>
                </a:solidFill>
              </a:rPr>
              <a:t>Profile Extraction</a:t>
            </a:r>
            <a:endParaRPr lang="en-US" sz="1100" dirty="0"/>
          </a:p>
        </p:txBody>
      </p:sp>
      <p:sp>
        <p:nvSpPr>
          <p:cNvPr id="14" name="Text 12"/>
          <p:cNvSpPr/>
          <p:nvPr/>
        </p:nvSpPr>
        <p:spPr>
          <a:xfrm>
            <a:off x="914400" y="2432304"/>
            <a:ext cx="3291840" cy="164592"/>
          </a:xfrm>
          <a:prstGeom prst="rect">
            <a:avLst/>
          </a:prstGeom>
          <a:noFill/>
          <a:ln/>
        </p:spPr>
        <p:txBody>
          <a:bodyPr wrap="square" lIns="0" tIns="0" rIns="0" bIns="0" rtlCol="0" anchor="ctr"/>
          <a:lstStyle/>
          <a:p>
            <a:pPr marL="0" indent="0">
              <a:buNone/>
            </a:pPr>
            <a:r>
              <a:rPr lang="en-US" sz="950" dirty="0">
                <a:solidFill>
                  <a:srgbClr val="AACCEE"/>
                </a:solidFill>
              </a:rPr>
              <a:t>Extract skills, experience, education</a:t>
            </a:r>
            <a:endParaRPr lang="en-US" sz="950" dirty="0"/>
          </a:p>
        </p:txBody>
      </p:sp>
      <p:sp>
        <p:nvSpPr>
          <p:cNvPr id="15" name="Shape 13"/>
          <p:cNvSpPr/>
          <p:nvPr/>
        </p:nvSpPr>
        <p:spPr>
          <a:xfrm>
            <a:off x="612648" y="2596896"/>
            <a:ext cx="0" cy="228600"/>
          </a:xfrm>
          <a:prstGeom prst="line">
            <a:avLst/>
          </a:prstGeom>
          <a:noFill/>
          <a:ln w="19050">
            <a:solidFill>
              <a:srgbClr val="00B4D8"/>
            </a:solidFill>
            <a:prstDash val="solid"/>
          </a:ln>
        </p:spPr>
        <p:txBody>
          <a:bodyPr/>
          <a:lstStyle/>
          <a:p>
            <a:endParaRPr lang="en-IN"/>
          </a:p>
        </p:txBody>
      </p:sp>
      <p:sp>
        <p:nvSpPr>
          <p:cNvPr id="16" name="Shape 14"/>
          <p:cNvSpPr/>
          <p:nvPr/>
        </p:nvSpPr>
        <p:spPr>
          <a:xfrm>
            <a:off x="457200" y="2825496"/>
            <a:ext cx="347472" cy="384048"/>
          </a:xfrm>
          <a:prstGeom prst="roundRect">
            <a:avLst>
              <a:gd name="adj" fmla="val 13158"/>
            </a:avLst>
          </a:prstGeom>
          <a:solidFill>
            <a:srgbClr val="00B4D8"/>
          </a:solidFill>
          <a:ln/>
        </p:spPr>
        <p:txBody>
          <a:bodyPr/>
          <a:lstStyle/>
          <a:p>
            <a:endParaRPr lang="en-IN"/>
          </a:p>
        </p:txBody>
      </p:sp>
      <p:sp>
        <p:nvSpPr>
          <p:cNvPr id="17" name="Text 15"/>
          <p:cNvSpPr/>
          <p:nvPr/>
        </p:nvSpPr>
        <p:spPr>
          <a:xfrm>
            <a:off x="457200" y="2825496"/>
            <a:ext cx="347472" cy="384048"/>
          </a:xfrm>
          <a:prstGeom prst="rect">
            <a:avLst/>
          </a:prstGeom>
          <a:noFill/>
          <a:ln/>
        </p:spPr>
        <p:txBody>
          <a:bodyPr wrap="square" lIns="0" tIns="0" rIns="0" bIns="0" rtlCol="0" anchor="ctr"/>
          <a:lstStyle/>
          <a:p>
            <a:pPr marL="0" indent="0" algn="ctr">
              <a:buNone/>
            </a:pPr>
            <a:r>
              <a:rPr lang="en-US" sz="900" b="1" dirty="0">
                <a:solidFill>
                  <a:srgbClr val="0D1B2A"/>
                </a:solidFill>
              </a:rPr>
              <a:t>03</a:t>
            </a:r>
            <a:endParaRPr lang="en-US" sz="900" dirty="0"/>
          </a:p>
        </p:txBody>
      </p:sp>
      <p:sp>
        <p:nvSpPr>
          <p:cNvPr id="18" name="Text 16"/>
          <p:cNvSpPr/>
          <p:nvPr/>
        </p:nvSpPr>
        <p:spPr>
          <a:xfrm>
            <a:off x="914400" y="2843784"/>
            <a:ext cx="3291840" cy="201168"/>
          </a:xfrm>
          <a:prstGeom prst="rect">
            <a:avLst/>
          </a:prstGeom>
          <a:noFill/>
          <a:ln/>
        </p:spPr>
        <p:txBody>
          <a:bodyPr wrap="square" lIns="0" tIns="0" rIns="0" bIns="0" rtlCol="0" anchor="ctr"/>
          <a:lstStyle/>
          <a:p>
            <a:pPr marL="0" indent="0">
              <a:buNone/>
            </a:pPr>
            <a:r>
              <a:rPr lang="en-US" sz="1100" b="1" dirty="0">
                <a:solidFill>
                  <a:srgbClr val="FFFFFF"/>
                </a:solidFill>
              </a:rPr>
              <a:t>Job Description Analysis</a:t>
            </a:r>
            <a:endParaRPr lang="en-US" sz="1100" dirty="0"/>
          </a:p>
        </p:txBody>
      </p:sp>
      <p:sp>
        <p:nvSpPr>
          <p:cNvPr id="19" name="Text 17"/>
          <p:cNvSpPr/>
          <p:nvPr/>
        </p:nvSpPr>
        <p:spPr>
          <a:xfrm>
            <a:off x="914400" y="3044952"/>
            <a:ext cx="3291840" cy="164592"/>
          </a:xfrm>
          <a:prstGeom prst="rect">
            <a:avLst/>
          </a:prstGeom>
          <a:noFill/>
          <a:ln/>
        </p:spPr>
        <p:txBody>
          <a:bodyPr wrap="square" lIns="0" tIns="0" rIns="0" bIns="0" rtlCol="0" anchor="ctr"/>
          <a:lstStyle/>
          <a:p>
            <a:pPr marL="0" indent="0">
              <a:buNone/>
            </a:pPr>
            <a:r>
              <a:rPr lang="en-US" sz="950" dirty="0">
                <a:solidFill>
                  <a:srgbClr val="AACCEE"/>
                </a:solidFill>
              </a:rPr>
              <a:t>Parse requirements from job posting</a:t>
            </a:r>
            <a:endParaRPr lang="en-US" sz="950" dirty="0"/>
          </a:p>
        </p:txBody>
      </p:sp>
      <p:sp>
        <p:nvSpPr>
          <p:cNvPr id="20" name="Shape 18"/>
          <p:cNvSpPr/>
          <p:nvPr/>
        </p:nvSpPr>
        <p:spPr>
          <a:xfrm>
            <a:off x="612648" y="3209544"/>
            <a:ext cx="0" cy="228600"/>
          </a:xfrm>
          <a:prstGeom prst="line">
            <a:avLst/>
          </a:prstGeom>
          <a:noFill/>
          <a:ln w="19050">
            <a:solidFill>
              <a:srgbClr val="00B4D8"/>
            </a:solidFill>
            <a:prstDash val="solid"/>
          </a:ln>
        </p:spPr>
        <p:txBody>
          <a:bodyPr/>
          <a:lstStyle/>
          <a:p>
            <a:endParaRPr lang="en-IN"/>
          </a:p>
        </p:txBody>
      </p:sp>
      <p:sp>
        <p:nvSpPr>
          <p:cNvPr id="21" name="Shape 19"/>
          <p:cNvSpPr/>
          <p:nvPr/>
        </p:nvSpPr>
        <p:spPr>
          <a:xfrm>
            <a:off x="457200" y="3438144"/>
            <a:ext cx="347472" cy="384048"/>
          </a:xfrm>
          <a:prstGeom prst="roundRect">
            <a:avLst>
              <a:gd name="adj" fmla="val 13158"/>
            </a:avLst>
          </a:prstGeom>
          <a:solidFill>
            <a:srgbClr val="00B4D8"/>
          </a:solidFill>
          <a:ln/>
        </p:spPr>
        <p:txBody>
          <a:bodyPr/>
          <a:lstStyle/>
          <a:p>
            <a:endParaRPr lang="en-IN"/>
          </a:p>
        </p:txBody>
      </p:sp>
      <p:sp>
        <p:nvSpPr>
          <p:cNvPr id="22" name="Text 20"/>
          <p:cNvSpPr/>
          <p:nvPr/>
        </p:nvSpPr>
        <p:spPr>
          <a:xfrm>
            <a:off x="457200" y="3438144"/>
            <a:ext cx="347472" cy="384048"/>
          </a:xfrm>
          <a:prstGeom prst="rect">
            <a:avLst/>
          </a:prstGeom>
          <a:noFill/>
          <a:ln/>
        </p:spPr>
        <p:txBody>
          <a:bodyPr wrap="square" lIns="0" tIns="0" rIns="0" bIns="0" rtlCol="0" anchor="ctr"/>
          <a:lstStyle/>
          <a:p>
            <a:pPr marL="0" indent="0" algn="ctr">
              <a:buNone/>
            </a:pPr>
            <a:r>
              <a:rPr lang="en-US" sz="900" b="1" dirty="0">
                <a:solidFill>
                  <a:srgbClr val="0D1B2A"/>
                </a:solidFill>
              </a:rPr>
              <a:t>04</a:t>
            </a:r>
            <a:endParaRPr lang="en-US" sz="900" dirty="0"/>
          </a:p>
        </p:txBody>
      </p:sp>
      <p:sp>
        <p:nvSpPr>
          <p:cNvPr id="23" name="Text 21"/>
          <p:cNvSpPr/>
          <p:nvPr/>
        </p:nvSpPr>
        <p:spPr>
          <a:xfrm>
            <a:off x="914400" y="3456432"/>
            <a:ext cx="3291840" cy="201168"/>
          </a:xfrm>
          <a:prstGeom prst="rect">
            <a:avLst/>
          </a:prstGeom>
          <a:noFill/>
          <a:ln/>
        </p:spPr>
        <p:txBody>
          <a:bodyPr wrap="square" lIns="0" tIns="0" rIns="0" bIns="0" rtlCol="0" anchor="ctr"/>
          <a:lstStyle/>
          <a:p>
            <a:pPr marL="0" indent="0">
              <a:buNone/>
            </a:pPr>
            <a:r>
              <a:rPr lang="en-US" sz="1100" b="1" dirty="0">
                <a:solidFill>
                  <a:srgbClr val="FFFFFF"/>
                </a:solidFill>
              </a:rPr>
              <a:t>Fit Score Generation</a:t>
            </a:r>
            <a:endParaRPr lang="en-US" sz="1100" dirty="0"/>
          </a:p>
        </p:txBody>
      </p:sp>
      <p:sp>
        <p:nvSpPr>
          <p:cNvPr id="24" name="Text 22"/>
          <p:cNvSpPr/>
          <p:nvPr/>
        </p:nvSpPr>
        <p:spPr>
          <a:xfrm>
            <a:off x="914400" y="3657600"/>
            <a:ext cx="3291840" cy="164592"/>
          </a:xfrm>
          <a:prstGeom prst="rect">
            <a:avLst/>
          </a:prstGeom>
          <a:noFill/>
          <a:ln/>
        </p:spPr>
        <p:txBody>
          <a:bodyPr wrap="square" lIns="0" tIns="0" rIns="0" bIns="0" rtlCol="0" anchor="ctr"/>
          <a:lstStyle/>
          <a:p>
            <a:pPr marL="0" indent="0">
              <a:buNone/>
            </a:pPr>
            <a:r>
              <a:rPr lang="en-US" sz="950" dirty="0">
                <a:solidFill>
                  <a:srgbClr val="AACCEE"/>
                </a:solidFill>
              </a:rPr>
              <a:t>AI scores candidate against JD</a:t>
            </a:r>
            <a:endParaRPr lang="en-US" sz="950" dirty="0"/>
          </a:p>
        </p:txBody>
      </p:sp>
      <p:sp>
        <p:nvSpPr>
          <p:cNvPr id="25" name="Shape 23"/>
          <p:cNvSpPr/>
          <p:nvPr/>
        </p:nvSpPr>
        <p:spPr>
          <a:xfrm>
            <a:off x="612648" y="3822192"/>
            <a:ext cx="0" cy="228600"/>
          </a:xfrm>
          <a:prstGeom prst="line">
            <a:avLst/>
          </a:prstGeom>
          <a:noFill/>
          <a:ln w="19050">
            <a:solidFill>
              <a:srgbClr val="00B4D8"/>
            </a:solidFill>
            <a:prstDash val="solid"/>
          </a:ln>
        </p:spPr>
        <p:txBody>
          <a:bodyPr/>
          <a:lstStyle/>
          <a:p>
            <a:endParaRPr lang="en-IN"/>
          </a:p>
        </p:txBody>
      </p:sp>
      <p:sp>
        <p:nvSpPr>
          <p:cNvPr id="26" name="Shape 24"/>
          <p:cNvSpPr/>
          <p:nvPr/>
        </p:nvSpPr>
        <p:spPr>
          <a:xfrm>
            <a:off x="457200" y="4050792"/>
            <a:ext cx="347472" cy="384048"/>
          </a:xfrm>
          <a:prstGeom prst="roundRect">
            <a:avLst>
              <a:gd name="adj" fmla="val 13158"/>
            </a:avLst>
          </a:prstGeom>
          <a:solidFill>
            <a:srgbClr val="00B4D8"/>
          </a:solidFill>
          <a:ln/>
        </p:spPr>
        <p:txBody>
          <a:bodyPr/>
          <a:lstStyle/>
          <a:p>
            <a:endParaRPr lang="en-IN"/>
          </a:p>
        </p:txBody>
      </p:sp>
      <p:sp>
        <p:nvSpPr>
          <p:cNvPr id="27" name="Text 25"/>
          <p:cNvSpPr/>
          <p:nvPr/>
        </p:nvSpPr>
        <p:spPr>
          <a:xfrm>
            <a:off x="457200" y="4050792"/>
            <a:ext cx="347472" cy="384048"/>
          </a:xfrm>
          <a:prstGeom prst="rect">
            <a:avLst/>
          </a:prstGeom>
          <a:noFill/>
          <a:ln/>
        </p:spPr>
        <p:txBody>
          <a:bodyPr wrap="square" lIns="0" tIns="0" rIns="0" bIns="0" rtlCol="0" anchor="ctr"/>
          <a:lstStyle/>
          <a:p>
            <a:pPr marL="0" indent="0" algn="ctr">
              <a:buNone/>
            </a:pPr>
            <a:r>
              <a:rPr lang="en-US" sz="900" b="1" dirty="0">
                <a:solidFill>
                  <a:srgbClr val="0D1B2A"/>
                </a:solidFill>
              </a:rPr>
              <a:t>05</a:t>
            </a:r>
            <a:endParaRPr lang="en-US" sz="900" dirty="0"/>
          </a:p>
        </p:txBody>
      </p:sp>
      <p:sp>
        <p:nvSpPr>
          <p:cNvPr id="28" name="Text 26"/>
          <p:cNvSpPr/>
          <p:nvPr/>
        </p:nvSpPr>
        <p:spPr>
          <a:xfrm>
            <a:off x="914400" y="4069080"/>
            <a:ext cx="3291840" cy="201168"/>
          </a:xfrm>
          <a:prstGeom prst="rect">
            <a:avLst/>
          </a:prstGeom>
          <a:noFill/>
          <a:ln/>
        </p:spPr>
        <p:txBody>
          <a:bodyPr wrap="square" lIns="0" tIns="0" rIns="0" bIns="0" rtlCol="0" anchor="ctr"/>
          <a:lstStyle/>
          <a:p>
            <a:pPr marL="0" indent="0">
              <a:buNone/>
            </a:pPr>
            <a:r>
              <a:rPr lang="en-US" sz="1100" b="1" dirty="0">
                <a:solidFill>
                  <a:srgbClr val="FFFFFF"/>
                </a:solidFill>
              </a:rPr>
              <a:t>Threshold Decision</a:t>
            </a:r>
            <a:endParaRPr lang="en-US" sz="1100" dirty="0"/>
          </a:p>
        </p:txBody>
      </p:sp>
      <p:sp>
        <p:nvSpPr>
          <p:cNvPr id="29" name="Text 27"/>
          <p:cNvSpPr/>
          <p:nvPr/>
        </p:nvSpPr>
        <p:spPr>
          <a:xfrm>
            <a:off x="914400" y="4270248"/>
            <a:ext cx="3291840" cy="164592"/>
          </a:xfrm>
          <a:prstGeom prst="rect">
            <a:avLst/>
          </a:prstGeom>
          <a:noFill/>
          <a:ln/>
        </p:spPr>
        <p:txBody>
          <a:bodyPr wrap="square" lIns="0" tIns="0" rIns="0" bIns="0" rtlCol="0" anchor="ctr"/>
          <a:lstStyle/>
          <a:p>
            <a:pPr marL="0" indent="0">
              <a:buNone/>
            </a:pPr>
            <a:r>
              <a:rPr lang="en-US" sz="950" dirty="0">
                <a:solidFill>
                  <a:srgbClr val="AACCEE"/>
                </a:solidFill>
              </a:rPr>
              <a:t>≥ threshold → invite, else → end</a:t>
            </a:r>
            <a:endParaRPr lang="en-US" sz="950" dirty="0"/>
          </a:p>
        </p:txBody>
      </p:sp>
      <p:sp>
        <p:nvSpPr>
          <p:cNvPr id="30" name="Shape 28"/>
          <p:cNvSpPr/>
          <p:nvPr/>
        </p:nvSpPr>
        <p:spPr>
          <a:xfrm>
            <a:off x="4754880" y="822960"/>
            <a:ext cx="4114800" cy="4023360"/>
          </a:xfrm>
          <a:prstGeom prst="roundRect">
            <a:avLst>
              <a:gd name="adj" fmla="val 2727"/>
            </a:avLst>
          </a:prstGeom>
          <a:solidFill>
            <a:srgbClr val="2A1A4A"/>
          </a:solidFill>
          <a:ln/>
          <a:effectLst>
            <a:outerShdw blurRad="101600" dist="38100" dir="2700000" algn="bl" rotWithShape="0">
              <a:srgbClr val="000000">
                <a:alpha val="10000"/>
              </a:srgbClr>
            </a:outerShdw>
          </a:effectLst>
        </p:spPr>
        <p:txBody>
          <a:bodyPr/>
          <a:lstStyle/>
          <a:p>
            <a:endParaRPr lang="en-IN"/>
          </a:p>
        </p:txBody>
      </p:sp>
      <p:sp>
        <p:nvSpPr>
          <p:cNvPr id="31" name="Text 29"/>
          <p:cNvSpPr/>
          <p:nvPr/>
        </p:nvSpPr>
        <p:spPr>
          <a:xfrm>
            <a:off x="4937760" y="868680"/>
            <a:ext cx="3749040" cy="384048"/>
          </a:xfrm>
          <a:prstGeom prst="rect">
            <a:avLst/>
          </a:prstGeom>
          <a:noFill/>
          <a:ln/>
        </p:spPr>
        <p:txBody>
          <a:bodyPr wrap="square" lIns="0" tIns="0" rIns="0" bIns="0" rtlCol="0" anchor="ctr"/>
          <a:lstStyle/>
          <a:p>
            <a:pPr marL="0" indent="0">
              <a:buNone/>
            </a:pPr>
            <a:r>
              <a:rPr lang="en-US" sz="1300" b="1" dirty="0">
                <a:solidFill>
                  <a:srgbClr val="F4A261"/>
                </a:solidFill>
              </a:rPr>
              <a:t>🎙 Voice Interview Workflow</a:t>
            </a:r>
            <a:endParaRPr lang="en-US" sz="1300" dirty="0"/>
          </a:p>
        </p:txBody>
      </p:sp>
      <p:sp>
        <p:nvSpPr>
          <p:cNvPr id="32" name="Text 30"/>
          <p:cNvSpPr/>
          <p:nvPr/>
        </p:nvSpPr>
        <p:spPr>
          <a:xfrm>
            <a:off x="4937760" y="1234440"/>
            <a:ext cx="3749040" cy="256032"/>
          </a:xfrm>
          <a:prstGeom prst="rect">
            <a:avLst/>
          </a:prstGeom>
          <a:noFill/>
          <a:ln/>
        </p:spPr>
        <p:txBody>
          <a:bodyPr wrap="square" lIns="0" tIns="0" rIns="0" bIns="0" rtlCol="0" anchor="ctr"/>
          <a:lstStyle/>
          <a:p>
            <a:pPr marL="0" indent="0">
              <a:buNone/>
            </a:pPr>
            <a:r>
              <a:rPr lang="en-US" sz="1000" dirty="0">
                <a:solidFill>
                  <a:srgbClr val="CCAAEE"/>
                </a:solidFill>
              </a:rPr>
              <a:t>Groq Whisper · Llama 3 · Orpheus TTS</a:t>
            </a:r>
            <a:endParaRPr lang="en-US" sz="1000" dirty="0"/>
          </a:p>
        </p:txBody>
      </p:sp>
      <p:sp>
        <p:nvSpPr>
          <p:cNvPr id="33" name="Shape 31"/>
          <p:cNvSpPr/>
          <p:nvPr/>
        </p:nvSpPr>
        <p:spPr>
          <a:xfrm>
            <a:off x="4937760" y="1600200"/>
            <a:ext cx="347472" cy="384048"/>
          </a:xfrm>
          <a:prstGeom prst="roundRect">
            <a:avLst>
              <a:gd name="adj" fmla="val 13158"/>
            </a:avLst>
          </a:prstGeom>
          <a:solidFill>
            <a:srgbClr val="F4A261"/>
          </a:solidFill>
          <a:ln/>
        </p:spPr>
        <p:txBody>
          <a:bodyPr/>
          <a:lstStyle/>
          <a:p>
            <a:endParaRPr lang="en-IN"/>
          </a:p>
        </p:txBody>
      </p:sp>
      <p:sp>
        <p:nvSpPr>
          <p:cNvPr id="34" name="Text 32"/>
          <p:cNvSpPr/>
          <p:nvPr/>
        </p:nvSpPr>
        <p:spPr>
          <a:xfrm>
            <a:off x="4937760" y="1600200"/>
            <a:ext cx="347472" cy="384048"/>
          </a:xfrm>
          <a:prstGeom prst="rect">
            <a:avLst/>
          </a:prstGeom>
          <a:noFill/>
          <a:ln/>
        </p:spPr>
        <p:txBody>
          <a:bodyPr wrap="square" lIns="0" tIns="0" rIns="0" bIns="0" rtlCol="0" anchor="ctr"/>
          <a:lstStyle/>
          <a:p>
            <a:pPr marL="0" indent="0" algn="ctr">
              <a:buNone/>
            </a:pPr>
            <a:r>
              <a:rPr lang="en-US" sz="900" b="1" dirty="0">
                <a:solidFill>
                  <a:srgbClr val="0D1B2A"/>
                </a:solidFill>
              </a:rPr>
              <a:t>01</a:t>
            </a:r>
            <a:endParaRPr lang="en-US" sz="900" dirty="0"/>
          </a:p>
        </p:txBody>
      </p:sp>
      <p:sp>
        <p:nvSpPr>
          <p:cNvPr id="35" name="Text 33"/>
          <p:cNvSpPr/>
          <p:nvPr/>
        </p:nvSpPr>
        <p:spPr>
          <a:xfrm>
            <a:off x="5394960" y="1618488"/>
            <a:ext cx="3291840" cy="201168"/>
          </a:xfrm>
          <a:prstGeom prst="rect">
            <a:avLst/>
          </a:prstGeom>
          <a:noFill/>
          <a:ln/>
        </p:spPr>
        <p:txBody>
          <a:bodyPr wrap="square" lIns="0" tIns="0" rIns="0" bIns="0" rtlCol="0" anchor="ctr"/>
          <a:lstStyle/>
          <a:p>
            <a:pPr marL="0" indent="0">
              <a:buNone/>
            </a:pPr>
            <a:r>
              <a:rPr lang="en-US" sz="1100" b="1" dirty="0">
                <a:solidFill>
                  <a:srgbClr val="FFFFFF"/>
                </a:solidFill>
              </a:rPr>
              <a:t>Candidate Speaks</a:t>
            </a:r>
            <a:endParaRPr lang="en-US" sz="1100" dirty="0"/>
          </a:p>
        </p:txBody>
      </p:sp>
      <p:sp>
        <p:nvSpPr>
          <p:cNvPr id="36" name="Text 34"/>
          <p:cNvSpPr/>
          <p:nvPr/>
        </p:nvSpPr>
        <p:spPr>
          <a:xfrm>
            <a:off x="5394960" y="1819656"/>
            <a:ext cx="3291840" cy="164592"/>
          </a:xfrm>
          <a:prstGeom prst="rect">
            <a:avLst/>
          </a:prstGeom>
          <a:noFill/>
          <a:ln/>
        </p:spPr>
        <p:txBody>
          <a:bodyPr wrap="square" lIns="0" tIns="0" rIns="0" bIns="0" rtlCol="0" anchor="ctr"/>
          <a:lstStyle/>
          <a:p>
            <a:pPr marL="0" indent="0">
              <a:buNone/>
            </a:pPr>
            <a:r>
              <a:rPr lang="en-US" sz="950" dirty="0">
                <a:solidFill>
                  <a:srgbClr val="CCAAEE"/>
                </a:solidFill>
              </a:rPr>
              <a:t>Audio captured in browser</a:t>
            </a:r>
            <a:endParaRPr lang="en-US" sz="950" dirty="0"/>
          </a:p>
        </p:txBody>
      </p:sp>
      <p:sp>
        <p:nvSpPr>
          <p:cNvPr id="37" name="Shape 35"/>
          <p:cNvSpPr/>
          <p:nvPr/>
        </p:nvSpPr>
        <p:spPr>
          <a:xfrm>
            <a:off x="5093208" y="1984248"/>
            <a:ext cx="0" cy="228600"/>
          </a:xfrm>
          <a:prstGeom prst="line">
            <a:avLst/>
          </a:prstGeom>
          <a:noFill/>
          <a:ln w="19050">
            <a:solidFill>
              <a:srgbClr val="F4A261"/>
            </a:solidFill>
            <a:prstDash val="solid"/>
          </a:ln>
        </p:spPr>
        <p:txBody>
          <a:bodyPr/>
          <a:lstStyle/>
          <a:p>
            <a:endParaRPr lang="en-IN"/>
          </a:p>
        </p:txBody>
      </p:sp>
      <p:sp>
        <p:nvSpPr>
          <p:cNvPr id="38" name="Shape 36"/>
          <p:cNvSpPr/>
          <p:nvPr/>
        </p:nvSpPr>
        <p:spPr>
          <a:xfrm>
            <a:off x="4937760" y="2212848"/>
            <a:ext cx="347472" cy="384048"/>
          </a:xfrm>
          <a:prstGeom prst="roundRect">
            <a:avLst>
              <a:gd name="adj" fmla="val 13158"/>
            </a:avLst>
          </a:prstGeom>
          <a:solidFill>
            <a:srgbClr val="F4A261"/>
          </a:solidFill>
          <a:ln/>
        </p:spPr>
        <p:txBody>
          <a:bodyPr/>
          <a:lstStyle/>
          <a:p>
            <a:endParaRPr lang="en-IN"/>
          </a:p>
        </p:txBody>
      </p:sp>
      <p:sp>
        <p:nvSpPr>
          <p:cNvPr id="39" name="Text 37"/>
          <p:cNvSpPr/>
          <p:nvPr/>
        </p:nvSpPr>
        <p:spPr>
          <a:xfrm>
            <a:off x="4937760" y="2212848"/>
            <a:ext cx="347472" cy="384048"/>
          </a:xfrm>
          <a:prstGeom prst="rect">
            <a:avLst/>
          </a:prstGeom>
          <a:noFill/>
          <a:ln/>
        </p:spPr>
        <p:txBody>
          <a:bodyPr wrap="square" lIns="0" tIns="0" rIns="0" bIns="0" rtlCol="0" anchor="ctr"/>
          <a:lstStyle/>
          <a:p>
            <a:pPr marL="0" indent="0" algn="ctr">
              <a:buNone/>
            </a:pPr>
            <a:r>
              <a:rPr lang="en-US" sz="900" b="1" dirty="0">
                <a:solidFill>
                  <a:srgbClr val="0D1B2A"/>
                </a:solidFill>
              </a:rPr>
              <a:t>02</a:t>
            </a:r>
            <a:endParaRPr lang="en-US" sz="900" dirty="0"/>
          </a:p>
        </p:txBody>
      </p:sp>
      <p:sp>
        <p:nvSpPr>
          <p:cNvPr id="40" name="Text 38"/>
          <p:cNvSpPr/>
          <p:nvPr/>
        </p:nvSpPr>
        <p:spPr>
          <a:xfrm>
            <a:off x="5394960" y="2231136"/>
            <a:ext cx="3291840" cy="201168"/>
          </a:xfrm>
          <a:prstGeom prst="rect">
            <a:avLst/>
          </a:prstGeom>
          <a:noFill/>
          <a:ln/>
        </p:spPr>
        <p:txBody>
          <a:bodyPr wrap="square" lIns="0" tIns="0" rIns="0" bIns="0" rtlCol="0" anchor="ctr"/>
          <a:lstStyle/>
          <a:p>
            <a:pPr marL="0" indent="0">
              <a:buNone/>
            </a:pPr>
            <a:r>
              <a:rPr lang="en-US" sz="1100" b="1" dirty="0">
                <a:solidFill>
                  <a:srgbClr val="FFFFFF"/>
                </a:solidFill>
              </a:rPr>
              <a:t>Groq Whisper STT</a:t>
            </a:r>
            <a:endParaRPr lang="en-US" sz="1100" dirty="0"/>
          </a:p>
        </p:txBody>
      </p:sp>
      <p:sp>
        <p:nvSpPr>
          <p:cNvPr id="41" name="Text 39"/>
          <p:cNvSpPr/>
          <p:nvPr/>
        </p:nvSpPr>
        <p:spPr>
          <a:xfrm>
            <a:off x="5394960" y="2432304"/>
            <a:ext cx="3291840" cy="164592"/>
          </a:xfrm>
          <a:prstGeom prst="rect">
            <a:avLst/>
          </a:prstGeom>
          <a:noFill/>
          <a:ln/>
        </p:spPr>
        <p:txBody>
          <a:bodyPr wrap="square" lIns="0" tIns="0" rIns="0" bIns="0" rtlCol="0" anchor="ctr"/>
          <a:lstStyle/>
          <a:p>
            <a:pPr marL="0" indent="0">
              <a:buNone/>
            </a:pPr>
            <a:r>
              <a:rPr lang="en-US" sz="950" dirty="0">
                <a:solidFill>
                  <a:srgbClr val="CCAAEE"/>
                </a:solidFill>
              </a:rPr>
              <a:t>Speech → text transcription</a:t>
            </a:r>
            <a:endParaRPr lang="en-US" sz="950" dirty="0"/>
          </a:p>
        </p:txBody>
      </p:sp>
      <p:sp>
        <p:nvSpPr>
          <p:cNvPr id="42" name="Shape 40"/>
          <p:cNvSpPr/>
          <p:nvPr/>
        </p:nvSpPr>
        <p:spPr>
          <a:xfrm>
            <a:off x="5093208" y="2596896"/>
            <a:ext cx="0" cy="228600"/>
          </a:xfrm>
          <a:prstGeom prst="line">
            <a:avLst/>
          </a:prstGeom>
          <a:noFill/>
          <a:ln w="19050">
            <a:solidFill>
              <a:srgbClr val="F4A261"/>
            </a:solidFill>
            <a:prstDash val="solid"/>
          </a:ln>
        </p:spPr>
        <p:txBody>
          <a:bodyPr/>
          <a:lstStyle/>
          <a:p>
            <a:endParaRPr lang="en-IN"/>
          </a:p>
        </p:txBody>
      </p:sp>
      <p:sp>
        <p:nvSpPr>
          <p:cNvPr id="43" name="Shape 41"/>
          <p:cNvSpPr/>
          <p:nvPr/>
        </p:nvSpPr>
        <p:spPr>
          <a:xfrm>
            <a:off x="4937760" y="2825496"/>
            <a:ext cx="347472" cy="384048"/>
          </a:xfrm>
          <a:prstGeom prst="roundRect">
            <a:avLst>
              <a:gd name="adj" fmla="val 13158"/>
            </a:avLst>
          </a:prstGeom>
          <a:solidFill>
            <a:srgbClr val="F4A261"/>
          </a:solidFill>
          <a:ln/>
        </p:spPr>
        <p:txBody>
          <a:bodyPr/>
          <a:lstStyle/>
          <a:p>
            <a:endParaRPr lang="en-IN"/>
          </a:p>
        </p:txBody>
      </p:sp>
      <p:sp>
        <p:nvSpPr>
          <p:cNvPr id="44" name="Text 42"/>
          <p:cNvSpPr/>
          <p:nvPr/>
        </p:nvSpPr>
        <p:spPr>
          <a:xfrm>
            <a:off x="4937760" y="2825496"/>
            <a:ext cx="347472" cy="384048"/>
          </a:xfrm>
          <a:prstGeom prst="rect">
            <a:avLst/>
          </a:prstGeom>
          <a:noFill/>
          <a:ln/>
        </p:spPr>
        <p:txBody>
          <a:bodyPr wrap="square" lIns="0" tIns="0" rIns="0" bIns="0" rtlCol="0" anchor="ctr"/>
          <a:lstStyle/>
          <a:p>
            <a:pPr marL="0" indent="0" algn="ctr">
              <a:buNone/>
            </a:pPr>
            <a:r>
              <a:rPr lang="en-US" sz="900" b="1" dirty="0">
                <a:solidFill>
                  <a:srgbClr val="0D1B2A"/>
                </a:solidFill>
              </a:rPr>
              <a:t>03</a:t>
            </a:r>
            <a:endParaRPr lang="en-US" sz="900" dirty="0"/>
          </a:p>
        </p:txBody>
      </p:sp>
      <p:sp>
        <p:nvSpPr>
          <p:cNvPr id="45" name="Text 43"/>
          <p:cNvSpPr/>
          <p:nvPr/>
        </p:nvSpPr>
        <p:spPr>
          <a:xfrm>
            <a:off x="5394960" y="2843784"/>
            <a:ext cx="3291840" cy="201168"/>
          </a:xfrm>
          <a:prstGeom prst="rect">
            <a:avLst/>
          </a:prstGeom>
          <a:noFill/>
          <a:ln/>
        </p:spPr>
        <p:txBody>
          <a:bodyPr wrap="square" lIns="0" tIns="0" rIns="0" bIns="0" rtlCol="0" anchor="ctr"/>
          <a:lstStyle/>
          <a:p>
            <a:pPr marL="0" indent="0">
              <a:buNone/>
            </a:pPr>
            <a:r>
              <a:rPr lang="en-US" sz="1100" b="1" dirty="0">
                <a:solidFill>
                  <a:srgbClr val="FFFFFF"/>
                </a:solidFill>
              </a:rPr>
              <a:t>Llama LLM Assessment</a:t>
            </a:r>
            <a:endParaRPr lang="en-US" sz="1100" dirty="0"/>
          </a:p>
        </p:txBody>
      </p:sp>
      <p:sp>
        <p:nvSpPr>
          <p:cNvPr id="46" name="Text 44"/>
          <p:cNvSpPr/>
          <p:nvPr/>
        </p:nvSpPr>
        <p:spPr>
          <a:xfrm>
            <a:off x="5394960" y="3044952"/>
            <a:ext cx="3291840" cy="164592"/>
          </a:xfrm>
          <a:prstGeom prst="rect">
            <a:avLst/>
          </a:prstGeom>
          <a:noFill/>
          <a:ln/>
        </p:spPr>
        <p:txBody>
          <a:bodyPr wrap="square" lIns="0" tIns="0" rIns="0" bIns="0" rtlCol="0" anchor="ctr"/>
          <a:lstStyle/>
          <a:p>
            <a:pPr marL="0" indent="0">
              <a:buNone/>
            </a:pPr>
            <a:r>
              <a:rPr lang="en-US" sz="950" dirty="0">
                <a:solidFill>
                  <a:srgbClr val="CCAAEE"/>
                </a:solidFill>
              </a:rPr>
              <a:t>Evaluate answer, generate next Q</a:t>
            </a:r>
            <a:endParaRPr lang="en-US" sz="950" dirty="0"/>
          </a:p>
        </p:txBody>
      </p:sp>
      <p:sp>
        <p:nvSpPr>
          <p:cNvPr id="47" name="Shape 45"/>
          <p:cNvSpPr/>
          <p:nvPr/>
        </p:nvSpPr>
        <p:spPr>
          <a:xfrm>
            <a:off x="5093208" y="3209544"/>
            <a:ext cx="0" cy="228600"/>
          </a:xfrm>
          <a:prstGeom prst="line">
            <a:avLst/>
          </a:prstGeom>
          <a:noFill/>
          <a:ln w="19050">
            <a:solidFill>
              <a:srgbClr val="F4A261"/>
            </a:solidFill>
            <a:prstDash val="solid"/>
          </a:ln>
        </p:spPr>
        <p:txBody>
          <a:bodyPr/>
          <a:lstStyle/>
          <a:p>
            <a:endParaRPr lang="en-IN"/>
          </a:p>
        </p:txBody>
      </p:sp>
      <p:sp>
        <p:nvSpPr>
          <p:cNvPr id="48" name="Shape 46"/>
          <p:cNvSpPr/>
          <p:nvPr/>
        </p:nvSpPr>
        <p:spPr>
          <a:xfrm>
            <a:off x="4937760" y="3438144"/>
            <a:ext cx="347472" cy="384048"/>
          </a:xfrm>
          <a:prstGeom prst="roundRect">
            <a:avLst>
              <a:gd name="adj" fmla="val 13158"/>
            </a:avLst>
          </a:prstGeom>
          <a:solidFill>
            <a:srgbClr val="F4A261"/>
          </a:solidFill>
          <a:ln/>
        </p:spPr>
        <p:txBody>
          <a:bodyPr/>
          <a:lstStyle/>
          <a:p>
            <a:endParaRPr lang="en-IN"/>
          </a:p>
        </p:txBody>
      </p:sp>
      <p:sp>
        <p:nvSpPr>
          <p:cNvPr id="49" name="Text 47"/>
          <p:cNvSpPr/>
          <p:nvPr/>
        </p:nvSpPr>
        <p:spPr>
          <a:xfrm>
            <a:off x="4937760" y="3438144"/>
            <a:ext cx="347472" cy="384048"/>
          </a:xfrm>
          <a:prstGeom prst="rect">
            <a:avLst/>
          </a:prstGeom>
          <a:noFill/>
          <a:ln/>
        </p:spPr>
        <p:txBody>
          <a:bodyPr wrap="square" lIns="0" tIns="0" rIns="0" bIns="0" rtlCol="0" anchor="ctr"/>
          <a:lstStyle/>
          <a:p>
            <a:pPr marL="0" indent="0" algn="ctr">
              <a:buNone/>
            </a:pPr>
            <a:r>
              <a:rPr lang="en-US" sz="900" b="1" dirty="0">
                <a:solidFill>
                  <a:srgbClr val="0D1B2A"/>
                </a:solidFill>
              </a:rPr>
              <a:t>04</a:t>
            </a:r>
            <a:endParaRPr lang="en-US" sz="900" dirty="0"/>
          </a:p>
        </p:txBody>
      </p:sp>
      <p:sp>
        <p:nvSpPr>
          <p:cNvPr id="50" name="Text 48"/>
          <p:cNvSpPr/>
          <p:nvPr/>
        </p:nvSpPr>
        <p:spPr>
          <a:xfrm>
            <a:off x="5394960" y="3456432"/>
            <a:ext cx="3291840" cy="201168"/>
          </a:xfrm>
          <a:prstGeom prst="rect">
            <a:avLst/>
          </a:prstGeom>
          <a:noFill/>
          <a:ln/>
        </p:spPr>
        <p:txBody>
          <a:bodyPr wrap="square" lIns="0" tIns="0" rIns="0" bIns="0" rtlCol="0" anchor="ctr"/>
          <a:lstStyle/>
          <a:p>
            <a:pPr marL="0" indent="0">
              <a:buNone/>
            </a:pPr>
            <a:r>
              <a:rPr lang="en-US" sz="1100" b="1" dirty="0">
                <a:solidFill>
                  <a:srgbClr val="FFFFFF"/>
                </a:solidFill>
              </a:rPr>
              <a:t>Orpheus TTS Response</a:t>
            </a:r>
            <a:endParaRPr lang="en-US" sz="1100" dirty="0"/>
          </a:p>
        </p:txBody>
      </p:sp>
      <p:sp>
        <p:nvSpPr>
          <p:cNvPr id="51" name="Text 49"/>
          <p:cNvSpPr/>
          <p:nvPr/>
        </p:nvSpPr>
        <p:spPr>
          <a:xfrm>
            <a:off x="5394960" y="3657600"/>
            <a:ext cx="3291840" cy="164592"/>
          </a:xfrm>
          <a:prstGeom prst="rect">
            <a:avLst/>
          </a:prstGeom>
          <a:noFill/>
          <a:ln/>
        </p:spPr>
        <p:txBody>
          <a:bodyPr wrap="square" lIns="0" tIns="0" rIns="0" bIns="0" rtlCol="0" anchor="ctr"/>
          <a:lstStyle/>
          <a:p>
            <a:pPr marL="0" indent="0">
              <a:buNone/>
            </a:pPr>
            <a:r>
              <a:rPr lang="en-US" sz="950" dirty="0">
                <a:solidFill>
                  <a:srgbClr val="CCAAEE"/>
                </a:solidFill>
              </a:rPr>
              <a:t>AI question delivered as voice</a:t>
            </a:r>
            <a:endParaRPr lang="en-US" sz="950" dirty="0"/>
          </a:p>
        </p:txBody>
      </p:sp>
      <p:sp>
        <p:nvSpPr>
          <p:cNvPr id="52" name="Shape 50"/>
          <p:cNvSpPr/>
          <p:nvPr/>
        </p:nvSpPr>
        <p:spPr>
          <a:xfrm>
            <a:off x="5093208" y="3822192"/>
            <a:ext cx="0" cy="228600"/>
          </a:xfrm>
          <a:prstGeom prst="line">
            <a:avLst/>
          </a:prstGeom>
          <a:noFill/>
          <a:ln w="19050">
            <a:solidFill>
              <a:srgbClr val="F4A261"/>
            </a:solidFill>
            <a:prstDash val="solid"/>
          </a:ln>
        </p:spPr>
        <p:txBody>
          <a:bodyPr/>
          <a:lstStyle/>
          <a:p>
            <a:endParaRPr lang="en-IN"/>
          </a:p>
        </p:txBody>
      </p:sp>
      <p:sp>
        <p:nvSpPr>
          <p:cNvPr id="53" name="Shape 51"/>
          <p:cNvSpPr/>
          <p:nvPr/>
        </p:nvSpPr>
        <p:spPr>
          <a:xfrm>
            <a:off x="4937760" y="4050792"/>
            <a:ext cx="347472" cy="384048"/>
          </a:xfrm>
          <a:prstGeom prst="roundRect">
            <a:avLst>
              <a:gd name="adj" fmla="val 13158"/>
            </a:avLst>
          </a:prstGeom>
          <a:solidFill>
            <a:srgbClr val="F4A261"/>
          </a:solidFill>
          <a:ln/>
        </p:spPr>
        <p:txBody>
          <a:bodyPr/>
          <a:lstStyle/>
          <a:p>
            <a:endParaRPr lang="en-IN"/>
          </a:p>
        </p:txBody>
      </p:sp>
      <p:sp>
        <p:nvSpPr>
          <p:cNvPr id="54" name="Text 52"/>
          <p:cNvSpPr/>
          <p:nvPr/>
        </p:nvSpPr>
        <p:spPr>
          <a:xfrm>
            <a:off x="4937760" y="4050792"/>
            <a:ext cx="347472" cy="384048"/>
          </a:xfrm>
          <a:prstGeom prst="rect">
            <a:avLst/>
          </a:prstGeom>
          <a:noFill/>
          <a:ln/>
        </p:spPr>
        <p:txBody>
          <a:bodyPr wrap="square" lIns="0" tIns="0" rIns="0" bIns="0" rtlCol="0" anchor="ctr"/>
          <a:lstStyle/>
          <a:p>
            <a:pPr marL="0" indent="0" algn="ctr">
              <a:buNone/>
            </a:pPr>
            <a:r>
              <a:rPr lang="en-US" sz="900" b="1" dirty="0">
                <a:solidFill>
                  <a:srgbClr val="0D1B2A"/>
                </a:solidFill>
              </a:rPr>
              <a:t>05</a:t>
            </a:r>
            <a:endParaRPr lang="en-US" sz="900" dirty="0"/>
          </a:p>
        </p:txBody>
      </p:sp>
      <p:sp>
        <p:nvSpPr>
          <p:cNvPr id="55" name="Text 53"/>
          <p:cNvSpPr/>
          <p:nvPr/>
        </p:nvSpPr>
        <p:spPr>
          <a:xfrm>
            <a:off x="5394960" y="4069080"/>
            <a:ext cx="3291840" cy="201168"/>
          </a:xfrm>
          <a:prstGeom prst="rect">
            <a:avLst/>
          </a:prstGeom>
          <a:noFill/>
          <a:ln/>
        </p:spPr>
        <p:txBody>
          <a:bodyPr wrap="square" lIns="0" tIns="0" rIns="0" bIns="0" rtlCol="0" anchor="ctr"/>
          <a:lstStyle/>
          <a:p>
            <a:pPr marL="0" indent="0">
              <a:buNone/>
            </a:pPr>
            <a:r>
              <a:rPr lang="en-US" sz="1100" b="1" dirty="0">
                <a:solidFill>
                  <a:srgbClr val="FFFFFF"/>
                </a:solidFill>
              </a:rPr>
              <a:t>Final Assessment Stored</a:t>
            </a:r>
            <a:endParaRPr lang="en-US" sz="1100" dirty="0"/>
          </a:p>
        </p:txBody>
      </p:sp>
      <p:sp>
        <p:nvSpPr>
          <p:cNvPr id="56" name="Text 54"/>
          <p:cNvSpPr/>
          <p:nvPr/>
        </p:nvSpPr>
        <p:spPr>
          <a:xfrm>
            <a:off x="5394960" y="4270248"/>
            <a:ext cx="3291840" cy="164592"/>
          </a:xfrm>
          <a:prstGeom prst="rect">
            <a:avLst/>
          </a:prstGeom>
          <a:noFill/>
          <a:ln/>
        </p:spPr>
        <p:txBody>
          <a:bodyPr wrap="square" lIns="0" tIns="0" rIns="0" bIns="0" rtlCol="0" anchor="ctr"/>
          <a:lstStyle/>
          <a:p>
            <a:pPr marL="0" indent="0">
              <a:buNone/>
            </a:pPr>
            <a:r>
              <a:rPr lang="en-US" sz="950" dirty="0">
                <a:solidFill>
                  <a:srgbClr val="CCAAEE"/>
                </a:solidFill>
              </a:rPr>
              <a:t>Structured evaluation saved to DB</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6FF"/>
        </a:solidFill>
        <a:effectLst/>
      </p:bgPr>
    </p:bg>
    <p:spTree>
      <p:nvGrpSpPr>
        <p:cNvPr id="1" name=""/>
        <p:cNvGrpSpPr/>
        <p:nvPr/>
      </p:nvGrpSpPr>
      <p:grpSpPr>
        <a:xfrm>
          <a:off x="0" y="0"/>
          <a:ext cx="0" cy="0"/>
          <a:chOff x="0" y="0"/>
          <a:chExt cx="0" cy="0"/>
        </a:xfrm>
      </p:grpSpPr>
      <p:sp>
        <p:nvSpPr>
          <p:cNvPr id="2" name="Text 0"/>
          <p:cNvSpPr/>
          <p:nvPr/>
        </p:nvSpPr>
        <p:spPr>
          <a:xfrm>
            <a:off x="274320" y="91440"/>
            <a:ext cx="8595360" cy="502920"/>
          </a:xfrm>
          <a:prstGeom prst="rect">
            <a:avLst/>
          </a:prstGeom>
          <a:noFill/>
          <a:ln/>
        </p:spPr>
        <p:txBody>
          <a:bodyPr wrap="square" lIns="0" tIns="0" rIns="0" bIns="0" rtlCol="0" anchor="ctr"/>
          <a:lstStyle/>
          <a:p>
            <a:pPr marL="0" indent="0">
              <a:buNone/>
            </a:pPr>
            <a:r>
              <a:rPr lang="en-US" sz="3000" b="1" dirty="0">
                <a:solidFill>
                  <a:srgbClr val="0D1B2A"/>
                </a:solidFill>
                <a:latin typeface="Calibri" pitchFamily="34" charset="0"/>
                <a:ea typeface="Calibri" pitchFamily="34" charset="-122"/>
                <a:cs typeface="Calibri" pitchFamily="34" charset="-120"/>
              </a:rPr>
              <a:t>Infrastructure Architecture — AWS</a:t>
            </a:r>
            <a:endParaRPr lang="en-US" sz="3000" dirty="0"/>
          </a:p>
        </p:txBody>
      </p:sp>
      <p:sp>
        <p:nvSpPr>
          <p:cNvPr id="3" name="Shape 1"/>
          <p:cNvSpPr/>
          <p:nvPr/>
        </p:nvSpPr>
        <p:spPr>
          <a:xfrm>
            <a:off x="228600" y="685800"/>
            <a:ext cx="8686800" cy="4160520"/>
          </a:xfrm>
          <a:prstGeom prst="roundRect">
            <a:avLst>
              <a:gd name="adj" fmla="val 3297"/>
            </a:avLst>
          </a:prstGeom>
          <a:solidFill>
            <a:srgbClr val="EBF4FF"/>
          </a:solidFill>
          <a:ln/>
          <a:effectLst>
            <a:outerShdw blurRad="101600" dist="38100" dir="2700000" algn="bl" rotWithShape="0">
              <a:srgbClr val="000000">
                <a:alpha val="10000"/>
              </a:srgbClr>
            </a:outerShdw>
          </a:effectLst>
        </p:spPr>
        <p:txBody>
          <a:bodyPr/>
          <a:lstStyle/>
          <a:p>
            <a:endParaRPr lang="en-IN"/>
          </a:p>
        </p:txBody>
      </p:sp>
      <p:sp>
        <p:nvSpPr>
          <p:cNvPr id="4" name="Text 2"/>
          <p:cNvSpPr/>
          <p:nvPr/>
        </p:nvSpPr>
        <p:spPr>
          <a:xfrm>
            <a:off x="320040" y="713232"/>
            <a:ext cx="1097280" cy="274320"/>
          </a:xfrm>
          <a:prstGeom prst="rect">
            <a:avLst/>
          </a:prstGeom>
          <a:noFill/>
          <a:ln/>
        </p:spPr>
        <p:txBody>
          <a:bodyPr wrap="square" lIns="0" tIns="0" rIns="0" bIns="0" rtlCol="0" anchor="ctr"/>
          <a:lstStyle/>
          <a:p>
            <a:pPr marL="0" indent="0">
              <a:buNone/>
            </a:pPr>
            <a:r>
              <a:rPr lang="en-US" sz="900" b="1" dirty="0">
                <a:solidFill>
                  <a:srgbClr val="0077B6"/>
                </a:solidFill>
              </a:rPr>
              <a:t>AWS VPC</a:t>
            </a:r>
            <a:endParaRPr lang="en-US" sz="900" dirty="0"/>
          </a:p>
        </p:txBody>
      </p:sp>
      <p:sp>
        <p:nvSpPr>
          <p:cNvPr id="5" name="Shape 3"/>
          <p:cNvSpPr/>
          <p:nvPr/>
        </p:nvSpPr>
        <p:spPr>
          <a:xfrm>
            <a:off x="365760" y="1051560"/>
            <a:ext cx="1463040" cy="594360"/>
          </a:xfrm>
          <a:prstGeom prst="roundRect">
            <a:avLst>
              <a:gd name="adj" fmla="val 12308"/>
            </a:avLst>
          </a:prstGeom>
          <a:solidFill>
            <a:srgbClr val="0D1B2A"/>
          </a:solidFill>
          <a:ln/>
        </p:spPr>
        <p:txBody>
          <a:bodyPr/>
          <a:lstStyle/>
          <a:p>
            <a:endParaRPr lang="en-IN"/>
          </a:p>
        </p:txBody>
      </p:sp>
      <p:sp>
        <p:nvSpPr>
          <p:cNvPr id="6" name="Text 4"/>
          <p:cNvSpPr/>
          <p:nvPr/>
        </p:nvSpPr>
        <p:spPr>
          <a:xfrm>
            <a:off x="365760" y="1051560"/>
            <a:ext cx="1463040" cy="594360"/>
          </a:xfrm>
          <a:prstGeom prst="rect">
            <a:avLst/>
          </a:prstGeom>
          <a:noFill/>
          <a:ln/>
        </p:spPr>
        <p:txBody>
          <a:bodyPr wrap="square" lIns="0" tIns="0" rIns="0" bIns="0" rtlCol="0" anchor="ctr"/>
          <a:lstStyle/>
          <a:p>
            <a:pPr marL="0" indent="0" algn="ctr">
              <a:buNone/>
            </a:pPr>
            <a:r>
              <a:rPr lang="en-US" sz="900" b="1" dirty="0">
                <a:solidFill>
                  <a:srgbClr val="FFFFFF"/>
                </a:solidFill>
              </a:rPr>
              <a:t>User</a:t>
            </a:r>
            <a:endParaRPr lang="en-US" sz="900" dirty="0"/>
          </a:p>
          <a:p>
            <a:pPr marL="0" indent="0" algn="ctr">
              <a:buNone/>
            </a:pPr>
            <a:r>
              <a:rPr lang="en-US" sz="900" b="1" dirty="0">
                <a:solidFill>
                  <a:srgbClr val="FFFFFF"/>
                </a:solidFill>
              </a:rPr>
              <a:t>Route53 + ACM</a:t>
            </a:r>
            <a:endParaRPr lang="en-US" sz="900" dirty="0"/>
          </a:p>
        </p:txBody>
      </p:sp>
      <p:sp>
        <p:nvSpPr>
          <p:cNvPr id="7" name="Shape 5"/>
          <p:cNvSpPr/>
          <p:nvPr/>
        </p:nvSpPr>
        <p:spPr>
          <a:xfrm>
            <a:off x="1828800" y="1344168"/>
            <a:ext cx="502920" cy="0"/>
          </a:xfrm>
          <a:prstGeom prst="line">
            <a:avLst/>
          </a:prstGeom>
          <a:noFill/>
          <a:ln w="25400">
            <a:solidFill>
              <a:srgbClr val="0077B6"/>
            </a:solidFill>
            <a:prstDash val="solid"/>
          </a:ln>
        </p:spPr>
        <p:txBody>
          <a:bodyPr/>
          <a:lstStyle/>
          <a:p>
            <a:endParaRPr lang="en-IN"/>
          </a:p>
        </p:txBody>
      </p:sp>
      <p:sp>
        <p:nvSpPr>
          <p:cNvPr id="8" name="Shape 6"/>
          <p:cNvSpPr/>
          <p:nvPr/>
        </p:nvSpPr>
        <p:spPr>
          <a:xfrm>
            <a:off x="2331720" y="1051560"/>
            <a:ext cx="1371600" cy="594360"/>
          </a:xfrm>
          <a:prstGeom prst="roundRect">
            <a:avLst>
              <a:gd name="adj" fmla="val 12308"/>
            </a:avLst>
          </a:prstGeom>
          <a:solidFill>
            <a:srgbClr val="0077B6"/>
          </a:solidFill>
          <a:ln/>
        </p:spPr>
        <p:txBody>
          <a:bodyPr/>
          <a:lstStyle/>
          <a:p>
            <a:endParaRPr lang="en-IN"/>
          </a:p>
        </p:txBody>
      </p:sp>
      <p:sp>
        <p:nvSpPr>
          <p:cNvPr id="9" name="Text 7"/>
          <p:cNvSpPr/>
          <p:nvPr/>
        </p:nvSpPr>
        <p:spPr>
          <a:xfrm>
            <a:off x="2331720" y="1051560"/>
            <a:ext cx="1371600" cy="594360"/>
          </a:xfrm>
          <a:prstGeom prst="rect">
            <a:avLst/>
          </a:prstGeom>
          <a:noFill/>
          <a:ln/>
        </p:spPr>
        <p:txBody>
          <a:bodyPr wrap="square" lIns="0" tIns="0" rIns="0" bIns="0" rtlCol="0" anchor="ctr"/>
          <a:lstStyle/>
          <a:p>
            <a:pPr marL="0" indent="0" algn="ctr">
              <a:buNone/>
            </a:pPr>
            <a:r>
              <a:rPr lang="en-US" sz="1000" b="1" dirty="0">
                <a:solidFill>
                  <a:srgbClr val="FFFFFF"/>
                </a:solidFill>
              </a:rPr>
              <a:t>AWS ALB</a:t>
            </a:r>
            <a:endParaRPr lang="en-US" sz="1000" dirty="0"/>
          </a:p>
          <a:p>
            <a:pPr marL="0" indent="0" algn="ctr">
              <a:buNone/>
            </a:pPr>
            <a:r>
              <a:rPr lang="en-US" sz="1000" b="1" dirty="0">
                <a:solidFill>
                  <a:srgbClr val="FFFFFF"/>
                </a:solidFill>
              </a:rPr>
              <a:t>Ingress</a:t>
            </a:r>
            <a:endParaRPr lang="en-US" sz="1000" dirty="0"/>
          </a:p>
        </p:txBody>
      </p:sp>
      <p:sp>
        <p:nvSpPr>
          <p:cNvPr id="10" name="Text 8"/>
          <p:cNvSpPr/>
          <p:nvPr/>
        </p:nvSpPr>
        <p:spPr>
          <a:xfrm>
            <a:off x="2331720" y="1691640"/>
            <a:ext cx="1371600" cy="228600"/>
          </a:xfrm>
          <a:prstGeom prst="rect">
            <a:avLst/>
          </a:prstGeom>
          <a:noFill/>
          <a:ln/>
        </p:spPr>
        <p:txBody>
          <a:bodyPr wrap="square" lIns="0" tIns="0" rIns="0" bIns="0" rtlCol="0" anchor="ctr"/>
          <a:lstStyle/>
          <a:p>
            <a:pPr marL="0" indent="0" algn="ctr">
              <a:buNone/>
            </a:pPr>
            <a:r>
              <a:rPr lang="en-US" sz="800" dirty="0">
                <a:solidFill>
                  <a:srgbClr val="4A6080"/>
                </a:solidFill>
              </a:rPr>
              <a:t>Public Subnets</a:t>
            </a:r>
            <a:endParaRPr lang="en-US" sz="800" dirty="0"/>
          </a:p>
        </p:txBody>
      </p:sp>
      <p:sp>
        <p:nvSpPr>
          <p:cNvPr id="11" name="Shape 9"/>
          <p:cNvSpPr/>
          <p:nvPr/>
        </p:nvSpPr>
        <p:spPr>
          <a:xfrm>
            <a:off x="3703320" y="1344168"/>
            <a:ext cx="457200" cy="0"/>
          </a:xfrm>
          <a:prstGeom prst="line">
            <a:avLst/>
          </a:prstGeom>
          <a:noFill/>
          <a:ln w="25400">
            <a:solidFill>
              <a:srgbClr val="0077B6"/>
            </a:solidFill>
            <a:prstDash val="solid"/>
          </a:ln>
        </p:spPr>
        <p:txBody>
          <a:bodyPr/>
          <a:lstStyle/>
          <a:p>
            <a:endParaRPr lang="en-IN"/>
          </a:p>
        </p:txBody>
      </p:sp>
      <p:sp>
        <p:nvSpPr>
          <p:cNvPr id="12" name="Shape 10"/>
          <p:cNvSpPr/>
          <p:nvPr/>
        </p:nvSpPr>
        <p:spPr>
          <a:xfrm>
            <a:off x="4160520" y="822960"/>
            <a:ext cx="4480560" cy="2103120"/>
          </a:xfrm>
          <a:prstGeom prst="roundRect">
            <a:avLst>
              <a:gd name="adj" fmla="val 4348"/>
            </a:avLst>
          </a:prstGeom>
          <a:solidFill>
            <a:srgbClr val="D0E8FF"/>
          </a:solidFill>
          <a:ln/>
          <a:effectLst>
            <a:outerShdw blurRad="101600" dist="38100" dir="2700000" algn="bl" rotWithShape="0">
              <a:srgbClr val="000000">
                <a:alpha val="10000"/>
              </a:srgbClr>
            </a:outerShdw>
          </a:effectLst>
        </p:spPr>
        <p:txBody>
          <a:bodyPr/>
          <a:lstStyle/>
          <a:p>
            <a:endParaRPr lang="en-IN"/>
          </a:p>
        </p:txBody>
      </p:sp>
      <p:sp>
        <p:nvSpPr>
          <p:cNvPr id="13" name="Text 11"/>
          <p:cNvSpPr/>
          <p:nvPr/>
        </p:nvSpPr>
        <p:spPr>
          <a:xfrm>
            <a:off x="4251960" y="868680"/>
            <a:ext cx="4297680" cy="274320"/>
          </a:xfrm>
          <a:prstGeom prst="rect">
            <a:avLst/>
          </a:prstGeom>
          <a:noFill/>
          <a:ln/>
        </p:spPr>
        <p:txBody>
          <a:bodyPr wrap="square" lIns="0" tIns="0" rIns="0" bIns="0" rtlCol="0" anchor="ctr"/>
          <a:lstStyle/>
          <a:p>
            <a:pPr marL="0" indent="0">
              <a:buNone/>
            </a:pPr>
            <a:r>
              <a:rPr lang="en-US" sz="900" b="1" dirty="0">
                <a:solidFill>
                  <a:srgbClr val="0077B6"/>
                </a:solidFill>
              </a:rPr>
              <a:t>EKS Cluster  (namespace: hirevoice)</a:t>
            </a:r>
            <a:endParaRPr lang="en-US" sz="900" dirty="0"/>
          </a:p>
        </p:txBody>
      </p:sp>
      <p:sp>
        <p:nvSpPr>
          <p:cNvPr id="14" name="Text 12"/>
          <p:cNvSpPr/>
          <p:nvPr/>
        </p:nvSpPr>
        <p:spPr>
          <a:xfrm>
            <a:off x="4251960" y="1115568"/>
            <a:ext cx="4297680" cy="219456"/>
          </a:xfrm>
          <a:prstGeom prst="rect">
            <a:avLst/>
          </a:prstGeom>
          <a:noFill/>
          <a:ln/>
        </p:spPr>
        <p:txBody>
          <a:bodyPr wrap="square" lIns="0" tIns="0" rIns="0" bIns="0" rtlCol="0" anchor="ctr"/>
          <a:lstStyle/>
          <a:p>
            <a:pPr marL="0" indent="0">
              <a:buNone/>
            </a:pPr>
            <a:r>
              <a:rPr lang="en-US" sz="850" dirty="0">
                <a:solidFill>
                  <a:srgbClr val="4A6080"/>
                </a:solidFill>
              </a:rPr>
              <a:t>Private App Subnets  ·  Worker Nodes</a:t>
            </a:r>
            <a:endParaRPr lang="en-US" sz="850" dirty="0"/>
          </a:p>
        </p:txBody>
      </p:sp>
      <p:sp>
        <p:nvSpPr>
          <p:cNvPr id="15" name="Shape 13"/>
          <p:cNvSpPr/>
          <p:nvPr/>
        </p:nvSpPr>
        <p:spPr>
          <a:xfrm>
            <a:off x="4297680" y="1417320"/>
            <a:ext cx="1280160" cy="457200"/>
          </a:xfrm>
          <a:prstGeom prst="roundRect">
            <a:avLst>
              <a:gd name="adj" fmla="val 14000"/>
            </a:avLst>
          </a:prstGeom>
          <a:solidFill>
            <a:srgbClr val="0D1B2A"/>
          </a:solidFill>
          <a:ln/>
        </p:spPr>
        <p:txBody>
          <a:bodyPr/>
          <a:lstStyle/>
          <a:p>
            <a:endParaRPr lang="en-IN"/>
          </a:p>
        </p:txBody>
      </p:sp>
      <p:sp>
        <p:nvSpPr>
          <p:cNvPr id="16" name="Text 14"/>
          <p:cNvSpPr/>
          <p:nvPr/>
        </p:nvSpPr>
        <p:spPr>
          <a:xfrm>
            <a:off x="4297680" y="1417320"/>
            <a:ext cx="1280160" cy="457200"/>
          </a:xfrm>
          <a:prstGeom prst="rect">
            <a:avLst/>
          </a:prstGeom>
          <a:noFill/>
          <a:ln/>
        </p:spPr>
        <p:txBody>
          <a:bodyPr wrap="square" lIns="0" tIns="0" rIns="0" bIns="0" rtlCol="0" anchor="ctr"/>
          <a:lstStyle/>
          <a:p>
            <a:pPr marL="0" indent="0" algn="ctr">
              <a:buNone/>
            </a:pPr>
            <a:r>
              <a:rPr lang="en-US" sz="850" dirty="0">
                <a:solidFill>
                  <a:srgbClr val="FFFFFF"/>
                </a:solidFill>
              </a:rPr>
              <a:t>frontend</a:t>
            </a:r>
            <a:endParaRPr lang="en-US" sz="850" dirty="0"/>
          </a:p>
          <a:p>
            <a:pPr marL="0" indent="0" algn="ctr">
              <a:buNone/>
            </a:pPr>
            <a:r>
              <a:rPr lang="en-US" sz="850" dirty="0">
                <a:solidFill>
                  <a:srgbClr val="FFFFFF"/>
                </a:solidFill>
              </a:rPr>
              <a:t>×2 pods</a:t>
            </a:r>
            <a:endParaRPr lang="en-US" sz="850" dirty="0"/>
          </a:p>
        </p:txBody>
      </p:sp>
      <p:sp>
        <p:nvSpPr>
          <p:cNvPr id="17" name="Shape 15"/>
          <p:cNvSpPr/>
          <p:nvPr/>
        </p:nvSpPr>
        <p:spPr>
          <a:xfrm>
            <a:off x="5715000" y="1417320"/>
            <a:ext cx="1280160" cy="457200"/>
          </a:xfrm>
          <a:prstGeom prst="roundRect">
            <a:avLst>
              <a:gd name="adj" fmla="val 14000"/>
            </a:avLst>
          </a:prstGeom>
          <a:solidFill>
            <a:srgbClr val="0D1B2A"/>
          </a:solidFill>
          <a:ln/>
        </p:spPr>
        <p:txBody>
          <a:bodyPr/>
          <a:lstStyle/>
          <a:p>
            <a:endParaRPr lang="en-IN"/>
          </a:p>
        </p:txBody>
      </p:sp>
      <p:sp>
        <p:nvSpPr>
          <p:cNvPr id="18" name="Text 16"/>
          <p:cNvSpPr/>
          <p:nvPr/>
        </p:nvSpPr>
        <p:spPr>
          <a:xfrm>
            <a:off x="5715000" y="1417320"/>
            <a:ext cx="1280160" cy="457200"/>
          </a:xfrm>
          <a:prstGeom prst="rect">
            <a:avLst/>
          </a:prstGeom>
          <a:noFill/>
          <a:ln/>
        </p:spPr>
        <p:txBody>
          <a:bodyPr wrap="square" lIns="0" tIns="0" rIns="0" bIns="0" rtlCol="0" anchor="ctr"/>
          <a:lstStyle/>
          <a:p>
            <a:pPr marL="0" indent="0" algn="ctr">
              <a:buNone/>
            </a:pPr>
            <a:r>
              <a:rPr lang="en-US" sz="850" dirty="0">
                <a:solidFill>
                  <a:srgbClr val="FFFFFF"/>
                </a:solidFill>
              </a:rPr>
              <a:t>gateway</a:t>
            </a:r>
            <a:endParaRPr lang="en-US" sz="850" dirty="0"/>
          </a:p>
          <a:p>
            <a:pPr marL="0" indent="0" algn="ctr">
              <a:buNone/>
            </a:pPr>
            <a:r>
              <a:rPr lang="en-US" sz="850" dirty="0">
                <a:solidFill>
                  <a:srgbClr val="FFFFFF"/>
                </a:solidFill>
              </a:rPr>
              <a:t>×2 pods</a:t>
            </a:r>
            <a:endParaRPr lang="en-US" sz="850" dirty="0"/>
          </a:p>
        </p:txBody>
      </p:sp>
      <p:sp>
        <p:nvSpPr>
          <p:cNvPr id="19" name="Shape 17"/>
          <p:cNvSpPr/>
          <p:nvPr/>
        </p:nvSpPr>
        <p:spPr>
          <a:xfrm>
            <a:off x="7132320" y="1417320"/>
            <a:ext cx="1280160" cy="457200"/>
          </a:xfrm>
          <a:prstGeom prst="roundRect">
            <a:avLst>
              <a:gd name="adj" fmla="val 14000"/>
            </a:avLst>
          </a:prstGeom>
          <a:solidFill>
            <a:srgbClr val="0D1B2A"/>
          </a:solidFill>
          <a:ln/>
        </p:spPr>
        <p:txBody>
          <a:bodyPr/>
          <a:lstStyle/>
          <a:p>
            <a:endParaRPr lang="en-IN"/>
          </a:p>
        </p:txBody>
      </p:sp>
      <p:sp>
        <p:nvSpPr>
          <p:cNvPr id="20" name="Text 18"/>
          <p:cNvSpPr/>
          <p:nvPr/>
        </p:nvSpPr>
        <p:spPr>
          <a:xfrm>
            <a:off x="7132320" y="1417320"/>
            <a:ext cx="1280160" cy="457200"/>
          </a:xfrm>
          <a:prstGeom prst="rect">
            <a:avLst/>
          </a:prstGeom>
          <a:noFill/>
          <a:ln/>
        </p:spPr>
        <p:txBody>
          <a:bodyPr wrap="square" lIns="0" tIns="0" rIns="0" bIns="0" rtlCol="0" anchor="ctr"/>
          <a:lstStyle/>
          <a:p>
            <a:pPr marL="0" indent="0" algn="ctr">
              <a:buNone/>
            </a:pPr>
            <a:r>
              <a:rPr lang="en-US" sz="850" dirty="0">
                <a:solidFill>
                  <a:srgbClr val="FFFFFF"/>
                </a:solidFill>
              </a:rPr>
              <a:t>auth</a:t>
            </a:r>
            <a:endParaRPr lang="en-US" sz="850" dirty="0"/>
          </a:p>
          <a:p>
            <a:pPr marL="0" indent="0" algn="ctr">
              <a:buNone/>
            </a:pPr>
            <a:r>
              <a:rPr lang="en-US" sz="850" dirty="0">
                <a:solidFill>
                  <a:srgbClr val="FFFFFF"/>
                </a:solidFill>
              </a:rPr>
              <a:t>×2 pods</a:t>
            </a:r>
            <a:endParaRPr lang="en-US" sz="850" dirty="0"/>
          </a:p>
        </p:txBody>
      </p:sp>
      <p:sp>
        <p:nvSpPr>
          <p:cNvPr id="21" name="Shape 19"/>
          <p:cNvSpPr/>
          <p:nvPr/>
        </p:nvSpPr>
        <p:spPr>
          <a:xfrm>
            <a:off x="4297680" y="2011680"/>
            <a:ext cx="1280160" cy="457200"/>
          </a:xfrm>
          <a:prstGeom prst="roundRect">
            <a:avLst>
              <a:gd name="adj" fmla="val 14000"/>
            </a:avLst>
          </a:prstGeom>
          <a:solidFill>
            <a:srgbClr val="0D1B2A"/>
          </a:solidFill>
          <a:ln/>
        </p:spPr>
        <p:txBody>
          <a:bodyPr/>
          <a:lstStyle/>
          <a:p>
            <a:endParaRPr lang="en-IN"/>
          </a:p>
        </p:txBody>
      </p:sp>
      <p:sp>
        <p:nvSpPr>
          <p:cNvPr id="22" name="Text 20"/>
          <p:cNvSpPr/>
          <p:nvPr/>
        </p:nvSpPr>
        <p:spPr>
          <a:xfrm>
            <a:off x="4297680" y="2011680"/>
            <a:ext cx="1280160" cy="457200"/>
          </a:xfrm>
          <a:prstGeom prst="rect">
            <a:avLst/>
          </a:prstGeom>
          <a:noFill/>
          <a:ln/>
        </p:spPr>
        <p:txBody>
          <a:bodyPr wrap="square" lIns="0" tIns="0" rIns="0" bIns="0" rtlCol="0" anchor="ctr"/>
          <a:lstStyle/>
          <a:p>
            <a:pPr marL="0" indent="0" algn="ctr">
              <a:buNone/>
            </a:pPr>
            <a:r>
              <a:rPr lang="en-US" sz="850" dirty="0">
                <a:solidFill>
                  <a:srgbClr val="FFFFFF"/>
                </a:solidFill>
              </a:rPr>
              <a:t>jobs</a:t>
            </a:r>
            <a:endParaRPr lang="en-US" sz="850" dirty="0"/>
          </a:p>
          <a:p>
            <a:pPr marL="0" indent="0" algn="ctr">
              <a:buNone/>
            </a:pPr>
            <a:r>
              <a:rPr lang="en-US" sz="850" dirty="0">
                <a:solidFill>
                  <a:srgbClr val="FFFFFF"/>
                </a:solidFill>
              </a:rPr>
              <a:t>×2 pods</a:t>
            </a:r>
            <a:endParaRPr lang="en-US" sz="850" dirty="0"/>
          </a:p>
        </p:txBody>
      </p:sp>
      <p:sp>
        <p:nvSpPr>
          <p:cNvPr id="23" name="Shape 21"/>
          <p:cNvSpPr/>
          <p:nvPr/>
        </p:nvSpPr>
        <p:spPr>
          <a:xfrm>
            <a:off x="5715000" y="2011680"/>
            <a:ext cx="1280160" cy="457200"/>
          </a:xfrm>
          <a:prstGeom prst="roundRect">
            <a:avLst>
              <a:gd name="adj" fmla="val 14000"/>
            </a:avLst>
          </a:prstGeom>
          <a:solidFill>
            <a:srgbClr val="0D1B2A"/>
          </a:solidFill>
          <a:ln/>
        </p:spPr>
        <p:txBody>
          <a:bodyPr/>
          <a:lstStyle/>
          <a:p>
            <a:endParaRPr lang="en-IN"/>
          </a:p>
        </p:txBody>
      </p:sp>
      <p:sp>
        <p:nvSpPr>
          <p:cNvPr id="24" name="Text 22"/>
          <p:cNvSpPr/>
          <p:nvPr/>
        </p:nvSpPr>
        <p:spPr>
          <a:xfrm>
            <a:off x="5715000" y="2011680"/>
            <a:ext cx="1280160" cy="457200"/>
          </a:xfrm>
          <a:prstGeom prst="rect">
            <a:avLst/>
          </a:prstGeom>
          <a:noFill/>
          <a:ln/>
        </p:spPr>
        <p:txBody>
          <a:bodyPr wrap="square" lIns="0" tIns="0" rIns="0" bIns="0" rtlCol="0" anchor="ctr"/>
          <a:lstStyle/>
          <a:p>
            <a:pPr marL="0" indent="0" algn="ctr">
              <a:buNone/>
            </a:pPr>
            <a:r>
              <a:rPr lang="en-US" sz="850" dirty="0">
                <a:solidFill>
                  <a:srgbClr val="FFFFFF"/>
                </a:solidFill>
              </a:rPr>
              <a:t>screening</a:t>
            </a:r>
            <a:endParaRPr lang="en-US" sz="850" dirty="0"/>
          </a:p>
          <a:p>
            <a:pPr marL="0" indent="0" algn="ctr">
              <a:buNone/>
            </a:pPr>
            <a:r>
              <a:rPr lang="en-US" sz="850" dirty="0">
                <a:solidFill>
                  <a:srgbClr val="FFFFFF"/>
                </a:solidFill>
              </a:rPr>
              <a:t>×2 pods</a:t>
            </a:r>
            <a:endParaRPr lang="en-US" sz="850" dirty="0"/>
          </a:p>
        </p:txBody>
      </p:sp>
      <p:sp>
        <p:nvSpPr>
          <p:cNvPr id="25" name="Shape 23"/>
          <p:cNvSpPr/>
          <p:nvPr/>
        </p:nvSpPr>
        <p:spPr>
          <a:xfrm>
            <a:off x="7132320" y="2011680"/>
            <a:ext cx="1280160" cy="457200"/>
          </a:xfrm>
          <a:prstGeom prst="roundRect">
            <a:avLst>
              <a:gd name="adj" fmla="val 14000"/>
            </a:avLst>
          </a:prstGeom>
          <a:solidFill>
            <a:srgbClr val="0D1B2A"/>
          </a:solidFill>
          <a:ln/>
        </p:spPr>
        <p:txBody>
          <a:bodyPr/>
          <a:lstStyle/>
          <a:p>
            <a:endParaRPr lang="en-IN"/>
          </a:p>
        </p:txBody>
      </p:sp>
      <p:sp>
        <p:nvSpPr>
          <p:cNvPr id="26" name="Text 24"/>
          <p:cNvSpPr/>
          <p:nvPr/>
        </p:nvSpPr>
        <p:spPr>
          <a:xfrm>
            <a:off x="7132320" y="2011680"/>
            <a:ext cx="1280160" cy="457200"/>
          </a:xfrm>
          <a:prstGeom prst="rect">
            <a:avLst/>
          </a:prstGeom>
          <a:noFill/>
          <a:ln/>
        </p:spPr>
        <p:txBody>
          <a:bodyPr wrap="square" lIns="0" tIns="0" rIns="0" bIns="0" rtlCol="0" anchor="ctr"/>
          <a:lstStyle/>
          <a:p>
            <a:pPr marL="0" indent="0" algn="ctr">
              <a:buNone/>
            </a:pPr>
            <a:r>
              <a:rPr lang="en-US" sz="850" dirty="0">
                <a:solidFill>
                  <a:srgbClr val="FFFFFF"/>
                </a:solidFill>
              </a:rPr>
              <a:t>interview</a:t>
            </a:r>
            <a:endParaRPr lang="en-US" sz="850" dirty="0"/>
          </a:p>
          <a:p>
            <a:pPr marL="0" indent="0" algn="ctr">
              <a:buNone/>
            </a:pPr>
            <a:r>
              <a:rPr lang="en-US" sz="850" dirty="0">
                <a:solidFill>
                  <a:srgbClr val="FFFFFF"/>
                </a:solidFill>
              </a:rPr>
              <a:t>×2 pods</a:t>
            </a:r>
            <a:endParaRPr lang="en-US" sz="850" dirty="0"/>
          </a:p>
        </p:txBody>
      </p:sp>
      <p:sp>
        <p:nvSpPr>
          <p:cNvPr id="27" name="Shape 25"/>
          <p:cNvSpPr/>
          <p:nvPr/>
        </p:nvSpPr>
        <p:spPr>
          <a:xfrm>
            <a:off x="365760" y="3017520"/>
            <a:ext cx="2286000" cy="594360"/>
          </a:xfrm>
          <a:prstGeom prst="roundRect">
            <a:avLst>
              <a:gd name="adj" fmla="val 12308"/>
            </a:avLst>
          </a:prstGeom>
          <a:solidFill>
            <a:srgbClr val="06D6A0">
              <a:alpha val="85000"/>
            </a:srgbClr>
          </a:solidFill>
          <a:ln/>
        </p:spPr>
        <p:txBody>
          <a:bodyPr/>
          <a:lstStyle/>
          <a:p>
            <a:endParaRPr lang="en-IN"/>
          </a:p>
        </p:txBody>
      </p:sp>
      <p:sp>
        <p:nvSpPr>
          <p:cNvPr id="28" name="Text 26"/>
          <p:cNvSpPr/>
          <p:nvPr/>
        </p:nvSpPr>
        <p:spPr>
          <a:xfrm>
            <a:off x="365760" y="3017520"/>
            <a:ext cx="2286000" cy="594360"/>
          </a:xfrm>
          <a:prstGeom prst="rect">
            <a:avLst/>
          </a:prstGeom>
          <a:noFill/>
          <a:ln/>
        </p:spPr>
        <p:txBody>
          <a:bodyPr wrap="square" lIns="0" tIns="0" rIns="0" bIns="0" rtlCol="0" anchor="ctr"/>
          <a:lstStyle/>
          <a:p>
            <a:pPr marL="0" indent="0" algn="ctr">
              <a:buNone/>
            </a:pPr>
            <a:r>
              <a:rPr lang="en-US" sz="1000" b="1" dirty="0">
                <a:solidFill>
                  <a:srgbClr val="FFFFFF"/>
                </a:solidFill>
              </a:rPr>
              <a:t>RDS PostgreSQL</a:t>
            </a:r>
            <a:endParaRPr lang="en-US" sz="1000" dirty="0"/>
          </a:p>
          <a:p>
            <a:pPr marL="0" indent="0" algn="ctr">
              <a:buNone/>
            </a:pPr>
            <a:r>
              <a:rPr lang="en-US" sz="1000" b="1" dirty="0">
                <a:solidFill>
                  <a:srgbClr val="FFFFFF"/>
                </a:solidFill>
              </a:rPr>
              <a:t>Private DB Subnets</a:t>
            </a:r>
            <a:endParaRPr lang="en-US" sz="1000" dirty="0"/>
          </a:p>
        </p:txBody>
      </p:sp>
      <p:sp>
        <p:nvSpPr>
          <p:cNvPr id="29" name="Shape 27"/>
          <p:cNvSpPr/>
          <p:nvPr/>
        </p:nvSpPr>
        <p:spPr>
          <a:xfrm>
            <a:off x="365760" y="3931920"/>
            <a:ext cx="1965960" cy="658368"/>
          </a:xfrm>
          <a:prstGeom prst="roundRect">
            <a:avLst>
              <a:gd name="adj" fmla="val 11111"/>
            </a:avLst>
          </a:prstGeom>
          <a:solidFill>
            <a:srgbClr val="BE2F6B">
              <a:alpha val="80000"/>
            </a:srgbClr>
          </a:solidFill>
          <a:ln/>
        </p:spPr>
        <p:txBody>
          <a:bodyPr/>
          <a:lstStyle/>
          <a:p>
            <a:endParaRPr lang="en-IN"/>
          </a:p>
        </p:txBody>
      </p:sp>
      <p:sp>
        <p:nvSpPr>
          <p:cNvPr id="30" name="Text 28"/>
          <p:cNvSpPr/>
          <p:nvPr/>
        </p:nvSpPr>
        <p:spPr>
          <a:xfrm>
            <a:off x="365760" y="3931920"/>
            <a:ext cx="1965960" cy="658368"/>
          </a:xfrm>
          <a:prstGeom prst="rect">
            <a:avLst/>
          </a:prstGeom>
          <a:noFill/>
          <a:ln/>
        </p:spPr>
        <p:txBody>
          <a:bodyPr wrap="square" lIns="0" tIns="0" rIns="0" bIns="0" rtlCol="0" anchor="ctr"/>
          <a:lstStyle/>
          <a:p>
            <a:pPr marL="0" indent="0" algn="ctr">
              <a:buNone/>
            </a:pPr>
            <a:r>
              <a:rPr lang="en-US" sz="1000" b="1" dirty="0">
                <a:solidFill>
                  <a:srgbClr val="FFFFFF"/>
                </a:solidFill>
              </a:rPr>
              <a:t>ECR</a:t>
            </a:r>
            <a:endParaRPr lang="en-US" sz="1000" dirty="0"/>
          </a:p>
          <a:p>
            <a:pPr marL="0" indent="0" algn="ctr">
              <a:buNone/>
            </a:pPr>
            <a:r>
              <a:rPr lang="en-US" sz="1000" b="1" dirty="0">
                <a:solidFill>
                  <a:srgbClr val="FFFFFF"/>
                </a:solidFill>
              </a:rPr>
              <a:t>Docker Images</a:t>
            </a:r>
            <a:endParaRPr lang="en-US" sz="1000" dirty="0"/>
          </a:p>
        </p:txBody>
      </p:sp>
      <p:sp>
        <p:nvSpPr>
          <p:cNvPr id="31" name="Shape 29"/>
          <p:cNvSpPr/>
          <p:nvPr/>
        </p:nvSpPr>
        <p:spPr>
          <a:xfrm>
            <a:off x="2514600" y="3931920"/>
            <a:ext cx="1965960" cy="658368"/>
          </a:xfrm>
          <a:prstGeom prst="roundRect">
            <a:avLst>
              <a:gd name="adj" fmla="val 11111"/>
            </a:avLst>
          </a:prstGeom>
          <a:solidFill>
            <a:srgbClr val="7B2FBE">
              <a:alpha val="80000"/>
            </a:srgbClr>
          </a:solidFill>
          <a:ln/>
        </p:spPr>
        <p:txBody>
          <a:bodyPr/>
          <a:lstStyle/>
          <a:p>
            <a:endParaRPr lang="en-IN"/>
          </a:p>
        </p:txBody>
      </p:sp>
      <p:sp>
        <p:nvSpPr>
          <p:cNvPr id="32" name="Text 30"/>
          <p:cNvSpPr/>
          <p:nvPr/>
        </p:nvSpPr>
        <p:spPr>
          <a:xfrm>
            <a:off x="2514600" y="3931920"/>
            <a:ext cx="1965960" cy="658368"/>
          </a:xfrm>
          <a:prstGeom prst="rect">
            <a:avLst/>
          </a:prstGeom>
          <a:noFill/>
          <a:ln/>
        </p:spPr>
        <p:txBody>
          <a:bodyPr wrap="square" lIns="0" tIns="0" rIns="0" bIns="0" rtlCol="0" anchor="ctr"/>
          <a:lstStyle/>
          <a:p>
            <a:pPr marL="0" indent="0" algn="ctr">
              <a:buNone/>
            </a:pPr>
            <a:r>
              <a:rPr lang="en-US" sz="1000" b="1" dirty="0">
                <a:solidFill>
                  <a:srgbClr val="FFFFFF"/>
                </a:solidFill>
              </a:rPr>
              <a:t>Secrets Mgr</a:t>
            </a:r>
            <a:endParaRPr lang="en-US" sz="1000" dirty="0"/>
          </a:p>
          <a:p>
            <a:pPr marL="0" indent="0" algn="ctr">
              <a:buNone/>
            </a:pPr>
            <a:r>
              <a:rPr lang="en-US" sz="1000" b="1" dirty="0">
                <a:solidFill>
                  <a:srgbClr val="FFFFFF"/>
                </a:solidFill>
              </a:rPr>
              <a:t>Ext Secrets</a:t>
            </a:r>
            <a:endParaRPr lang="en-US" sz="1000" dirty="0"/>
          </a:p>
        </p:txBody>
      </p:sp>
      <p:sp>
        <p:nvSpPr>
          <p:cNvPr id="33" name="Shape 31"/>
          <p:cNvSpPr/>
          <p:nvPr/>
        </p:nvSpPr>
        <p:spPr>
          <a:xfrm>
            <a:off x="4663440" y="3931920"/>
            <a:ext cx="1965960" cy="658368"/>
          </a:xfrm>
          <a:prstGeom prst="roundRect">
            <a:avLst>
              <a:gd name="adj" fmla="val 11111"/>
            </a:avLst>
          </a:prstGeom>
          <a:solidFill>
            <a:srgbClr val="F4A261">
              <a:alpha val="80000"/>
            </a:srgbClr>
          </a:solidFill>
          <a:ln/>
        </p:spPr>
        <p:txBody>
          <a:bodyPr/>
          <a:lstStyle/>
          <a:p>
            <a:endParaRPr lang="en-IN"/>
          </a:p>
        </p:txBody>
      </p:sp>
      <p:sp>
        <p:nvSpPr>
          <p:cNvPr id="34" name="Text 32"/>
          <p:cNvSpPr/>
          <p:nvPr/>
        </p:nvSpPr>
        <p:spPr>
          <a:xfrm>
            <a:off x="4663440" y="3931920"/>
            <a:ext cx="1965960" cy="658368"/>
          </a:xfrm>
          <a:prstGeom prst="rect">
            <a:avLst/>
          </a:prstGeom>
          <a:noFill/>
          <a:ln/>
        </p:spPr>
        <p:txBody>
          <a:bodyPr wrap="square" lIns="0" tIns="0" rIns="0" bIns="0" rtlCol="0" anchor="ctr"/>
          <a:lstStyle/>
          <a:p>
            <a:pPr marL="0" indent="0" algn="ctr">
              <a:buNone/>
            </a:pPr>
            <a:r>
              <a:rPr lang="en-US" sz="1000" b="1" dirty="0">
                <a:solidFill>
                  <a:srgbClr val="FFFFFF"/>
                </a:solidFill>
              </a:rPr>
              <a:t>CloudWatch</a:t>
            </a:r>
            <a:endParaRPr lang="en-US" sz="1000" dirty="0"/>
          </a:p>
          <a:p>
            <a:pPr marL="0" indent="0" algn="ctr">
              <a:buNone/>
            </a:pPr>
            <a:r>
              <a:rPr lang="en-US" sz="1000" b="1" dirty="0">
                <a:solidFill>
                  <a:srgbClr val="FFFFFF"/>
                </a:solidFill>
              </a:rPr>
              <a:t>Dashboard/Alarms</a:t>
            </a:r>
            <a:endParaRPr lang="en-US" sz="1000" dirty="0"/>
          </a:p>
        </p:txBody>
      </p:sp>
      <p:sp>
        <p:nvSpPr>
          <p:cNvPr id="35" name="Shape 33"/>
          <p:cNvSpPr/>
          <p:nvPr/>
        </p:nvSpPr>
        <p:spPr>
          <a:xfrm>
            <a:off x="6812280" y="3931920"/>
            <a:ext cx="1965960" cy="658368"/>
          </a:xfrm>
          <a:prstGeom prst="roundRect">
            <a:avLst>
              <a:gd name="adj" fmla="val 11111"/>
            </a:avLst>
          </a:prstGeom>
          <a:solidFill>
            <a:srgbClr val="0077B6">
              <a:alpha val="80000"/>
            </a:srgbClr>
          </a:solidFill>
          <a:ln/>
        </p:spPr>
        <p:txBody>
          <a:bodyPr/>
          <a:lstStyle/>
          <a:p>
            <a:endParaRPr lang="en-IN"/>
          </a:p>
        </p:txBody>
      </p:sp>
      <p:sp>
        <p:nvSpPr>
          <p:cNvPr id="36" name="Text 34"/>
          <p:cNvSpPr/>
          <p:nvPr/>
        </p:nvSpPr>
        <p:spPr>
          <a:xfrm>
            <a:off x="6812280" y="3931920"/>
            <a:ext cx="1965960" cy="658368"/>
          </a:xfrm>
          <a:prstGeom prst="rect">
            <a:avLst/>
          </a:prstGeom>
          <a:noFill/>
          <a:ln/>
        </p:spPr>
        <p:txBody>
          <a:bodyPr wrap="square" lIns="0" tIns="0" rIns="0" bIns="0" rtlCol="0" anchor="ctr"/>
          <a:lstStyle/>
          <a:p>
            <a:pPr marL="0" indent="0" algn="ctr">
              <a:buNone/>
            </a:pPr>
            <a:r>
              <a:rPr lang="en-US" sz="1000" b="1" dirty="0">
                <a:solidFill>
                  <a:srgbClr val="FFFFFF"/>
                </a:solidFill>
              </a:rPr>
              <a:t>S3 + DynamoDB</a:t>
            </a:r>
            <a:endParaRPr lang="en-US" sz="1000" dirty="0"/>
          </a:p>
          <a:p>
            <a:pPr marL="0" indent="0" algn="ctr">
              <a:buNone/>
            </a:pPr>
            <a:r>
              <a:rPr lang="en-US" sz="1000" b="1" dirty="0">
                <a:solidFill>
                  <a:srgbClr val="FFFFFF"/>
                </a:solidFill>
              </a:rPr>
              <a:t>TF Remote State</a:t>
            </a:r>
            <a:endParaRPr lang="en-US" sz="1000" dirty="0"/>
          </a:p>
        </p:txBody>
      </p:sp>
      <p:sp>
        <p:nvSpPr>
          <p:cNvPr id="37" name="Text 35"/>
          <p:cNvSpPr/>
          <p:nvPr/>
        </p:nvSpPr>
        <p:spPr>
          <a:xfrm>
            <a:off x="274320" y="4754880"/>
            <a:ext cx="8595360" cy="256032"/>
          </a:xfrm>
          <a:prstGeom prst="rect">
            <a:avLst/>
          </a:prstGeom>
          <a:noFill/>
          <a:ln/>
        </p:spPr>
        <p:txBody>
          <a:bodyPr wrap="square" lIns="0" tIns="0" rIns="0" bIns="0" rtlCol="0" anchor="ctr"/>
          <a:lstStyle/>
          <a:p>
            <a:pPr marL="0" indent="0" algn="ctr">
              <a:buNone/>
            </a:pPr>
            <a:r>
              <a:rPr lang="en-US" sz="1000" dirty="0">
                <a:solidFill>
                  <a:srgbClr val="4A6080"/>
                </a:solidFill>
              </a:rPr>
              <a:t>IAM / OIDC / IRSA — Pod Identity for AWS SDK access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6FF"/>
        </a:solidFill>
        <a:effectLst/>
      </p:bgPr>
    </p:bg>
    <p:spTree>
      <p:nvGrpSpPr>
        <p:cNvPr id="1" name=""/>
        <p:cNvGrpSpPr/>
        <p:nvPr/>
      </p:nvGrpSpPr>
      <p:grpSpPr>
        <a:xfrm>
          <a:off x="0" y="0"/>
          <a:ext cx="0" cy="0"/>
          <a:chOff x="0" y="0"/>
          <a:chExt cx="0" cy="0"/>
        </a:xfrm>
      </p:grpSpPr>
      <p:sp>
        <p:nvSpPr>
          <p:cNvPr id="2" name="Text 0"/>
          <p:cNvSpPr/>
          <p:nvPr/>
        </p:nvSpPr>
        <p:spPr>
          <a:xfrm>
            <a:off x="457200" y="91440"/>
            <a:ext cx="8229600" cy="548640"/>
          </a:xfrm>
          <a:prstGeom prst="rect">
            <a:avLst/>
          </a:prstGeom>
          <a:noFill/>
          <a:ln/>
        </p:spPr>
        <p:txBody>
          <a:bodyPr wrap="square" lIns="0" tIns="0" rIns="0" bIns="0" rtlCol="0" anchor="ctr"/>
          <a:lstStyle/>
          <a:p>
            <a:pPr marL="0" indent="0">
              <a:buNone/>
            </a:pPr>
            <a:r>
              <a:rPr lang="en-US" sz="3200" b="1" dirty="0">
                <a:solidFill>
                  <a:srgbClr val="0D1B2A"/>
                </a:solidFill>
                <a:latin typeface="Calibri" pitchFamily="34" charset="0"/>
                <a:ea typeface="Calibri" pitchFamily="34" charset="-122"/>
                <a:cs typeface="Calibri" pitchFamily="34" charset="-120"/>
              </a:rPr>
              <a:t>Terraform Modular Architecture</a:t>
            </a:r>
            <a:endParaRPr lang="en-US" sz="3200" dirty="0"/>
          </a:p>
        </p:txBody>
      </p:sp>
      <p:sp>
        <p:nvSpPr>
          <p:cNvPr id="3" name="Shape 1"/>
          <p:cNvSpPr/>
          <p:nvPr/>
        </p:nvSpPr>
        <p:spPr>
          <a:xfrm>
            <a:off x="3474720" y="731520"/>
            <a:ext cx="2194560" cy="594360"/>
          </a:xfrm>
          <a:prstGeom prst="roundRect">
            <a:avLst>
              <a:gd name="adj" fmla="val 15385"/>
            </a:avLst>
          </a:prstGeom>
          <a:solidFill>
            <a:srgbClr val="0D1B2A"/>
          </a:solidFill>
          <a:ln/>
        </p:spPr>
        <p:txBody>
          <a:bodyPr/>
          <a:lstStyle/>
          <a:p>
            <a:endParaRPr lang="en-IN"/>
          </a:p>
        </p:txBody>
      </p:sp>
      <p:sp>
        <p:nvSpPr>
          <p:cNvPr id="4" name="Text 2"/>
          <p:cNvSpPr/>
          <p:nvPr/>
        </p:nvSpPr>
        <p:spPr>
          <a:xfrm>
            <a:off x="3474720" y="731520"/>
            <a:ext cx="2194560" cy="594360"/>
          </a:xfrm>
          <a:prstGeom prst="rect">
            <a:avLst/>
          </a:prstGeom>
          <a:noFill/>
          <a:ln/>
        </p:spPr>
        <p:txBody>
          <a:bodyPr wrap="square" lIns="0" tIns="0" rIns="0" bIns="0" rtlCol="0" anchor="ctr"/>
          <a:lstStyle/>
          <a:p>
            <a:pPr marL="0" indent="0" algn="ctr">
              <a:buNone/>
            </a:pPr>
            <a:r>
              <a:rPr lang="en-US" sz="950" b="1" dirty="0">
                <a:solidFill>
                  <a:srgbClr val="FFFFFF"/>
                </a:solidFill>
              </a:rPr>
              <a:t>Terraform Root</a:t>
            </a:r>
            <a:endParaRPr lang="en-US" sz="950" dirty="0"/>
          </a:p>
          <a:p>
            <a:pPr marL="0" indent="0" algn="ctr">
              <a:buNone/>
            </a:pPr>
            <a:r>
              <a:rPr lang="en-US" sz="950" b="1" dirty="0">
                <a:solidFill>
                  <a:srgbClr val="FFFFFF"/>
                </a:solidFill>
              </a:rPr>
              <a:t>main.tf / variables.tf / outputs.tf</a:t>
            </a:r>
            <a:endParaRPr lang="en-US" sz="950" dirty="0"/>
          </a:p>
        </p:txBody>
      </p:sp>
      <p:sp>
        <p:nvSpPr>
          <p:cNvPr id="5" name="Shape 3"/>
          <p:cNvSpPr/>
          <p:nvPr/>
        </p:nvSpPr>
        <p:spPr>
          <a:xfrm>
            <a:off x="4572000" y="1325880"/>
            <a:ext cx="0" cy="365760"/>
          </a:xfrm>
          <a:prstGeom prst="line">
            <a:avLst/>
          </a:prstGeom>
          <a:noFill/>
          <a:ln w="25400">
            <a:solidFill>
              <a:srgbClr val="00B4D8"/>
            </a:solidFill>
            <a:prstDash val="solid"/>
          </a:ln>
        </p:spPr>
        <p:txBody>
          <a:bodyPr/>
          <a:lstStyle/>
          <a:p>
            <a:endParaRPr lang="en-IN"/>
          </a:p>
        </p:txBody>
      </p:sp>
      <p:sp>
        <p:nvSpPr>
          <p:cNvPr id="6" name="Shape 4"/>
          <p:cNvSpPr/>
          <p:nvPr/>
        </p:nvSpPr>
        <p:spPr>
          <a:xfrm>
            <a:off x="4572000" y="1691640"/>
            <a:ext cx="0" cy="0"/>
          </a:xfrm>
          <a:prstGeom prst="line">
            <a:avLst/>
          </a:prstGeom>
          <a:noFill/>
          <a:ln w="12700">
            <a:solidFill>
              <a:srgbClr val="8899AA"/>
            </a:solidFill>
            <a:prstDash val="solid"/>
          </a:ln>
        </p:spPr>
        <p:txBody>
          <a:bodyPr/>
          <a:lstStyle/>
          <a:p>
            <a:endParaRPr lang="en-IN"/>
          </a:p>
        </p:txBody>
      </p:sp>
      <p:sp>
        <p:nvSpPr>
          <p:cNvPr id="7" name="Shape 5"/>
          <p:cNvSpPr/>
          <p:nvPr/>
        </p:nvSpPr>
        <p:spPr>
          <a:xfrm>
            <a:off x="1060704" y="1691640"/>
            <a:ext cx="0" cy="320040"/>
          </a:xfrm>
          <a:prstGeom prst="line">
            <a:avLst/>
          </a:prstGeom>
          <a:noFill/>
          <a:ln w="12700">
            <a:solidFill>
              <a:srgbClr val="8899AA"/>
            </a:solidFill>
            <a:prstDash val="solid"/>
          </a:ln>
        </p:spPr>
        <p:txBody>
          <a:bodyPr/>
          <a:lstStyle/>
          <a:p>
            <a:endParaRPr lang="en-IN"/>
          </a:p>
        </p:txBody>
      </p:sp>
      <p:sp>
        <p:nvSpPr>
          <p:cNvPr id="8" name="Shape 6"/>
          <p:cNvSpPr/>
          <p:nvPr/>
        </p:nvSpPr>
        <p:spPr>
          <a:xfrm>
            <a:off x="274320" y="2011680"/>
            <a:ext cx="1572768" cy="1005840"/>
          </a:xfrm>
          <a:prstGeom prst="roundRect">
            <a:avLst>
              <a:gd name="adj" fmla="val 9091"/>
            </a:avLst>
          </a:prstGeom>
          <a:solidFill>
            <a:srgbClr val="0077B6">
              <a:alpha val="90000"/>
            </a:srgbClr>
          </a:solidFill>
          <a:ln/>
          <a:effectLst>
            <a:outerShdw blurRad="101600" dist="38100" dir="2700000" algn="bl" rotWithShape="0">
              <a:srgbClr val="000000">
                <a:alpha val="10000"/>
              </a:srgbClr>
            </a:outerShdw>
          </a:effectLst>
        </p:spPr>
        <p:txBody>
          <a:bodyPr/>
          <a:lstStyle/>
          <a:p>
            <a:endParaRPr lang="en-IN"/>
          </a:p>
        </p:txBody>
      </p:sp>
      <p:sp>
        <p:nvSpPr>
          <p:cNvPr id="9" name="Text 7"/>
          <p:cNvSpPr/>
          <p:nvPr/>
        </p:nvSpPr>
        <p:spPr>
          <a:xfrm>
            <a:off x="274320" y="2029968"/>
            <a:ext cx="1572768" cy="347472"/>
          </a:xfrm>
          <a:prstGeom prst="rect">
            <a:avLst/>
          </a:prstGeom>
          <a:noFill/>
          <a:ln/>
        </p:spPr>
        <p:txBody>
          <a:bodyPr wrap="square" lIns="0" tIns="0" rIns="0" bIns="0" rtlCol="0" anchor="ctr"/>
          <a:lstStyle/>
          <a:p>
            <a:pPr marL="0" indent="0" algn="ctr">
              <a:buNone/>
            </a:pPr>
            <a:r>
              <a:rPr lang="en-US" sz="1050" b="1" dirty="0">
                <a:solidFill>
                  <a:srgbClr val="FFFFFF"/>
                </a:solidFill>
              </a:rPr>
              <a:t>networking</a:t>
            </a:r>
            <a:endParaRPr lang="en-US" sz="1050" dirty="0"/>
          </a:p>
        </p:txBody>
      </p:sp>
      <p:sp>
        <p:nvSpPr>
          <p:cNvPr id="10" name="Text 8"/>
          <p:cNvSpPr/>
          <p:nvPr/>
        </p:nvSpPr>
        <p:spPr>
          <a:xfrm>
            <a:off x="274320" y="2395728"/>
            <a:ext cx="1572768" cy="566928"/>
          </a:xfrm>
          <a:prstGeom prst="rect">
            <a:avLst/>
          </a:prstGeom>
          <a:noFill/>
          <a:ln/>
        </p:spPr>
        <p:txBody>
          <a:bodyPr wrap="square" lIns="0" tIns="0" rIns="0" bIns="0" rtlCol="0" anchor="ctr"/>
          <a:lstStyle/>
          <a:p>
            <a:pPr marL="0" indent="0" algn="ctr">
              <a:buNone/>
            </a:pPr>
            <a:r>
              <a:rPr lang="en-US" sz="900" dirty="0">
                <a:solidFill>
                  <a:srgbClr val="FFFFFF"/>
                </a:solidFill>
              </a:rPr>
              <a:t>VPC · Subnets</a:t>
            </a:r>
            <a:endParaRPr lang="en-US" sz="900" dirty="0"/>
          </a:p>
          <a:p>
            <a:pPr marL="0" indent="0" algn="ctr">
              <a:buNone/>
            </a:pPr>
            <a:r>
              <a:rPr lang="en-US" sz="900" dirty="0">
                <a:solidFill>
                  <a:srgbClr val="FFFFFF"/>
                </a:solidFill>
              </a:rPr>
              <a:t>NAT · IGW · Routes</a:t>
            </a:r>
            <a:endParaRPr lang="en-US" sz="900" dirty="0"/>
          </a:p>
        </p:txBody>
      </p:sp>
      <p:sp>
        <p:nvSpPr>
          <p:cNvPr id="11" name="Shape 9"/>
          <p:cNvSpPr/>
          <p:nvPr/>
        </p:nvSpPr>
        <p:spPr>
          <a:xfrm>
            <a:off x="4572000" y="1691640"/>
            <a:ext cx="0" cy="0"/>
          </a:xfrm>
          <a:prstGeom prst="line">
            <a:avLst/>
          </a:prstGeom>
          <a:noFill/>
          <a:ln w="12700">
            <a:solidFill>
              <a:srgbClr val="8899AA"/>
            </a:solidFill>
            <a:prstDash val="solid"/>
          </a:ln>
        </p:spPr>
        <p:txBody>
          <a:bodyPr/>
          <a:lstStyle/>
          <a:p>
            <a:endParaRPr lang="en-IN"/>
          </a:p>
        </p:txBody>
      </p:sp>
      <p:sp>
        <p:nvSpPr>
          <p:cNvPr id="12" name="Shape 10"/>
          <p:cNvSpPr/>
          <p:nvPr/>
        </p:nvSpPr>
        <p:spPr>
          <a:xfrm>
            <a:off x="2834640" y="1691640"/>
            <a:ext cx="0" cy="320040"/>
          </a:xfrm>
          <a:prstGeom prst="line">
            <a:avLst/>
          </a:prstGeom>
          <a:noFill/>
          <a:ln w="12700">
            <a:solidFill>
              <a:srgbClr val="8899AA"/>
            </a:solidFill>
            <a:prstDash val="solid"/>
          </a:ln>
        </p:spPr>
        <p:txBody>
          <a:bodyPr/>
          <a:lstStyle/>
          <a:p>
            <a:endParaRPr lang="en-IN"/>
          </a:p>
        </p:txBody>
      </p:sp>
      <p:sp>
        <p:nvSpPr>
          <p:cNvPr id="13" name="Shape 11"/>
          <p:cNvSpPr/>
          <p:nvPr/>
        </p:nvSpPr>
        <p:spPr>
          <a:xfrm>
            <a:off x="2048256" y="2011680"/>
            <a:ext cx="1572768" cy="1005840"/>
          </a:xfrm>
          <a:prstGeom prst="roundRect">
            <a:avLst>
              <a:gd name="adj" fmla="val 9091"/>
            </a:avLst>
          </a:prstGeom>
          <a:solidFill>
            <a:srgbClr val="7B2FBE">
              <a:alpha val="90000"/>
            </a:srgbClr>
          </a:solidFill>
          <a:ln/>
          <a:effectLst>
            <a:outerShdw blurRad="101600" dist="38100" dir="2700000" algn="bl" rotWithShape="0">
              <a:srgbClr val="000000">
                <a:alpha val="10000"/>
              </a:srgbClr>
            </a:outerShdw>
          </a:effectLst>
        </p:spPr>
        <p:txBody>
          <a:bodyPr/>
          <a:lstStyle/>
          <a:p>
            <a:endParaRPr lang="en-IN"/>
          </a:p>
        </p:txBody>
      </p:sp>
      <p:sp>
        <p:nvSpPr>
          <p:cNvPr id="14" name="Text 12"/>
          <p:cNvSpPr/>
          <p:nvPr/>
        </p:nvSpPr>
        <p:spPr>
          <a:xfrm>
            <a:off x="2048256" y="2029968"/>
            <a:ext cx="1572768" cy="347472"/>
          </a:xfrm>
          <a:prstGeom prst="rect">
            <a:avLst/>
          </a:prstGeom>
          <a:noFill/>
          <a:ln/>
        </p:spPr>
        <p:txBody>
          <a:bodyPr wrap="square" lIns="0" tIns="0" rIns="0" bIns="0" rtlCol="0" anchor="ctr"/>
          <a:lstStyle/>
          <a:p>
            <a:pPr marL="0" indent="0" algn="ctr">
              <a:buNone/>
            </a:pPr>
            <a:r>
              <a:rPr lang="en-US" sz="1050" b="1" dirty="0">
                <a:solidFill>
                  <a:srgbClr val="FFFFFF"/>
                </a:solidFill>
              </a:rPr>
              <a:t>security_groups</a:t>
            </a:r>
            <a:endParaRPr lang="en-US" sz="1050" dirty="0"/>
          </a:p>
        </p:txBody>
      </p:sp>
      <p:sp>
        <p:nvSpPr>
          <p:cNvPr id="15" name="Text 13"/>
          <p:cNvSpPr/>
          <p:nvPr/>
        </p:nvSpPr>
        <p:spPr>
          <a:xfrm>
            <a:off x="2048256" y="2395728"/>
            <a:ext cx="1572768" cy="566928"/>
          </a:xfrm>
          <a:prstGeom prst="rect">
            <a:avLst/>
          </a:prstGeom>
          <a:noFill/>
          <a:ln/>
        </p:spPr>
        <p:txBody>
          <a:bodyPr wrap="square" lIns="0" tIns="0" rIns="0" bIns="0" rtlCol="0" anchor="ctr"/>
          <a:lstStyle/>
          <a:p>
            <a:pPr marL="0" indent="0" algn="ctr">
              <a:buNone/>
            </a:pPr>
            <a:r>
              <a:rPr lang="en-US" sz="900" dirty="0">
                <a:solidFill>
                  <a:srgbClr val="FFFFFF"/>
                </a:solidFill>
              </a:rPr>
              <a:t>ALB · EKS · RDS</a:t>
            </a:r>
            <a:endParaRPr lang="en-US" sz="900" dirty="0"/>
          </a:p>
          <a:p>
            <a:pPr marL="0" indent="0" algn="ctr">
              <a:buNone/>
            </a:pPr>
            <a:r>
              <a:rPr lang="en-US" sz="900" dirty="0">
                <a:solidFill>
                  <a:srgbClr val="FFFFFF"/>
                </a:solidFill>
              </a:rPr>
              <a:t>firewall rules</a:t>
            </a:r>
            <a:endParaRPr lang="en-US" sz="900" dirty="0"/>
          </a:p>
        </p:txBody>
      </p:sp>
      <p:sp>
        <p:nvSpPr>
          <p:cNvPr id="16" name="Shape 14"/>
          <p:cNvSpPr/>
          <p:nvPr/>
        </p:nvSpPr>
        <p:spPr>
          <a:xfrm>
            <a:off x="4572000" y="1691640"/>
            <a:ext cx="36576" cy="0"/>
          </a:xfrm>
          <a:prstGeom prst="line">
            <a:avLst/>
          </a:prstGeom>
          <a:noFill/>
          <a:ln w="12700">
            <a:solidFill>
              <a:srgbClr val="8899AA"/>
            </a:solidFill>
            <a:prstDash val="solid"/>
          </a:ln>
        </p:spPr>
        <p:txBody>
          <a:bodyPr/>
          <a:lstStyle/>
          <a:p>
            <a:endParaRPr lang="en-IN"/>
          </a:p>
        </p:txBody>
      </p:sp>
      <p:sp>
        <p:nvSpPr>
          <p:cNvPr id="17" name="Shape 15"/>
          <p:cNvSpPr/>
          <p:nvPr/>
        </p:nvSpPr>
        <p:spPr>
          <a:xfrm>
            <a:off x="4608576" y="1691640"/>
            <a:ext cx="0" cy="320040"/>
          </a:xfrm>
          <a:prstGeom prst="line">
            <a:avLst/>
          </a:prstGeom>
          <a:noFill/>
          <a:ln w="12700">
            <a:solidFill>
              <a:srgbClr val="8899AA"/>
            </a:solidFill>
            <a:prstDash val="solid"/>
          </a:ln>
        </p:spPr>
        <p:txBody>
          <a:bodyPr/>
          <a:lstStyle/>
          <a:p>
            <a:endParaRPr lang="en-IN"/>
          </a:p>
        </p:txBody>
      </p:sp>
      <p:sp>
        <p:nvSpPr>
          <p:cNvPr id="18" name="Shape 16"/>
          <p:cNvSpPr/>
          <p:nvPr/>
        </p:nvSpPr>
        <p:spPr>
          <a:xfrm>
            <a:off x="3822192" y="2011680"/>
            <a:ext cx="1572768" cy="1005840"/>
          </a:xfrm>
          <a:prstGeom prst="roundRect">
            <a:avLst>
              <a:gd name="adj" fmla="val 9091"/>
            </a:avLst>
          </a:prstGeom>
          <a:solidFill>
            <a:srgbClr val="06D6A0">
              <a:alpha val="90000"/>
            </a:srgbClr>
          </a:solidFill>
          <a:ln/>
          <a:effectLst>
            <a:outerShdw blurRad="101600" dist="38100" dir="2700000" algn="bl" rotWithShape="0">
              <a:srgbClr val="000000">
                <a:alpha val="10000"/>
              </a:srgbClr>
            </a:outerShdw>
          </a:effectLst>
        </p:spPr>
        <p:txBody>
          <a:bodyPr/>
          <a:lstStyle/>
          <a:p>
            <a:endParaRPr lang="en-IN"/>
          </a:p>
        </p:txBody>
      </p:sp>
      <p:sp>
        <p:nvSpPr>
          <p:cNvPr id="19" name="Text 17"/>
          <p:cNvSpPr/>
          <p:nvPr/>
        </p:nvSpPr>
        <p:spPr>
          <a:xfrm>
            <a:off x="3822192" y="2029968"/>
            <a:ext cx="1572768" cy="347472"/>
          </a:xfrm>
          <a:prstGeom prst="rect">
            <a:avLst/>
          </a:prstGeom>
          <a:noFill/>
          <a:ln/>
        </p:spPr>
        <p:txBody>
          <a:bodyPr wrap="square" lIns="0" tIns="0" rIns="0" bIns="0" rtlCol="0" anchor="ctr"/>
          <a:lstStyle/>
          <a:p>
            <a:pPr marL="0" indent="0" algn="ctr">
              <a:buNone/>
            </a:pPr>
            <a:r>
              <a:rPr lang="en-US" sz="1050" b="1" dirty="0">
                <a:solidFill>
                  <a:srgbClr val="FFFFFF"/>
                </a:solidFill>
              </a:rPr>
              <a:t>rds</a:t>
            </a:r>
            <a:endParaRPr lang="en-US" sz="1050" dirty="0"/>
          </a:p>
        </p:txBody>
      </p:sp>
      <p:sp>
        <p:nvSpPr>
          <p:cNvPr id="20" name="Text 18"/>
          <p:cNvSpPr/>
          <p:nvPr/>
        </p:nvSpPr>
        <p:spPr>
          <a:xfrm>
            <a:off x="3822192" y="2395728"/>
            <a:ext cx="1572768" cy="566928"/>
          </a:xfrm>
          <a:prstGeom prst="rect">
            <a:avLst/>
          </a:prstGeom>
          <a:noFill/>
          <a:ln/>
        </p:spPr>
        <p:txBody>
          <a:bodyPr wrap="square" lIns="0" tIns="0" rIns="0" bIns="0" rtlCol="0" anchor="ctr"/>
          <a:lstStyle/>
          <a:p>
            <a:pPr marL="0" indent="0" algn="ctr">
              <a:buNone/>
            </a:pPr>
            <a:r>
              <a:rPr lang="en-US" sz="900" dirty="0">
                <a:solidFill>
                  <a:srgbClr val="FFFFFF"/>
                </a:solidFill>
              </a:rPr>
              <a:t>Managed PostgreSQL</a:t>
            </a:r>
            <a:endParaRPr lang="en-US" sz="900" dirty="0"/>
          </a:p>
          <a:p>
            <a:pPr marL="0" indent="0" algn="ctr">
              <a:buNone/>
            </a:pPr>
            <a:r>
              <a:rPr lang="en-US" sz="900" dirty="0">
                <a:solidFill>
                  <a:srgbClr val="FFFFFF"/>
                </a:solidFill>
              </a:rPr>
              <a:t>backup · multi-AZ</a:t>
            </a:r>
            <a:endParaRPr lang="en-US" sz="900" dirty="0"/>
          </a:p>
        </p:txBody>
      </p:sp>
      <p:sp>
        <p:nvSpPr>
          <p:cNvPr id="21" name="Shape 19"/>
          <p:cNvSpPr/>
          <p:nvPr/>
        </p:nvSpPr>
        <p:spPr>
          <a:xfrm>
            <a:off x="4572000" y="1691640"/>
            <a:ext cx="1810512" cy="0"/>
          </a:xfrm>
          <a:prstGeom prst="line">
            <a:avLst/>
          </a:prstGeom>
          <a:noFill/>
          <a:ln w="12700">
            <a:solidFill>
              <a:srgbClr val="8899AA"/>
            </a:solidFill>
            <a:prstDash val="solid"/>
          </a:ln>
        </p:spPr>
        <p:txBody>
          <a:bodyPr/>
          <a:lstStyle/>
          <a:p>
            <a:endParaRPr lang="en-IN"/>
          </a:p>
        </p:txBody>
      </p:sp>
      <p:sp>
        <p:nvSpPr>
          <p:cNvPr id="22" name="Shape 20"/>
          <p:cNvSpPr/>
          <p:nvPr/>
        </p:nvSpPr>
        <p:spPr>
          <a:xfrm>
            <a:off x="6382512" y="1691640"/>
            <a:ext cx="0" cy="320040"/>
          </a:xfrm>
          <a:prstGeom prst="line">
            <a:avLst/>
          </a:prstGeom>
          <a:noFill/>
          <a:ln w="12700">
            <a:solidFill>
              <a:srgbClr val="8899AA"/>
            </a:solidFill>
            <a:prstDash val="solid"/>
          </a:ln>
        </p:spPr>
        <p:txBody>
          <a:bodyPr/>
          <a:lstStyle/>
          <a:p>
            <a:endParaRPr lang="en-IN"/>
          </a:p>
        </p:txBody>
      </p:sp>
      <p:sp>
        <p:nvSpPr>
          <p:cNvPr id="23" name="Shape 21"/>
          <p:cNvSpPr/>
          <p:nvPr/>
        </p:nvSpPr>
        <p:spPr>
          <a:xfrm>
            <a:off x="5596128" y="2011680"/>
            <a:ext cx="1572768" cy="1005840"/>
          </a:xfrm>
          <a:prstGeom prst="roundRect">
            <a:avLst>
              <a:gd name="adj" fmla="val 9091"/>
            </a:avLst>
          </a:prstGeom>
          <a:solidFill>
            <a:srgbClr val="BE2F6B">
              <a:alpha val="90000"/>
            </a:srgbClr>
          </a:solidFill>
          <a:ln/>
          <a:effectLst>
            <a:outerShdw blurRad="101600" dist="38100" dir="2700000" algn="bl" rotWithShape="0">
              <a:srgbClr val="000000">
                <a:alpha val="10000"/>
              </a:srgbClr>
            </a:outerShdw>
          </a:effectLst>
        </p:spPr>
        <p:txBody>
          <a:bodyPr/>
          <a:lstStyle/>
          <a:p>
            <a:endParaRPr lang="en-IN"/>
          </a:p>
        </p:txBody>
      </p:sp>
      <p:sp>
        <p:nvSpPr>
          <p:cNvPr id="24" name="Text 22"/>
          <p:cNvSpPr/>
          <p:nvPr/>
        </p:nvSpPr>
        <p:spPr>
          <a:xfrm>
            <a:off x="5596128" y="2029968"/>
            <a:ext cx="1572768" cy="347472"/>
          </a:xfrm>
          <a:prstGeom prst="rect">
            <a:avLst/>
          </a:prstGeom>
          <a:noFill/>
          <a:ln/>
        </p:spPr>
        <p:txBody>
          <a:bodyPr wrap="square" lIns="0" tIns="0" rIns="0" bIns="0" rtlCol="0" anchor="ctr"/>
          <a:lstStyle/>
          <a:p>
            <a:pPr marL="0" indent="0" algn="ctr">
              <a:buNone/>
            </a:pPr>
            <a:r>
              <a:rPr lang="en-US" sz="1050" b="1" dirty="0">
                <a:solidFill>
                  <a:srgbClr val="FFFFFF"/>
                </a:solidFill>
              </a:rPr>
              <a:t>eks</a:t>
            </a:r>
            <a:endParaRPr lang="en-US" sz="1050" dirty="0"/>
          </a:p>
        </p:txBody>
      </p:sp>
      <p:sp>
        <p:nvSpPr>
          <p:cNvPr id="25" name="Text 23"/>
          <p:cNvSpPr/>
          <p:nvPr/>
        </p:nvSpPr>
        <p:spPr>
          <a:xfrm>
            <a:off x="5596128" y="2395728"/>
            <a:ext cx="1572768" cy="566928"/>
          </a:xfrm>
          <a:prstGeom prst="rect">
            <a:avLst/>
          </a:prstGeom>
          <a:noFill/>
          <a:ln/>
        </p:spPr>
        <p:txBody>
          <a:bodyPr wrap="square" lIns="0" tIns="0" rIns="0" bIns="0" rtlCol="0" anchor="ctr"/>
          <a:lstStyle/>
          <a:p>
            <a:pPr marL="0" indent="0" algn="ctr">
              <a:buNone/>
            </a:pPr>
            <a:r>
              <a:rPr lang="en-US" sz="900" dirty="0">
                <a:solidFill>
                  <a:srgbClr val="FFFFFF"/>
                </a:solidFill>
              </a:rPr>
              <a:t>Cluster · Node Group</a:t>
            </a:r>
            <a:endParaRPr lang="en-US" sz="900" dirty="0"/>
          </a:p>
          <a:p>
            <a:pPr marL="0" indent="0" algn="ctr">
              <a:buNone/>
            </a:pPr>
            <a:r>
              <a:rPr lang="en-US" sz="900" dirty="0">
                <a:solidFill>
                  <a:srgbClr val="FFFFFF"/>
                </a:solidFill>
              </a:rPr>
              <a:t>OIDC Provider</a:t>
            </a:r>
            <a:endParaRPr lang="en-US" sz="900" dirty="0"/>
          </a:p>
        </p:txBody>
      </p:sp>
      <p:sp>
        <p:nvSpPr>
          <p:cNvPr id="26" name="Shape 24"/>
          <p:cNvSpPr/>
          <p:nvPr/>
        </p:nvSpPr>
        <p:spPr>
          <a:xfrm>
            <a:off x="4572000" y="1691640"/>
            <a:ext cx="3584448" cy="0"/>
          </a:xfrm>
          <a:prstGeom prst="line">
            <a:avLst/>
          </a:prstGeom>
          <a:noFill/>
          <a:ln w="12700">
            <a:solidFill>
              <a:srgbClr val="8899AA"/>
            </a:solidFill>
            <a:prstDash val="solid"/>
          </a:ln>
        </p:spPr>
        <p:txBody>
          <a:bodyPr/>
          <a:lstStyle/>
          <a:p>
            <a:endParaRPr lang="en-IN"/>
          </a:p>
        </p:txBody>
      </p:sp>
      <p:sp>
        <p:nvSpPr>
          <p:cNvPr id="27" name="Shape 25"/>
          <p:cNvSpPr/>
          <p:nvPr/>
        </p:nvSpPr>
        <p:spPr>
          <a:xfrm>
            <a:off x="8156448" y="1691640"/>
            <a:ext cx="0" cy="320040"/>
          </a:xfrm>
          <a:prstGeom prst="line">
            <a:avLst/>
          </a:prstGeom>
          <a:noFill/>
          <a:ln w="12700">
            <a:solidFill>
              <a:srgbClr val="8899AA"/>
            </a:solidFill>
            <a:prstDash val="solid"/>
          </a:ln>
        </p:spPr>
        <p:txBody>
          <a:bodyPr/>
          <a:lstStyle/>
          <a:p>
            <a:endParaRPr lang="en-IN"/>
          </a:p>
        </p:txBody>
      </p:sp>
      <p:sp>
        <p:nvSpPr>
          <p:cNvPr id="28" name="Shape 26"/>
          <p:cNvSpPr/>
          <p:nvPr/>
        </p:nvSpPr>
        <p:spPr>
          <a:xfrm>
            <a:off x="7370064" y="2011680"/>
            <a:ext cx="1572768" cy="1005840"/>
          </a:xfrm>
          <a:prstGeom prst="roundRect">
            <a:avLst>
              <a:gd name="adj" fmla="val 9091"/>
            </a:avLst>
          </a:prstGeom>
          <a:solidFill>
            <a:srgbClr val="F4A261">
              <a:alpha val="90000"/>
            </a:srgbClr>
          </a:solidFill>
          <a:ln/>
          <a:effectLst>
            <a:outerShdw blurRad="101600" dist="38100" dir="2700000" algn="bl" rotWithShape="0">
              <a:srgbClr val="000000">
                <a:alpha val="10000"/>
              </a:srgbClr>
            </a:outerShdw>
          </a:effectLst>
        </p:spPr>
        <p:txBody>
          <a:bodyPr/>
          <a:lstStyle/>
          <a:p>
            <a:endParaRPr lang="en-IN"/>
          </a:p>
        </p:txBody>
      </p:sp>
      <p:sp>
        <p:nvSpPr>
          <p:cNvPr id="29" name="Text 27"/>
          <p:cNvSpPr/>
          <p:nvPr/>
        </p:nvSpPr>
        <p:spPr>
          <a:xfrm>
            <a:off x="7370064" y="2029968"/>
            <a:ext cx="1572768" cy="347472"/>
          </a:xfrm>
          <a:prstGeom prst="rect">
            <a:avLst/>
          </a:prstGeom>
          <a:noFill/>
          <a:ln/>
        </p:spPr>
        <p:txBody>
          <a:bodyPr wrap="square" lIns="0" tIns="0" rIns="0" bIns="0" rtlCol="0" anchor="ctr"/>
          <a:lstStyle/>
          <a:p>
            <a:pPr marL="0" indent="0" algn="ctr">
              <a:buNone/>
            </a:pPr>
            <a:r>
              <a:rPr lang="en-US" sz="1050" b="1" dirty="0">
                <a:solidFill>
                  <a:srgbClr val="FFFFFF"/>
                </a:solidFill>
              </a:rPr>
              <a:t>configuration</a:t>
            </a:r>
            <a:endParaRPr lang="en-US" sz="1050" dirty="0"/>
          </a:p>
        </p:txBody>
      </p:sp>
      <p:sp>
        <p:nvSpPr>
          <p:cNvPr id="30" name="Text 28"/>
          <p:cNvSpPr/>
          <p:nvPr/>
        </p:nvSpPr>
        <p:spPr>
          <a:xfrm>
            <a:off x="7370064" y="2395728"/>
            <a:ext cx="1572768" cy="566928"/>
          </a:xfrm>
          <a:prstGeom prst="rect">
            <a:avLst/>
          </a:prstGeom>
          <a:noFill/>
          <a:ln/>
        </p:spPr>
        <p:txBody>
          <a:bodyPr wrap="square" lIns="0" tIns="0" rIns="0" bIns="0" rtlCol="0" anchor="ctr"/>
          <a:lstStyle/>
          <a:p>
            <a:pPr marL="0" indent="0" algn="ctr">
              <a:buNone/>
            </a:pPr>
            <a:r>
              <a:rPr lang="en-US" sz="900" dirty="0">
                <a:solidFill>
                  <a:srgbClr val="FFFFFF"/>
                </a:solidFill>
              </a:rPr>
              <a:t>SSM Parameters</a:t>
            </a:r>
            <a:endParaRPr lang="en-US" sz="900" dirty="0"/>
          </a:p>
          <a:p>
            <a:pPr marL="0" indent="0" algn="ctr">
              <a:buNone/>
            </a:pPr>
            <a:r>
              <a:rPr lang="en-US" sz="900" dirty="0">
                <a:solidFill>
                  <a:srgbClr val="FFFFFF"/>
                </a:solidFill>
              </a:rPr>
              <a:t>Secrets setup</a:t>
            </a:r>
            <a:endParaRPr lang="en-US" sz="900" dirty="0"/>
          </a:p>
        </p:txBody>
      </p:sp>
      <p:sp>
        <p:nvSpPr>
          <p:cNvPr id="31" name="Shape 29"/>
          <p:cNvSpPr/>
          <p:nvPr/>
        </p:nvSpPr>
        <p:spPr>
          <a:xfrm>
            <a:off x="274320" y="3246120"/>
            <a:ext cx="8595360" cy="1005840"/>
          </a:xfrm>
          <a:prstGeom prst="roundRect">
            <a:avLst>
              <a:gd name="adj" fmla="val 9091"/>
            </a:avLst>
          </a:prstGeom>
          <a:solidFill>
            <a:srgbClr val="E8EFF8"/>
          </a:solidFill>
          <a:ln/>
          <a:effectLst>
            <a:outerShdw blurRad="101600" dist="38100" dir="2700000" algn="bl" rotWithShape="0">
              <a:srgbClr val="000000">
                <a:alpha val="10000"/>
              </a:srgbClr>
            </a:outerShdw>
          </a:effectLst>
        </p:spPr>
        <p:txBody>
          <a:bodyPr/>
          <a:lstStyle/>
          <a:p>
            <a:endParaRPr lang="en-IN"/>
          </a:p>
        </p:txBody>
      </p:sp>
      <p:sp>
        <p:nvSpPr>
          <p:cNvPr id="32" name="Text 30"/>
          <p:cNvSpPr/>
          <p:nvPr/>
        </p:nvSpPr>
        <p:spPr>
          <a:xfrm>
            <a:off x="365760" y="3291840"/>
            <a:ext cx="1828800" cy="274320"/>
          </a:xfrm>
          <a:prstGeom prst="rect">
            <a:avLst/>
          </a:prstGeom>
          <a:noFill/>
          <a:ln/>
        </p:spPr>
        <p:txBody>
          <a:bodyPr wrap="square" lIns="0" tIns="0" rIns="0" bIns="0" rtlCol="0" anchor="ctr"/>
          <a:lstStyle/>
          <a:p>
            <a:pPr marL="0" indent="0">
              <a:buNone/>
            </a:pPr>
            <a:r>
              <a:rPr lang="en-US" sz="1000" b="1" dirty="0">
                <a:solidFill>
                  <a:srgbClr val="0077B6"/>
                </a:solidFill>
              </a:rPr>
              <a:t>phase2 / addons</a:t>
            </a:r>
            <a:endParaRPr lang="en-US" sz="1000" dirty="0"/>
          </a:p>
        </p:txBody>
      </p:sp>
      <p:sp>
        <p:nvSpPr>
          <p:cNvPr id="33" name="Shape 31"/>
          <p:cNvSpPr/>
          <p:nvPr/>
        </p:nvSpPr>
        <p:spPr>
          <a:xfrm>
            <a:off x="457200" y="3611880"/>
            <a:ext cx="2011680" cy="502920"/>
          </a:xfrm>
          <a:prstGeom prst="roundRect">
            <a:avLst>
              <a:gd name="adj" fmla="val 12727"/>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34" name="Text 32"/>
          <p:cNvSpPr/>
          <p:nvPr/>
        </p:nvSpPr>
        <p:spPr>
          <a:xfrm>
            <a:off x="457200" y="3611880"/>
            <a:ext cx="2011680" cy="502920"/>
          </a:xfrm>
          <a:prstGeom prst="rect">
            <a:avLst/>
          </a:prstGeom>
          <a:noFill/>
          <a:ln/>
        </p:spPr>
        <p:txBody>
          <a:bodyPr wrap="square" lIns="0" tIns="0" rIns="0" bIns="0" rtlCol="0" anchor="ctr"/>
          <a:lstStyle/>
          <a:p>
            <a:pPr marL="0" indent="0" algn="ctr">
              <a:buNone/>
            </a:pPr>
            <a:r>
              <a:rPr lang="en-US" sz="1000" dirty="0">
                <a:solidFill>
                  <a:srgbClr val="0D1B2A"/>
                </a:solidFill>
              </a:rPr>
              <a:t>AWS Load Balancer Controller</a:t>
            </a:r>
            <a:endParaRPr lang="en-US" sz="1000" dirty="0"/>
          </a:p>
        </p:txBody>
      </p:sp>
      <p:sp>
        <p:nvSpPr>
          <p:cNvPr id="35" name="Shape 33"/>
          <p:cNvSpPr/>
          <p:nvPr/>
        </p:nvSpPr>
        <p:spPr>
          <a:xfrm>
            <a:off x="2606040" y="3611880"/>
            <a:ext cx="2011680" cy="502920"/>
          </a:xfrm>
          <a:prstGeom prst="roundRect">
            <a:avLst>
              <a:gd name="adj" fmla="val 12727"/>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36" name="Text 34"/>
          <p:cNvSpPr/>
          <p:nvPr/>
        </p:nvSpPr>
        <p:spPr>
          <a:xfrm>
            <a:off x="2606040" y="3611880"/>
            <a:ext cx="2011680" cy="502920"/>
          </a:xfrm>
          <a:prstGeom prst="rect">
            <a:avLst/>
          </a:prstGeom>
          <a:noFill/>
          <a:ln/>
        </p:spPr>
        <p:txBody>
          <a:bodyPr wrap="square" lIns="0" tIns="0" rIns="0" bIns="0" rtlCol="0" anchor="ctr"/>
          <a:lstStyle/>
          <a:p>
            <a:pPr marL="0" indent="0" algn="ctr">
              <a:buNone/>
            </a:pPr>
            <a:r>
              <a:rPr lang="en-US" sz="1000" dirty="0">
                <a:solidFill>
                  <a:srgbClr val="0D1B2A"/>
                </a:solidFill>
              </a:rPr>
              <a:t>External Secrets Operator</a:t>
            </a:r>
            <a:endParaRPr lang="en-US" sz="1000" dirty="0"/>
          </a:p>
        </p:txBody>
      </p:sp>
      <p:sp>
        <p:nvSpPr>
          <p:cNvPr id="37" name="Shape 35"/>
          <p:cNvSpPr/>
          <p:nvPr/>
        </p:nvSpPr>
        <p:spPr>
          <a:xfrm>
            <a:off x="4754880" y="3611880"/>
            <a:ext cx="2011680" cy="502920"/>
          </a:xfrm>
          <a:prstGeom prst="roundRect">
            <a:avLst>
              <a:gd name="adj" fmla="val 12727"/>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38" name="Text 36"/>
          <p:cNvSpPr/>
          <p:nvPr/>
        </p:nvSpPr>
        <p:spPr>
          <a:xfrm>
            <a:off x="4754880" y="3611880"/>
            <a:ext cx="2011680" cy="502920"/>
          </a:xfrm>
          <a:prstGeom prst="rect">
            <a:avLst/>
          </a:prstGeom>
          <a:noFill/>
          <a:ln/>
        </p:spPr>
        <p:txBody>
          <a:bodyPr wrap="square" lIns="0" tIns="0" rIns="0" bIns="0" rtlCol="0" anchor="ctr"/>
          <a:lstStyle/>
          <a:p>
            <a:pPr marL="0" indent="0" algn="ctr">
              <a:buNone/>
            </a:pPr>
            <a:r>
              <a:rPr lang="en-US" sz="1000" dirty="0">
                <a:solidFill>
                  <a:srgbClr val="0D1B2A"/>
                </a:solidFill>
              </a:rPr>
              <a:t>CloudWatch Dashboard</a:t>
            </a:r>
            <a:endParaRPr lang="en-US" sz="1000" dirty="0"/>
          </a:p>
        </p:txBody>
      </p:sp>
      <p:sp>
        <p:nvSpPr>
          <p:cNvPr id="39" name="Shape 37"/>
          <p:cNvSpPr/>
          <p:nvPr/>
        </p:nvSpPr>
        <p:spPr>
          <a:xfrm>
            <a:off x="6903720" y="3611880"/>
            <a:ext cx="2011680" cy="502920"/>
          </a:xfrm>
          <a:prstGeom prst="roundRect">
            <a:avLst>
              <a:gd name="adj" fmla="val 12727"/>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40" name="Text 38"/>
          <p:cNvSpPr/>
          <p:nvPr/>
        </p:nvSpPr>
        <p:spPr>
          <a:xfrm>
            <a:off x="6903720" y="3611880"/>
            <a:ext cx="2011680" cy="502920"/>
          </a:xfrm>
          <a:prstGeom prst="rect">
            <a:avLst/>
          </a:prstGeom>
          <a:noFill/>
          <a:ln/>
        </p:spPr>
        <p:txBody>
          <a:bodyPr wrap="square" lIns="0" tIns="0" rIns="0" bIns="0" rtlCol="0" anchor="ctr"/>
          <a:lstStyle/>
          <a:p>
            <a:pPr marL="0" indent="0" algn="ctr">
              <a:buNone/>
            </a:pPr>
            <a:r>
              <a:rPr lang="en-US" sz="1000" dirty="0">
                <a:solidFill>
                  <a:srgbClr val="0D1B2A"/>
                </a:solidFill>
              </a:rPr>
              <a:t>CloudWatch Alarms</a:t>
            </a:r>
            <a:endParaRPr lang="en-US" sz="1000" dirty="0"/>
          </a:p>
        </p:txBody>
      </p:sp>
      <p:sp>
        <p:nvSpPr>
          <p:cNvPr id="41" name="Shape 39"/>
          <p:cNvSpPr/>
          <p:nvPr/>
        </p:nvSpPr>
        <p:spPr>
          <a:xfrm>
            <a:off x="274320" y="4389120"/>
            <a:ext cx="8595360" cy="548640"/>
          </a:xfrm>
          <a:prstGeom prst="roundRect">
            <a:avLst>
              <a:gd name="adj" fmla="val 13333"/>
            </a:avLst>
          </a:prstGeom>
          <a:solidFill>
            <a:srgbClr val="0D1B2A"/>
          </a:solidFill>
          <a:ln/>
        </p:spPr>
        <p:txBody>
          <a:bodyPr/>
          <a:lstStyle/>
          <a:p>
            <a:endParaRPr lang="en-IN"/>
          </a:p>
        </p:txBody>
      </p:sp>
      <p:sp>
        <p:nvSpPr>
          <p:cNvPr id="42" name="Text 40"/>
          <p:cNvSpPr/>
          <p:nvPr/>
        </p:nvSpPr>
        <p:spPr>
          <a:xfrm>
            <a:off x="274320" y="4389120"/>
            <a:ext cx="8595360" cy="548640"/>
          </a:xfrm>
          <a:prstGeom prst="rect">
            <a:avLst/>
          </a:prstGeom>
          <a:noFill/>
          <a:ln/>
        </p:spPr>
        <p:txBody>
          <a:bodyPr wrap="square" lIns="0" tIns="0" rIns="0" bIns="0" rtlCol="0" anchor="ctr"/>
          <a:lstStyle/>
          <a:p>
            <a:pPr marL="0" indent="0" algn="ctr">
              <a:buNone/>
            </a:pPr>
            <a:r>
              <a:rPr lang="en-US" sz="1100" dirty="0">
                <a:solidFill>
                  <a:srgbClr val="00B4D8"/>
                </a:solidFill>
              </a:rPr>
              <a:t>Backend Bootstrap:  S3 Remote State Bucket  ·  DynamoDB Locking Table  ·  Encrypted  ·  Environment Separation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109728"/>
            <a:ext cx="8229600" cy="530352"/>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Kubernetes Deployment Architecture</a:t>
            </a:r>
            <a:endParaRPr lang="en-US" sz="3000" dirty="0"/>
          </a:p>
        </p:txBody>
      </p:sp>
      <p:sp>
        <p:nvSpPr>
          <p:cNvPr id="3" name="Shape 1"/>
          <p:cNvSpPr/>
          <p:nvPr/>
        </p:nvSpPr>
        <p:spPr>
          <a:xfrm>
            <a:off x="274320" y="749808"/>
            <a:ext cx="1828800" cy="594360"/>
          </a:xfrm>
          <a:prstGeom prst="roundRect">
            <a:avLst>
              <a:gd name="adj" fmla="val 15385"/>
            </a:avLst>
          </a:prstGeom>
          <a:solidFill>
            <a:srgbClr val="7B2FBE"/>
          </a:solidFill>
          <a:ln/>
        </p:spPr>
        <p:txBody>
          <a:bodyPr/>
          <a:lstStyle/>
          <a:p>
            <a:endParaRPr lang="en-IN"/>
          </a:p>
        </p:txBody>
      </p:sp>
      <p:sp>
        <p:nvSpPr>
          <p:cNvPr id="4" name="Text 2"/>
          <p:cNvSpPr/>
          <p:nvPr/>
        </p:nvSpPr>
        <p:spPr>
          <a:xfrm>
            <a:off x="274320" y="749808"/>
            <a:ext cx="1828800" cy="594360"/>
          </a:xfrm>
          <a:prstGeom prst="rect">
            <a:avLst/>
          </a:prstGeom>
          <a:noFill/>
          <a:ln/>
        </p:spPr>
        <p:txBody>
          <a:bodyPr wrap="square" lIns="0" tIns="0" rIns="0" bIns="0" rtlCol="0" anchor="ctr"/>
          <a:lstStyle/>
          <a:p>
            <a:pPr marL="0" indent="0" algn="ctr">
              <a:buNone/>
            </a:pPr>
            <a:r>
              <a:rPr lang="en-US" sz="1100" b="1" dirty="0">
                <a:solidFill>
                  <a:srgbClr val="FFFFFF"/>
                </a:solidFill>
              </a:rPr>
              <a:t>Helm Chart</a:t>
            </a:r>
            <a:endParaRPr lang="en-US" sz="1100" dirty="0"/>
          </a:p>
          <a:p>
            <a:pPr marL="0" indent="0" algn="ctr">
              <a:buNone/>
            </a:pPr>
            <a:r>
              <a:rPr lang="en-US" sz="1100" b="1" dirty="0">
                <a:solidFill>
                  <a:srgbClr val="FFFFFF"/>
                </a:solidFill>
              </a:rPr>
              <a:t>hirevoice/</a:t>
            </a:r>
            <a:endParaRPr lang="en-US" sz="1100" dirty="0"/>
          </a:p>
        </p:txBody>
      </p:sp>
      <p:sp>
        <p:nvSpPr>
          <p:cNvPr id="5" name="Shape 3"/>
          <p:cNvSpPr/>
          <p:nvPr/>
        </p:nvSpPr>
        <p:spPr>
          <a:xfrm>
            <a:off x="2103120" y="1042416"/>
            <a:ext cx="502920" cy="0"/>
          </a:xfrm>
          <a:prstGeom prst="line">
            <a:avLst/>
          </a:prstGeom>
          <a:noFill/>
          <a:ln w="25400">
            <a:solidFill>
              <a:srgbClr val="00B4D8"/>
            </a:solidFill>
            <a:prstDash val="solid"/>
          </a:ln>
        </p:spPr>
        <p:txBody>
          <a:bodyPr/>
          <a:lstStyle/>
          <a:p>
            <a:endParaRPr lang="en-IN"/>
          </a:p>
        </p:txBody>
      </p:sp>
      <p:sp>
        <p:nvSpPr>
          <p:cNvPr id="6" name="Shape 4"/>
          <p:cNvSpPr/>
          <p:nvPr/>
        </p:nvSpPr>
        <p:spPr>
          <a:xfrm>
            <a:off x="2606040" y="749808"/>
            <a:ext cx="2011680" cy="594360"/>
          </a:xfrm>
          <a:prstGeom prst="roundRect">
            <a:avLst>
              <a:gd name="adj" fmla="val 15385"/>
            </a:avLst>
          </a:prstGeom>
          <a:solidFill>
            <a:srgbClr val="0077B6"/>
          </a:solidFill>
          <a:ln/>
        </p:spPr>
        <p:txBody>
          <a:bodyPr/>
          <a:lstStyle/>
          <a:p>
            <a:endParaRPr lang="en-IN"/>
          </a:p>
        </p:txBody>
      </p:sp>
      <p:sp>
        <p:nvSpPr>
          <p:cNvPr id="7" name="Text 5"/>
          <p:cNvSpPr/>
          <p:nvPr/>
        </p:nvSpPr>
        <p:spPr>
          <a:xfrm>
            <a:off x="2606040" y="749808"/>
            <a:ext cx="2011680" cy="594360"/>
          </a:xfrm>
          <a:prstGeom prst="rect">
            <a:avLst/>
          </a:prstGeom>
          <a:noFill/>
          <a:ln/>
        </p:spPr>
        <p:txBody>
          <a:bodyPr wrap="square" lIns="0" tIns="0" rIns="0" bIns="0" rtlCol="0" anchor="ctr"/>
          <a:lstStyle/>
          <a:p>
            <a:pPr marL="0" indent="0" algn="ctr">
              <a:buNone/>
            </a:pPr>
            <a:r>
              <a:rPr lang="en-US" sz="1100" b="1" dirty="0">
                <a:solidFill>
                  <a:srgbClr val="FFFFFF"/>
                </a:solidFill>
              </a:rPr>
              <a:t>Namespace</a:t>
            </a:r>
            <a:endParaRPr lang="en-US" sz="1100" dirty="0"/>
          </a:p>
          <a:p>
            <a:pPr marL="0" indent="0" algn="ctr">
              <a:buNone/>
            </a:pPr>
            <a:r>
              <a:rPr lang="en-US" sz="1100" b="1" dirty="0">
                <a:solidFill>
                  <a:srgbClr val="FFFFFF"/>
                </a:solidFill>
              </a:rPr>
              <a:t>hirevoice</a:t>
            </a:r>
            <a:endParaRPr lang="en-US" sz="1100" dirty="0"/>
          </a:p>
        </p:txBody>
      </p:sp>
      <p:sp>
        <p:nvSpPr>
          <p:cNvPr id="8" name="Shape 6"/>
          <p:cNvSpPr/>
          <p:nvPr/>
        </p:nvSpPr>
        <p:spPr>
          <a:xfrm>
            <a:off x="4846320" y="640080"/>
            <a:ext cx="3977640" cy="3931920"/>
          </a:xfrm>
          <a:prstGeom prst="roundRect">
            <a:avLst>
              <a:gd name="adj" fmla="val 2791"/>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9" name="Text 7"/>
          <p:cNvSpPr/>
          <p:nvPr/>
        </p:nvSpPr>
        <p:spPr>
          <a:xfrm>
            <a:off x="4937760" y="685800"/>
            <a:ext cx="3749040" cy="292608"/>
          </a:xfrm>
          <a:prstGeom prst="rect">
            <a:avLst/>
          </a:prstGeom>
          <a:noFill/>
          <a:ln/>
        </p:spPr>
        <p:txBody>
          <a:bodyPr wrap="square" lIns="0" tIns="0" rIns="0" bIns="0" rtlCol="0" anchor="ctr"/>
          <a:lstStyle/>
          <a:p>
            <a:pPr marL="0" indent="0">
              <a:buNone/>
            </a:pPr>
            <a:r>
              <a:rPr lang="en-US" sz="900" b="1" dirty="0">
                <a:solidFill>
                  <a:srgbClr val="00B4D8"/>
                </a:solidFill>
              </a:rPr>
              <a:t>Deployments  (2 replicas each)</a:t>
            </a:r>
            <a:endParaRPr lang="en-US" sz="900" dirty="0"/>
          </a:p>
        </p:txBody>
      </p:sp>
      <p:sp>
        <p:nvSpPr>
          <p:cNvPr id="10" name="Shape 8"/>
          <p:cNvSpPr/>
          <p:nvPr/>
        </p:nvSpPr>
        <p:spPr>
          <a:xfrm>
            <a:off x="4983480" y="1051560"/>
            <a:ext cx="1783080" cy="822960"/>
          </a:xfrm>
          <a:prstGeom prst="roundRect">
            <a:avLst>
              <a:gd name="adj" fmla="val 10000"/>
            </a:avLst>
          </a:prstGeom>
          <a:solidFill>
            <a:srgbClr val="223355"/>
          </a:solidFill>
          <a:ln/>
          <a:effectLst>
            <a:outerShdw blurRad="101600" dist="38100" dir="2700000" algn="bl" rotWithShape="0">
              <a:srgbClr val="000000">
                <a:alpha val="10000"/>
              </a:srgbClr>
            </a:outerShdw>
          </a:effectLst>
        </p:spPr>
        <p:txBody>
          <a:bodyPr/>
          <a:lstStyle/>
          <a:p>
            <a:endParaRPr lang="en-IN"/>
          </a:p>
        </p:txBody>
      </p:sp>
      <p:sp>
        <p:nvSpPr>
          <p:cNvPr id="11" name="Text 9"/>
          <p:cNvSpPr/>
          <p:nvPr/>
        </p:nvSpPr>
        <p:spPr>
          <a:xfrm>
            <a:off x="4983480" y="1097280"/>
            <a:ext cx="1783080" cy="347472"/>
          </a:xfrm>
          <a:prstGeom prst="rect">
            <a:avLst/>
          </a:prstGeom>
          <a:noFill/>
          <a:ln/>
        </p:spPr>
        <p:txBody>
          <a:bodyPr wrap="square" lIns="0" tIns="0" rIns="0" bIns="0" rtlCol="0" anchor="ctr"/>
          <a:lstStyle/>
          <a:p>
            <a:pPr marL="0" indent="0" algn="ctr">
              <a:buNone/>
            </a:pPr>
            <a:r>
              <a:rPr lang="en-US" sz="1200" b="1" dirty="0">
                <a:solidFill>
                  <a:srgbClr val="00B4D8"/>
                </a:solidFill>
              </a:rPr>
              <a:t>auth</a:t>
            </a:r>
            <a:endParaRPr lang="en-US" sz="1200" dirty="0"/>
          </a:p>
        </p:txBody>
      </p:sp>
      <p:sp>
        <p:nvSpPr>
          <p:cNvPr id="12" name="Text 10"/>
          <p:cNvSpPr/>
          <p:nvPr/>
        </p:nvSpPr>
        <p:spPr>
          <a:xfrm>
            <a:off x="4983480" y="1453896"/>
            <a:ext cx="1783080" cy="347472"/>
          </a:xfrm>
          <a:prstGeom prst="rect">
            <a:avLst/>
          </a:prstGeom>
          <a:noFill/>
          <a:ln/>
        </p:spPr>
        <p:txBody>
          <a:bodyPr wrap="square" lIns="0" tIns="0" rIns="0" bIns="0" rtlCol="0" anchor="ctr"/>
          <a:lstStyle/>
          <a:p>
            <a:pPr marL="0" indent="0" algn="ctr">
              <a:buNone/>
            </a:pPr>
            <a:r>
              <a:rPr lang="en-US" sz="900" dirty="0">
                <a:solidFill>
                  <a:srgbClr val="AACCEE"/>
                </a:solidFill>
              </a:rPr>
              <a:t>image: ECR</a:t>
            </a:r>
            <a:endParaRPr lang="en-US" sz="900" dirty="0"/>
          </a:p>
          <a:p>
            <a:pPr marL="0" indent="0" algn="ctr">
              <a:buNone/>
            </a:pPr>
            <a:r>
              <a:rPr lang="en-US" sz="900" dirty="0">
                <a:solidFill>
                  <a:srgbClr val="AACCEE"/>
                </a:solidFill>
              </a:rPr>
              <a:t>2 replicas</a:t>
            </a:r>
            <a:endParaRPr lang="en-US" sz="900" dirty="0"/>
          </a:p>
        </p:txBody>
      </p:sp>
      <p:sp>
        <p:nvSpPr>
          <p:cNvPr id="13" name="Shape 11"/>
          <p:cNvSpPr/>
          <p:nvPr/>
        </p:nvSpPr>
        <p:spPr>
          <a:xfrm>
            <a:off x="6903720" y="1051560"/>
            <a:ext cx="1783080" cy="822960"/>
          </a:xfrm>
          <a:prstGeom prst="roundRect">
            <a:avLst>
              <a:gd name="adj" fmla="val 10000"/>
            </a:avLst>
          </a:prstGeom>
          <a:solidFill>
            <a:srgbClr val="223355"/>
          </a:solidFill>
          <a:ln/>
          <a:effectLst>
            <a:outerShdw blurRad="101600" dist="38100" dir="2700000" algn="bl" rotWithShape="0">
              <a:srgbClr val="000000">
                <a:alpha val="10000"/>
              </a:srgbClr>
            </a:outerShdw>
          </a:effectLst>
        </p:spPr>
        <p:txBody>
          <a:bodyPr/>
          <a:lstStyle/>
          <a:p>
            <a:endParaRPr lang="en-IN"/>
          </a:p>
        </p:txBody>
      </p:sp>
      <p:sp>
        <p:nvSpPr>
          <p:cNvPr id="14" name="Text 12"/>
          <p:cNvSpPr/>
          <p:nvPr/>
        </p:nvSpPr>
        <p:spPr>
          <a:xfrm>
            <a:off x="6903720" y="1097280"/>
            <a:ext cx="1783080" cy="347472"/>
          </a:xfrm>
          <a:prstGeom prst="rect">
            <a:avLst/>
          </a:prstGeom>
          <a:noFill/>
          <a:ln/>
        </p:spPr>
        <p:txBody>
          <a:bodyPr wrap="square" lIns="0" tIns="0" rIns="0" bIns="0" rtlCol="0" anchor="ctr"/>
          <a:lstStyle/>
          <a:p>
            <a:pPr marL="0" indent="0" algn="ctr">
              <a:buNone/>
            </a:pPr>
            <a:r>
              <a:rPr lang="en-US" sz="1200" b="1" dirty="0">
                <a:solidFill>
                  <a:srgbClr val="00B4D8"/>
                </a:solidFill>
              </a:rPr>
              <a:t>jobs</a:t>
            </a:r>
            <a:endParaRPr lang="en-US" sz="1200" dirty="0"/>
          </a:p>
        </p:txBody>
      </p:sp>
      <p:sp>
        <p:nvSpPr>
          <p:cNvPr id="15" name="Text 13"/>
          <p:cNvSpPr/>
          <p:nvPr/>
        </p:nvSpPr>
        <p:spPr>
          <a:xfrm>
            <a:off x="6903720" y="1453896"/>
            <a:ext cx="1783080" cy="347472"/>
          </a:xfrm>
          <a:prstGeom prst="rect">
            <a:avLst/>
          </a:prstGeom>
          <a:noFill/>
          <a:ln/>
        </p:spPr>
        <p:txBody>
          <a:bodyPr wrap="square" lIns="0" tIns="0" rIns="0" bIns="0" rtlCol="0" anchor="ctr"/>
          <a:lstStyle/>
          <a:p>
            <a:pPr marL="0" indent="0" algn="ctr">
              <a:buNone/>
            </a:pPr>
            <a:r>
              <a:rPr lang="en-US" sz="900" dirty="0">
                <a:solidFill>
                  <a:srgbClr val="AACCEE"/>
                </a:solidFill>
              </a:rPr>
              <a:t>image: ECR</a:t>
            </a:r>
            <a:endParaRPr lang="en-US" sz="900" dirty="0"/>
          </a:p>
          <a:p>
            <a:pPr marL="0" indent="0" algn="ctr">
              <a:buNone/>
            </a:pPr>
            <a:r>
              <a:rPr lang="en-US" sz="900" dirty="0">
                <a:solidFill>
                  <a:srgbClr val="AACCEE"/>
                </a:solidFill>
              </a:rPr>
              <a:t>2 replicas</a:t>
            </a:r>
            <a:endParaRPr lang="en-US" sz="900" dirty="0"/>
          </a:p>
        </p:txBody>
      </p:sp>
      <p:sp>
        <p:nvSpPr>
          <p:cNvPr id="16" name="Shape 14"/>
          <p:cNvSpPr/>
          <p:nvPr/>
        </p:nvSpPr>
        <p:spPr>
          <a:xfrm>
            <a:off x="4983480" y="2057400"/>
            <a:ext cx="1783080" cy="822960"/>
          </a:xfrm>
          <a:prstGeom prst="roundRect">
            <a:avLst>
              <a:gd name="adj" fmla="val 10000"/>
            </a:avLst>
          </a:prstGeom>
          <a:solidFill>
            <a:srgbClr val="223355"/>
          </a:solidFill>
          <a:ln/>
          <a:effectLst>
            <a:outerShdw blurRad="101600" dist="38100" dir="2700000" algn="bl" rotWithShape="0">
              <a:srgbClr val="000000">
                <a:alpha val="10000"/>
              </a:srgbClr>
            </a:outerShdw>
          </a:effectLst>
        </p:spPr>
        <p:txBody>
          <a:bodyPr/>
          <a:lstStyle/>
          <a:p>
            <a:endParaRPr lang="en-IN"/>
          </a:p>
        </p:txBody>
      </p:sp>
      <p:sp>
        <p:nvSpPr>
          <p:cNvPr id="17" name="Text 15"/>
          <p:cNvSpPr/>
          <p:nvPr/>
        </p:nvSpPr>
        <p:spPr>
          <a:xfrm>
            <a:off x="4983480" y="2103120"/>
            <a:ext cx="1783080" cy="347472"/>
          </a:xfrm>
          <a:prstGeom prst="rect">
            <a:avLst/>
          </a:prstGeom>
          <a:noFill/>
          <a:ln/>
        </p:spPr>
        <p:txBody>
          <a:bodyPr wrap="square" lIns="0" tIns="0" rIns="0" bIns="0" rtlCol="0" anchor="ctr"/>
          <a:lstStyle/>
          <a:p>
            <a:pPr marL="0" indent="0" algn="ctr">
              <a:buNone/>
            </a:pPr>
            <a:r>
              <a:rPr lang="en-US" sz="1200" b="1" dirty="0">
                <a:solidFill>
                  <a:srgbClr val="00B4D8"/>
                </a:solidFill>
              </a:rPr>
              <a:t>screening</a:t>
            </a:r>
            <a:endParaRPr lang="en-US" sz="1200" dirty="0"/>
          </a:p>
        </p:txBody>
      </p:sp>
      <p:sp>
        <p:nvSpPr>
          <p:cNvPr id="18" name="Text 16"/>
          <p:cNvSpPr/>
          <p:nvPr/>
        </p:nvSpPr>
        <p:spPr>
          <a:xfrm>
            <a:off x="4983480" y="2459736"/>
            <a:ext cx="1783080" cy="347472"/>
          </a:xfrm>
          <a:prstGeom prst="rect">
            <a:avLst/>
          </a:prstGeom>
          <a:noFill/>
          <a:ln/>
        </p:spPr>
        <p:txBody>
          <a:bodyPr wrap="square" lIns="0" tIns="0" rIns="0" bIns="0" rtlCol="0" anchor="ctr"/>
          <a:lstStyle/>
          <a:p>
            <a:pPr marL="0" indent="0" algn="ctr">
              <a:buNone/>
            </a:pPr>
            <a:r>
              <a:rPr lang="en-US" sz="900" dirty="0">
                <a:solidFill>
                  <a:srgbClr val="AACCEE"/>
                </a:solidFill>
              </a:rPr>
              <a:t>image: ECR</a:t>
            </a:r>
            <a:endParaRPr lang="en-US" sz="900" dirty="0"/>
          </a:p>
          <a:p>
            <a:pPr marL="0" indent="0" algn="ctr">
              <a:buNone/>
            </a:pPr>
            <a:r>
              <a:rPr lang="en-US" sz="900" dirty="0">
                <a:solidFill>
                  <a:srgbClr val="AACCEE"/>
                </a:solidFill>
              </a:rPr>
              <a:t>2 replicas</a:t>
            </a:r>
            <a:endParaRPr lang="en-US" sz="900" dirty="0"/>
          </a:p>
        </p:txBody>
      </p:sp>
      <p:sp>
        <p:nvSpPr>
          <p:cNvPr id="19" name="Shape 17"/>
          <p:cNvSpPr/>
          <p:nvPr/>
        </p:nvSpPr>
        <p:spPr>
          <a:xfrm>
            <a:off x="6903720" y="2057400"/>
            <a:ext cx="1783080" cy="822960"/>
          </a:xfrm>
          <a:prstGeom prst="roundRect">
            <a:avLst>
              <a:gd name="adj" fmla="val 10000"/>
            </a:avLst>
          </a:prstGeom>
          <a:solidFill>
            <a:srgbClr val="223355"/>
          </a:solidFill>
          <a:ln/>
          <a:effectLst>
            <a:outerShdw blurRad="101600" dist="38100" dir="2700000" algn="bl" rotWithShape="0">
              <a:srgbClr val="000000">
                <a:alpha val="10000"/>
              </a:srgbClr>
            </a:outerShdw>
          </a:effectLst>
        </p:spPr>
        <p:txBody>
          <a:bodyPr/>
          <a:lstStyle/>
          <a:p>
            <a:endParaRPr lang="en-IN"/>
          </a:p>
        </p:txBody>
      </p:sp>
      <p:sp>
        <p:nvSpPr>
          <p:cNvPr id="20" name="Text 18"/>
          <p:cNvSpPr/>
          <p:nvPr/>
        </p:nvSpPr>
        <p:spPr>
          <a:xfrm>
            <a:off x="6903720" y="2103120"/>
            <a:ext cx="1783080" cy="347472"/>
          </a:xfrm>
          <a:prstGeom prst="rect">
            <a:avLst/>
          </a:prstGeom>
          <a:noFill/>
          <a:ln/>
        </p:spPr>
        <p:txBody>
          <a:bodyPr wrap="square" lIns="0" tIns="0" rIns="0" bIns="0" rtlCol="0" anchor="ctr"/>
          <a:lstStyle/>
          <a:p>
            <a:pPr marL="0" indent="0" algn="ctr">
              <a:buNone/>
            </a:pPr>
            <a:r>
              <a:rPr lang="en-US" sz="1200" b="1" dirty="0">
                <a:solidFill>
                  <a:srgbClr val="00B4D8"/>
                </a:solidFill>
              </a:rPr>
              <a:t>interview</a:t>
            </a:r>
            <a:endParaRPr lang="en-US" sz="1200" dirty="0"/>
          </a:p>
        </p:txBody>
      </p:sp>
      <p:sp>
        <p:nvSpPr>
          <p:cNvPr id="21" name="Text 19"/>
          <p:cNvSpPr/>
          <p:nvPr/>
        </p:nvSpPr>
        <p:spPr>
          <a:xfrm>
            <a:off x="6903720" y="2459736"/>
            <a:ext cx="1783080" cy="347472"/>
          </a:xfrm>
          <a:prstGeom prst="rect">
            <a:avLst/>
          </a:prstGeom>
          <a:noFill/>
          <a:ln/>
        </p:spPr>
        <p:txBody>
          <a:bodyPr wrap="square" lIns="0" tIns="0" rIns="0" bIns="0" rtlCol="0" anchor="ctr"/>
          <a:lstStyle/>
          <a:p>
            <a:pPr marL="0" indent="0" algn="ctr">
              <a:buNone/>
            </a:pPr>
            <a:r>
              <a:rPr lang="en-US" sz="900" dirty="0">
                <a:solidFill>
                  <a:srgbClr val="AACCEE"/>
                </a:solidFill>
              </a:rPr>
              <a:t>image: ECR</a:t>
            </a:r>
            <a:endParaRPr lang="en-US" sz="900" dirty="0"/>
          </a:p>
          <a:p>
            <a:pPr marL="0" indent="0" algn="ctr">
              <a:buNone/>
            </a:pPr>
            <a:r>
              <a:rPr lang="en-US" sz="900" dirty="0">
                <a:solidFill>
                  <a:srgbClr val="AACCEE"/>
                </a:solidFill>
              </a:rPr>
              <a:t>2 replicas</a:t>
            </a:r>
            <a:endParaRPr lang="en-US" sz="900" dirty="0"/>
          </a:p>
        </p:txBody>
      </p:sp>
      <p:sp>
        <p:nvSpPr>
          <p:cNvPr id="22" name="Shape 20"/>
          <p:cNvSpPr/>
          <p:nvPr/>
        </p:nvSpPr>
        <p:spPr>
          <a:xfrm>
            <a:off x="4983480" y="3063240"/>
            <a:ext cx="1783080" cy="822960"/>
          </a:xfrm>
          <a:prstGeom prst="roundRect">
            <a:avLst>
              <a:gd name="adj" fmla="val 10000"/>
            </a:avLst>
          </a:prstGeom>
          <a:solidFill>
            <a:srgbClr val="223355"/>
          </a:solidFill>
          <a:ln/>
          <a:effectLst>
            <a:outerShdw blurRad="101600" dist="38100" dir="2700000" algn="bl" rotWithShape="0">
              <a:srgbClr val="000000">
                <a:alpha val="10000"/>
              </a:srgbClr>
            </a:outerShdw>
          </a:effectLst>
        </p:spPr>
        <p:txBody>
          <a:bodyPr/>
          <a:lstStyle/>
          <a:p>
            <a:endParaRPr lang="en-IN"/>
          </a:p>
        </p:txBody>
      </p:sp>
      <p:sp>
        <p:nvSpPr>
          <p:cNvPr id="23" name="Text 21"/>
          <p:cNvSpPr/>
          <p:nvPr/>
        </p:nvSpPr>
        <p:spPr>
          <a:xfrm>
            <a:off x="4983480" y="3108960"/>
            <a:ext cx="1783080" cy="347472"/>
          </a:xfrm>
          <a:prstGeom prst="rect">
            <a:avLst/>
          </a:prstGeom>
          <a:noFill/>
          <a:ln/>
        </p:spPr>
        <p:txBody>
          <a:bodyPr wrap="square" lIns="0" tIns="0" rIns="0" bIns="0" rtlCol="0" anchor="ctr"/>
          <a:lstStyle/>
          <a:p>
            <a:pPr marL="0" indent="0" algn="ctr">
              <a:buNone/>
            </a:pPr>
            <a:r>
              <a:rPr lang="en-US" sz="1200" b="1" dirty="0">
                <a:solidFill>
                  <a:srgbClr val="00B4D8"/>
                </a:solidFill>
              </a:rPr>
              <a:t>gateway</a:t>
            </a:r>
            <a:endParaRPr lang="en-US" sz="1200" dirty="0"/>
          </a:p>
        </p:txBody>
      </p:sp>
      <p:sp>
        <p:nvSpPr>
          <p:cNvPr id="24" name="Text 22"/>
          <p:cNvSpPr/>
          <p:nvPr/>
        </p:nvSpPr>
        <p:spPr>
          <a:xfrm>
            <a:off x="4983480" y="3465576"/>
            <a:ext cx="1783080" cy="347472"/>
          </a:xfrm>
          <a:prstGeom prst="rect">
            <a:avLst/>
          </a:prstGeom>
          <a:noFill/>
          <a:ln/>
        </p:spPr>
        <p:txBody>
          <a:bodyPr wrap="square" lIns="0" tIns="0" rIns="0" bIns="0" rtlCol="0" anchor="ctr"/>
          <a:lstStyle/>
          <a:p>
            <a:pPr marL="0" indent="0" algn="ctr">
              <a:buNone/>
            </a:pPr>
            <a:r>
              <a:rPr lang="en-US" sz="900" dirty="0">
                <a:solidFill>
                  <a:srgbClr val="AACCEE"/>
                </a:solidFill>
              </a:rPr>
              <a:t>image: ECR</a:t>
            </a:r>
            <a:endParaRPr lang="en-US" sz="900" dirty="0"/>
          </a:p>
          <a:p>
            <a:pPr marL="0" indent="0" algn="ctr">
              <a:buNone/>
            </a:pPr>
            <a:r>
              <a:rPr lang="en-US" sz="900" dirty="0">
                <a:solidFill>
                  <a:srgbClr val="AACCEE"/>
                </a:solidFill>
              </a:rPr>
              <a:t>2 replicas</a:t>
            </a:r>
            <a:endParaRPr lang="en-US" sz="900" dirty="0"/>
          </a:p>
        </p:txBody>
      </p:sp>
      <p:sp>
        <p:nvSpPr>
          <p:cNvPr id="25" name="Shape 23"/>
          <p:cNvSpPr/>
          <p:nvPr/>
        </p:nvSpPr>
        <p:spPr>
          <a:xfrm>
            <a:off x="6903720" y="3063240"/>
            <a:ext cx="1783080" cy="822960"/>
          </a:xfrm>
          <a:prstGeom prst="roundRect">
            <a:avLst>
              <a:gd name="adj" fmla="val 10000"/>
            </a:avLst>
          </a:prstGeom>
          <a:solidFill>
            <a:srgbClr val="223355"/>
          </a:solidFill>
          <a:ln/>
          <a:effectLst>
            <a:outerShdw blurRad="101600" dist="38100" dir="2700000" algn="bl" rotWithShape="0">
              <a:srgbClr val="000000">
                <a:alpha val="10000"/>
              </a:srgbClr>
            </a:outerShdw>
          </a:effectLst>
        </p:spPr>
        <p:txBody>
          <a:bodyPr/>
          <a:lstStyle/>
          <a:p>
            <a:endParaRPr lang="en-IN"/>
          </a:p>
        </p:txBody>
      </p:sp>
      <p:sp>
        <p:nvSpPr>
          <p:cNvPr id="26" name="Text 24"/>
          <p:cNvSpPr/>
          <p:nvPr/>
        </p:nvSpPr>
        <p:spPr>
          <a:xfrm>
            <a:off x="6903720" y="3108960"/>
            <a:ext cx="1783080" cy="347472"/>
          </a:xfrm>
          <a:prstGeom prst="rect">
            <a:avLst/>
          </a:prstGeom>
          <a:noFill/>
          <a:ln/>
        </p:spPr>
        <p:txBody>
          <a:bodyPr wrap="square" lIns="0" tIns="0" rIns="0" bIns="0" rtlCol="0" anchor="ctr"/>
          <a:lstStyle/>
          <a:p>
            <a:pPr marL="0" indent="0" algn="ctr">
              <a:buNone/>
            </a:pPr>
            <a:r>
              <a:rPr lang="en-US" sz="1200" b="1" dirty="0">
                <a:solidFill>
                  <a:srgbClr val="00B4D8"/>
                </a:solidFill>
              </a:rPr>
              <a:t>frontend</a:t>
            </a:r>
            <a:endParaRPr lang="en-US" sz="1200" dirty="0"/>
          </a:p>
        </p:txBody>
      </p:sp>
      <p:sp>
        <p:nvSpPr>
          <p:cNvPr id="27" name="Text 25"/>
          <p:cNvSpPr/>
          <p:nvPr/>
        </p:nvSpPr>
        <p:spPr>
          <a:xfrm>
            <a:off x="6903720" y="3465576"/>
            <a:ext cx="1783080" cy="347472"/>
          </a:xfrm>
          <a:prstGeom prst="rect">
            <a:avLst/>
          </a:prstGeom>
          <a:noFill/>
          <a:ln/>
        </p:spPr>
        <p:txBody>
          <a:bodyPr wrap="square" lIns="0" tIns="0" rIns="0" bIns="0" rtlCol="0" anchor="ctr"/>
          <a:lstStyle/>
          <a:p>
            <a:pPr marL="0" indent="0" algn="ctr">
              <a:buNone/>
            </a:pPr>
            <a:r>
              <a:rPr lang="en-US" sz="900" dirty="0">
                <a:solidFill>
                  <a:srgbClr val="AACCEE"/>
                </a:solidFill>
              </a:rPr>
              <a:t>image: ECR</a:t>
            </a:r>
            <a:endParaRPr lang="en-US" sz="900" dirty="0"/>
          </a:p>
          <a:p>
            <a:pPr marL="0" indent="0" algn="ctr">
              <a:buNone/>
            </a:pPr>
            <a:r>
              <a:rPr lang="en-US" sz="900" dirty="0">
                <a:solidFill>
                  <a:srgbClr val="AACCEE"/>
                </a:solidFill>
              </a:rPr>
              <a:t>2 replicas</a:t>
            </a:r>
            <a:endParaRPr lang="en-US" sz="900" dirty="0"/>
          </a:p>
        </p:txBody>
      </p:sp>
      <p:sp>
        <p:nvSpPr>
          <p:cNvPr id="28" name="Shape 26"/>
          <p:cNvSpPr/>
          <p:nvPr/>
        </p:nvSpPr>
        <p:spPr>
          <a:xfrm>
            <a:off x="274320" y="1463040"/>
            <a:ext cx="4297680" cy="457200"/>
          </a:xfrm>
          <a:prstGeom prst="roundRect">
            <a:avLst>
              <a:gd name="adj" fmla="val 16000"/>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29" name="Text 27"/>
          <p:cNvSpPr/>
          <p:nvPr/>
        </p:nvSpPr>
        <p:spPr>
          <a:xfrm>
            <a:off x="411480" y="1463040"/>
            <a:ext cx="1280160" cy="457200"/>
          </a:xfrm>
          <a:prstGeom prst="rect">
            <a:avLst/>
          </a:prstGeom>
          <a:noFill/>
          <a:ln/>
        </p:spPr>
        <p:txBody>
          <a:bodyPr wrap="square" lIns="0" tIns="0" rIns="0" bIns="0" rtlCol="0" anchor="ctr"/>
          <a:lstStyle/>
          <a:p>
            <a:pPr marL="0" indent="0">
              <a:buNone/>
            </a:pPr>
            <a:r>
              <a:rPr lang="en-US" sz="1100" b="1" dirty="0">
                <a:solidFill>
                  <a:srgbClr val="00B4D8"/>
                </a:solidFill>
              </a:rPr>
              <a:t>ConfigMaps</a:t>
            </a:r>
            <a:endParaRPr lang="en-US" sz="1100" dirty="0"/>
          </a:p>
        </p:txBody>
      </p:sp>
      <p:sp>
        <p:nvSpPr>
          <p:cNvPr id="30" name="Text 28"/>
          <p:cNvSpPr/>
          <p:nvPr/>
        </p:nvSpPr>
        <p:spPr>
          <a:xfrm>
            <a:off x="1691640" y="1463040"/>
            <a:ext cx="2743200" cy="457200"/>
          </a:xfrm>
          <a:prstGeom prst="rect">
            <a:avLst/>
          </a:prstGeom>
          <a:noFill/>
          <a:ln/>
        </p:spPr>
        <p:txBody>
          <a:bodyPr wrap="square" lIns="0" tIns="0" rIns="0" bIns="0" rtlCol="0" anchor="ctr"/>
          <a:lstStyle/>
          <a:p>
            <a:pPr marL="0" indent="0">
              <a:buNone/>
            </a:pPr>
            <a:r>
              <a:rPr lang="en-US" sz="1000" dirty="0">
                <a:solidFill>
                  <a:srgbClr val="AACCEE"/>
                </a:solidFill>
              </a:rPr>
              <a:t>Non-sensitive env vars, service URLs</a:t>
            </a:r>
            <a:endParaRPr lang="en-US" sz="1000" dirty="0"/>
          </a:p>
        </p:txBody>
      </p:sp>
      <p:sp>
        <p:nvSpPr>
          <p:cNvPr id="31" name="Shape 29"/>
          <p:cNvSpPr/>
          <p:nvPr/>
        </p:nvSpPr>
        <p:spPr>
          <a:xfrm>
            <a:off x="274320" y="2011680"/>
            <a:ext cx="4297680" cy="457200"/>
          </a:xfrm>
          <a:prstGeom prst="roundRect">
            <a:avLst>
              <a:gd name="adj" fmla="val 16000"/>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32" name="Text 30"/>
          <p:cNvSpPr/>
          <p:nvPr/>
        </p:nvSpPr>
        <p:spPr>
          <a:xfrm>
            <a:off x="411480" y="2011680"/>
            <a:ext cx="1280160" cy="457200"/>
          </a:xfrm>
          <a:prstGeom prst="rect">
            <a:avLst/>
          </a:prstGeom>
          <a:noFill/>
          <a:ln/>
        </p:spPr>
        <p:txBody>
          <a:bodyPr wrap="square" lIns="0" tIns="0" rIns="0" bIns="0" rtlCol="0" anchor="ctr"/>
          <a:lstStyle/>
          <a:p>
            <a:pPr marL="0" indent="0">
              <a:buNone/>
            </a:pPr>
            <a:r>
              <a:rPr lang="en-US" sz="1100" b="1" dirty="0">
                <a:solidFill>
                  <a:srgbClr val="00B4D8"/>
                </a:solidFill>
              </a:rPr>
              <a:t>Secrets</a:t>
            </a:r>
            <a:endParaRPr lang="en-US" sz="1100" dirty="0"/>
          </a:p>
        </p:txBody>
      </p:sp>
      <p:sp>
        <p:nvSpPr>
          <p:cNvPr id="33" name="Text 31"/>
          <p:cNvSpPr/>
          <p:nvPr/>
        </p:nvSpPr>
        <p:spPr>
          <a:xfrm>
            <a:off x="1691640" y="2011680"/>
            <a:ext cx="2743200" cy="457200"/>
          </a:xfrm>
          <a:prstGeom prst="rect">
            <a:avLst/>
          </a:prstGeom>
          <a:noFill/>
          <a:ln/>
        </p:spPr>
        <p:txBody>
          <a:bodyPr wrap="square" lIns="0" tIns="0" rIns="0" bIns="0" rtlCol="0" anchor="ctr"/>
          <a:lstStyle/>
          <a:p>
            <a:pPr marL="0" indent="0">
              <a:buNone/>
            </a:pPr>
            <a:r>
              <a:rPr lang="en-US" sz="1000" dirty="0">
                <a:solidFill>
                  <a:srgbClr val="AACCEE"/>
                </a:solidFill>
              </a:rPr>
              <a:t>DB creds via External Secrets → AWS SM</a:t>
            </a:r>
            <a:endParaRPr lang="en-US" sz="1000" dirty="0"/>
          </a:p>
        </p:txBody>
      </p:sp>
      <p:sp>
        <p:nvSpPr>
          <p:cNvPr id="34" name="Shape 32"/>
          <p:cNvSpPr/>
          <p:nvPr/>
        </p:nvSpPr>
        <p:spPr>
          <a:xfrm>
            <a:off x="274320" y="2560320"/>
            <a:ext cx="4297680" cy="457200"/>
          </a:xfrm>
          <a:prstGeom prst="roundRect">
            <a:avLst>
              <a:gd name="adj" fmla="val 16000"/>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35" name="Text 33"/>
          <p:cNvSpPr/>
          <p:nvPr/>
        </p:nvSpPr>
        <p:spPr>
          <a:xfrm>
            <a:off x="411480" y="2560320"/>
            <a:ext cx="1280160" cy="457200"/>
          </a:xfrm>
          <a:prstGeom prst="rect">
            <a:avLst/>
          </a:prstGeom>
          <a:noFill/>
          <a:ln/>
        </p:spPr>
        <p:txBody>
          <a:bodyPr wrap="square" lIns="0" tIns="0" rIns="0" bIns="0" rtlCol="0" anchor="ctr"/>
          <a:lstStyle/>
          <a:p>
            <a:pPr marL="0" indent="0">
              <a:buNone/>
            </a:pPr>
            <a:r>
              <a:rPr lang="en-US" sz="1100" b="1" dirty="0">
                <a:solidFill>
                  <a:srgbClr val="00B4D8"/>
                </a:solidFill>
              </a:rPr>
              <a:t>Services</a:t>
            </a:r>
            <a:endParaRPr lang="en-US" sz="1100" dirty="0"/>
          </a:p>
        </p:txBody>
      </p:sp>
      <p:sp>
        <p:nvSpPr>
          <p:cNvPr id="36" name="Text 34"/>
          <p:cNvSpPr/>
          <p:nvPr/>
        </p:nvSpPr>
        <p:spPr>
          <a:xfrm>
            <a:off x="1691640" y="2560320"/>
            <a:ext cx="2743200" cy="457200"/>
          </a:xfrm>
          <a:prstGeom prst="rect">
            <a:avLst/>
          </a:prstGeom>
          <a:noFill/>
          <a:ln/>
        </p:spPr>
        <p:txBody>
          <a:bodyPr wrap="square" lIns="0" tIns="0" rIns="0" bIns="0" rtlCol="0" anchor="ctr"/>
          <a:lstStyle/>
          <a:p>
            <a:pPr marL="0" indent="0">
              <a:buNone/>
            </a:pPr>
            <a:r>
              <a:rPr lang="en-US" sz="1000" dirty="0">
                <a:solidFill>
                  <a:srgbClr val="AACCEE"/>
                </a:solidFill>
              </a:rPr>
              <a:t>ClusterIP per microservice</a:t>
            </a:r>
            <a:endParaRPr lang="en-US" sz="1000" dirty="0"/>
          </a:p>
        </p:txBody>
      </p:sp>
      <p:sp>
        <p:nvSpPr>
          <p:cNvPr id="37" name="Shape 35"/>
          <p:cNvSpPr/>
          <p:nvPr/>
        </p:nvSpPr>
        <p:spPr>
          <a:xfrm>
            <a:off x="274320" y="3108960"/>
            <a:ext cx="4297680" cy="457200"/>
          </a:xfrm>
          <a:prstGeom prst="roundRect">
            <a:avLst>
              <a:gd name="adj" fmla="val 16000"/>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38" name="Text 36"/>
          <p:cNvSpPr/>
          <p:nvPr/>
        </p:nvSpPr>
        <p:spPr>
          <a:xfrm>
            <a:off x="411480" y="3108960"/>
            <a:ext cx="1280160" cy="457200"/>
          </a:xfrm>
          <a:prstGeom prst="rect">
            <a:avLst/>
          </a:prstGeom>
          <a:noFill/>
          <a:ln/>
        </p:spPr>
        <p:txBody>
          <a:bodyPr wrap="square" lIns="0" tIns="0" rIns="0" bIns="0" rtlCol="0" anchor="ctr"/>
          <a:lstStyle/>
          <a:p>
            <a:pPr marL="0" indent="0">
              <a:buNone/>
            </a:pPr>
            <a:r>
              <a:rPr lang="en-US" sz="1100" b="1" dirty="0">
                <a:solidFill>
                  <a:srgbClr val="00B4D8"/>
                </a:solidFill>
              </a:rPr>
              <a:t>Ingress</a:t>
            </a:r>
            <a:endParaRPr lang="en-US" sz="1100" dirty="0"/>
          </a:p>
        </p:txBody>
      </p:sp>
      <p:sp>
        <p:nvSpPr>
          <p:cNvPr id="39" name="Text 37"/>
          <p:cNvSpPr/>
          <p:nvPr/>
        </p:nvSpPr>
        <p:spPr>
          <a:xfrm>
            <a:off x="1691640" y="3108960"/>
            <a:ext cx="2743200" cy="457200"/>
          </a:xfrm>
          <a:prstGeom prst="rect">
            <a:avLst/>
          </a:prstGeom>
          <a:noFill/>
          <a:ln/>
        </p:spPr>
        <p:txBody>
          <a:bodyPr wrap="square" lIns="0" tIns="0" rIns="0" bIns="0" rtlCol="0" anchor="ctr"/>
          <a:lstStyle/>
          <a:p>
            <a:pPr marL="0" indent="0">
              <a:buNone/>
            </a:pPr>
            <a:r>
              <a:rPr lang="en-US" sz="1000" dirty="0">
                <a:solidFill>
                  <a:srgbClr val="AACCEE"/>
                </a:solidFill>
              </a:rPr>
              <a:t>ALB Ingress with HTTPS / TLS</a:t>
            </a:r>
            <a:endParaRPr lang="en-US" sz="1000" dirty="0"/>
          </a:p>
        </p:txBody>
      </p:sp>
      <p:sp>
        <p:nvSpPr>
          <p:cNvPr id="40" name="Shape 38"/>
          <p:cNvSpPr/>
          <p:nvPr/>
        </p:nvSpPr>
        <p:spPr>
          <a:xfrm>
            <a:off x="274320" y="3657600"/>
            <a:ext cx="4297680" cy="457200"/>
          </a:xfrm>
          <a:prstGeom prst="roundRect">
            <a:avLst>
              <a:gd name="adj" fmla="val 16000"/>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41" name="Text 39"/>
          <p:cNvSpPr/>
          <p:nvPr/>
        </p:nvSpPr>
        <p:spPr>
          <a:xfrm>
            <a:off x="411480" y="3657600"/>
            <a:ext cx="1280160" cy="457200"/>
          </a:xfrm>
          <a:prstGeom prst="rect">
            <a:avLst/>
          </a:prstGeom>
          <a:noFill/>
          <a:ln/>
        </p:spPr>
        <p:txBody>
          <a:bodyPr wrap="square" lIns="0" tIns="0" rIns="0" bIns="0" rtlCol="0" anchor="ctr"/>
          <a:lstStyle/>
          <a:p>
            <a:pPr marL="0" indent="0">
              <a:buNone/>
            </a:pPr>
            <a:r>
              <a:rPr lang="en-US" sz="1100" b="1" dirty="0">
                <a:solidFill>
                  <a:srgbClr val="00B4D8"/>
                </a:solidFill>
              </a:rPr>
              <a:t>Probes</a:t>
            </a:r>
            <a:endParaRPr lang="en-US" sz="1100" dirty="0"/>
          </a:p>
        </p:txBody>
      </p:sp>
      <p:sp>
        <p:nvSpPr>
          <p:cNvPr id="42" name="Text 40"/>
          <p:cNvSpPr/>
          <p:nvPr/>
        </p:nvSpPr>
        <p:spPr>
          <a:xfrm>
            <a:off x="1691640" y="3657600"/>
            <a:ext cx="2743200" cy="457200"/>
          </a:xfrm>
          <a:prstGeom prst="rect">
            <a:avLst/>
          </a:prstGeom>
          <a:noFill/>
          <a:ln/>
        </p:spPr>
        <p:txBody>
          <a:bodyPr wrap="square" lIns="0" tIns="0" rIns="0" bIns="0" rtlCol="0" anchor="ctr"/>
          <a:lstStyle/>
          <a:p>
            <a:pPr marL="0" indent="0">
              <a:buNone/>
            </a:pPr>
            <a:r>
              <a:rPr lang="en-US" sz="1000" dirty="0">
                <a:solidFill>
                  <a:srgbClr val="AACCEE"/>
                </a:solidFill>
              </a:rPr>
              <a:t>Readiness &amp; liveness /health endpoint</a:t>
            </a:r>
            <a:endParaRPr lang="en-US" sz="1000" dirty="0"/>
          </a:p>
        </p:txBody>
      </p:sp>
      <p:sp>
        <p:nvSpPr>
          <p:cNvPr id="43" name="Shape 41"/>
          <p:cNvSpPr/>
          <p:nvPr/>
        </p:nvSpPr>
        <p:spPr>
          <a:xfrm>
            <a:off x="274320" y="4206240"/>
            <a:ext cx="4297680" cy="457200"/>
          </a:xfrm>
          <a:prstGeom prst="roundRect">
            <a:avLst>
              <a:gd name="adj" fmla="val 16000"/>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44" name="Text 42"/>
          <p:cNvSpPr/>
          <p:nvPr/>
        </p:nvSpPr>
        <p:spPr>
          <a:xfrm>
            <a:off x="411480" y="4206240"/>
            <a:ext cx="1280160" cy="457200"/>
          </a:xfrm>
          <a:prstGeom prst="rect">
            <a:avLst/>
          </a:prstGeom>
          <a:noFill/>
          <a:ln/>
        </p:spPr>
        <p:txBody>
          <a:bodyPr wrap="square" lIns="0" tIns="0" rIns="0" bIns="0" rtlCol="0" anchor="ctr"/>
          <a:lstStyle/>
          <a:p>
            <a:pPr marL="0" indent="0">
              <a:buNone/>
            </a:pPr>
            <a:r>
              <a:rPr lang="en-US" sz="1100" b="1" dirty="0">
                <a:solidFill>
                  <a:srgbClr val="00B4D8"/>
                </a:solidFill>
              </a:rPr>
              <a:t>Requests/Limits</a:t>
            </a:r>
            <a:endParaRPr lang="en-US" sz="1100" dirty="0"/>
          </a:p>
        </p:txBody>
      </p:sp>
      <p:sp>
        <p:nvSpPr>
          <p:cNvPr id="45" name="Text 43"/>
          <p:cNvSpPr/>
          <p:nvPr/>
        </p:nvSpPr>
        <p:spPr>
          <a:xfrm>
            <a:off x="1691640" y="4206240"/>
            <a:ext cx="2743200" cy="457200"/>
          </a:xfrm>
          <a:prstGeom prst="rect">
            <a:avLst/>
          </a:prstGeom>
          <a:noFill/>
          <a:ln/>
        </p:spPr>
        <p:txBody>
          <a:bodyPr wrap="square" lIns="0" tIns="0" rIns="0" bIns="0" rtlCol="0" anchor="ctr"/>
          <a:lstStyle/>
          <a:p>
            <a:pPr marL="0" indent="0">
              <a:buNone/>
            </a:pPr>
            <a:r>
              <a:rPr lang="en-US" sz="1000" dirty="0">
                <a:solidFill>
                  <a:srgbClr val="AACCEE"/>
                </a:solidFill>
              </a:rPr>
              <a:t>CPU &amp; memory per pod</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6FF"/>
        </a:solidFill>
        <a:effectLst/>
      </p:bgPr>
    </p:bg>
    <p:spTree>
      <p:nvGrpSpPr>
        <p:cNvPr id="1" name=""/>
        <p:cNvGrpSpPr/>
        <p:nvPr/>
      </p:nvGrpSpPr>
      <p:grpSpPr>
        <a:xfrm>
          <a:off x="0" y="0"/>
          <a:ext cx="0" cy="0"/>
          <a:chOff x="0" y="0"/>
          <a:chExt cx="0" cy="0"/>
        </a:xfrm>
      </p:grpSpPr>
      <p:sp>
        <p:nvSpPr>
          <p:cNvPr id="2" name="Text 0"/>
          <p:cNvSpPr/>
          <p:nvPr/>
        </p:nvSpPr>
        <p:spPr>
          <a:xfrm>
            <a:off x="457200" y="109728"/>
            <a:ext cx="8229600" cy="530352"/>
          </a:xfrm>
          <a:prstGeom prst="rect">
            <a:avLst/>
          </a:prstGeom>
          <a:noFill/>
          <a:ln/>
        </p:spPr>
        <p:txBody>
          <a:bodyPr wrap="square" lIns="0" tIns="0" rIns="0" bIns="0" rtlCol="0" anchor="ctr"/>
          <a:lstStyle/>
          <a:p>
            <a:pPr marL="0" indent="0">
              <a:buNone/>
            </a:pPr>
            <a:r>
              <a:rPr lang="en-US" sz="3200" b="1" dirty="0">
                <a:solidFill>
                  <a:srgbClr val="0D1B2A"/>
                </a:solidFill>
                <a:latin typeface="Calibri" pitchFamily="34" charset="0"/>
                <a:ea typeface="Calibri" pitchFamily="34" charset="-122"/>
                <a:cs typeface="Calibri" pitchFamily="34" charset="-120"/>
              </a:rPr>
              <a:t>CI Pipeline — GitHub Actions</a:t>
            </a:r>
            <a:endParaRPr lang="en-US" sz="3200" dirty="0"/>
          </a:p>
        </p:txBody>
      </p:sp>
      <p:sp>
        <p:nvSpPr>
          <p:cNvPr id="3" name="Shape 1"/>
          <p:cNvSpPr/>
          <p:nvPr/>
        </p:nvSpPr>
        <p:spPr>
          <a:xfrm>
            <a:off x="256032" y="1143000"/>
            <a:ext cx="868680" cy="960120"/>
          </a:xfrm>
          <a:prstGeom prst="roundRect">
            <a:avLst>
              <a:gd name="adj" fmla="val 10526"/>
            </a:avLst>
          </a:prstGeom>
          <a:solidFill>
            <a:srgbClr val="0D1B2A"/>
          </a:solidFill>
          <a:ln/>
          <a:effectLst>
            <a:outerShdw blurRad="101600" dist="38100" dir="2700000" algn="bl" rotWithShape="0">
              <a:srgbClr val="000000">
                <a:alpha val="10000"/>
              </a:srgbClr>
            </a:outerShdw>
          </a:effectLst>
        </p:spPr>
        <p:txBody>
          <a:bodyPr/>
          <a:lstStyle/>
          <a:p>
            <a:endParaRPr lang="en-IN"/>
          </a:p>
        </p:txBody>
      </p:sp>
      <p:sp>
        <p:nvSpPr>
          <p:cNvPr id="4" name="Text 2"/>
          <p:cNvSpPr/>
          <p:nvPr/>
        </p:nvSpPr>
        <p:spPr>
          <a:xfrm>
            <a:off x="256032" y="1216152"/>
            <a:ext cx="868680" cy="347472"/>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5" name="Text 3"/>
          <p:cNvSpPr/>
          <p:nvPr/>
        </p:nvSpPr>
        <p:spPr>
          <a:xfrm>
            <a:off x="256032" y="1600200"/>
            <a:ext cx="868680" cy="457200"/>
          </a:xfrm>
          <a:prstGeom prst="rect">
            <a:avLst/>
          </a:prstGeom>
          <a:noFill/>
          <a:ln/>
        </p:spPr>
        <p:txBody>
          <a:bodyPr wrap="square" lIns="0" tIns="0" rIns="0" bIns="0" rtlCol="0" anchor="ctr"/>
          <a:lstStyle/>
          <a:p>
            <a:pPr marL="0" indent="0" algn="ctr">
              <a:buNone/>
            </a:pPr>
            <a:r>
              <a:rPr lang="en-US" sz="850" b="1" dirty="0">
                <a:solidFill>
                  <a:srgbClr val="FFFFFF"/>
                </a:solidFill>
              </a:rPr>
              <a:t>Push / PR</a:t>
            </a:r>
            <a:endParaRPr lang="en-US" sz="850" dirty="0"/>
          </a:p>
          <a:p>
            <a:pPr marL="0" indent="0" algn="ctr">
              <a:buNone/>
            </a:pPr>
            <a:r>
              <a:rPr lang="en-US" sz="850" b="1" dirty="0">
                <a:solidFill>
                  <a:srgbClr val="FFFFFF"/>
                </a:solidFill>
              </a:rPr>
              <a:t>to main</a:t>
            </a:r>
            <a:endParaRPr lang="en-US" sz="850" dirty="0"/>
          </a:p>
        </p:txBody>
      </p:sp>
      <p:sp>
        <p:nvSpPr>
          <p:cNvPr id="6" name="Shape 4"/>
          <p:cNvSpPr/>
          <p:nvPr/>
        </p:nvSpPr>
        <p:spPr>
          <a:xfrm>
            <a:off x="1124712" y="1623060"/>
            <a:ext cx="109728" cy="0"/>
          </a:xfrm>
          <a:prstGeom prst="line">
            <a:avLst/>
          </a:prstGeom>
          <a:noFill/>
          <a:ln w="19050">
            <a:solidFill>
              <a:srgbClr val="8899AA"/>
            </a:solidFill>
            <a:prstDash val="solid"/>
          </a:ln>
        </p:spPr>
        <p:txBody>
          <a:bodyPr/>
          <a:lstStyle/>
          <a:p>
            <a:endParaRPr lang="en-IN"/>
          </a:p>
        </p:txBody>
      </p:sp>
      <p:sp>
        <p:nvSpPr>
          <p:cNvPr id="7" name="Shape 5"/>
          <p:cNvSpPr/>
          <p:nvPr/>
        </p:nvSpPr>
        <p:spPr>
          <a:xfrm>
            <a:off x="1234440" y="1143000"/>
            <a:ext cx="868680" cy="960120"/>
          </a:xfrm>
          <a:prstGeom prst="roundRect">
            <a:avLst>
              <a:gd name="adj" fmla="val 10526"/>
            </a:avLst>
          </a:prstGeom>
          <a:solidFill>
            <a:srgbClr val="0077B6"/>
          </a:solidFill>
          <a:ln/>
          <a:effectLst>
            <a:outerShdw blurRad="101600" dist="38100" dir="2700000" algn="bl" rotWithShape="0">
              <a:srgbClr val="000000">
                <a:alpha val="10000"/>
              </a:srgbClr>
            </a:outerShdw>
          </a:effectLst>
        </p:spPr>
        <p:txBody>
          <a:bodyPr/>
          <a:lstStyle/>
          <a:p>
            <a:endParaRPr lang="en-IN"/>
          </a:p>
        </p:txBody>
      </p:sp>
      <p:sp>
        <p:nvSpPr>
          <p:cNvPr id="8" name="Text 6"/>
          <p:cNvSpPr/>
          <p:nvPr/>
        </p:nvSpPr>
        <p:spPr>
          <a:xfrm>
            <a:off x="1234440" y="1216152"/>
            <a:ext cx="868680" cy="347472"/>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9" name="Text 7"/>
          <p:cNvSpPr/>
          <p:nvPr/>
        </p:nvSpPr>
        <p:spPr>
          <a:xfrm>
            <a:off x="1234440" y="1600200"/>
            <a:ext cx="868680" cy="457200"/>
          </a:xfrm>
          <a:prstGeom prst="rect">
            <a:avLst/>
          </a:prstGeom>
          <a:noFill/>
          <a:ln/>
        </p:spPr>
        <p:txBody>
          <a:bodyPr wrap="square" lIns="0" tIns="0" rIns="0" bIns="0" rtlCol="0" anchor="ctr"/>
          <a:lstStyle/>
          <a:p>
            <a:pPr marL="0" indent="0" algn="ctr">
              <a:buNone/>
            </a:pPr>
            <a:r>
              <a:rPr lang="en-US" sz="850" b="1" dirty="0">
                <a:solidFill>
                  <a:srgbClr val="FFFFFF"/>
                </a:solidFill>
              </a:rPr>
              <a:t>SonarQube</a:t>
            </a:r>
            <a:endParaRPr lang="en-US" sz="850" dirty="0"/>
          </a:p>
          <a:p>
            <a:pPr marL="0" indent="0" algn="ctr">
              <a:buNone/>
            </a:pPr>
            <a:r>
              <a:rPr lang="en-US" sz="850" b="1" dirty="0">
                <a:solidFill>
                  <a:srgbClr val="FFFFFF"/>
                </a:solidFill>
              </a:rPr>
              <a:t>Code Quality</a:t>
            </a:r>
            <a:endParaRPr lang="en-US" sz="850" dirty="0"/>
          </a:p>
        </p:txBody>
      </p:sp>
      <p:sp>
        <p:nvSpPr>
          <p:cNvPr id="10" name="Shape 8"/>
          <p:cNvSpPr/>
          <p:nvPr/>
        </p:nvSpPr>
        <p:spPr>
          <a:xfrm>
            <a:off x="2103120" y="1623060"/>
            <a:ext cx="109728" cy="0"/>
          </a:xfrm>
          <a:prstGeom prst="line">
            <a:avLst/>
          </a:prstGeom>
          <a:noFill/>
          <a:ln w="19050">
            <a:solidFill>
              <a:srgbClr val="8899AA"/>
            </a:solidFill>
            <a:prstDash val="solid"/>
          </a:ln>
        </p:spPr>
        <p:txBody>
          <a:bodyPr/>
          <a:lstStyle/>
          <a:p>
            <a:endParaRPr lang="en-IN"/>
          </a:p>
        </p:txBody>
      </p:sp>
      <p:sp>
        <p:nvSpPr>
          <p:cNvPr id="11" name="Shape 9"/>
          <p:cNvSpPr/>
          <p:nvPr/>
        </p:nvSpPr>
        <p:spPr>
          <a:xfrm>
            <a:off x="2212848" y="1143000"/>
            <a:ext cx="868680" cy="960120"/>
          </a:xfrm>
          <a:prstGeom prst="roundRect">
            <a:avLst>
              <a:gd name="adj" fmla="val 10526"/>
            </a:avLst>
          </a:prstGeom>
          <a:solidFill>
            <a:srgbClr val="7B2FBE"/>
          </a:solidFill>
          <a:ln/>
          <a:effectLst>
            <a:outerShdw blurRad="101600" dist="38100" dir="2700000" algn="bl" rotWithShape="0">
              <a:srgbClr val="000000">
                <a:alpha val="10000"/>
              </a:srgbClr>
            </a:outerShdw>
          </a:effectLst>
        </p:spPr>
        <p:txBody>
          <a:bodyPr/>
          <a:lstStyle/>
          <a:p>
            <a:endParaRPr lang="en-IN"/>
          </a:p>
        </p:txBody>
      </p:sp>
      <p:sp>
        <p:nvSpPr>
          <p:cNvPr id="12" name="Text 10"/>
          <p:cNvSpPr/>
          <p:nvPr/>
        </p:nvSpPr>
        <p:spPr>
          <a:xfrm>
            <a:off x="2212848" y="1216152"/>
            <a:ext cx="868680" cy="347472"/>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3" name="Text 11"/>
          <p:cNvSpPr/>
          <p:nvPr/>
        </p:nvSpPr>
        <p:spPr>
          <a:xfrm>
            <a:off x="2212848" y="1600200"/>
            <a:ext cx="868680" cy="457200"/>
          </a:xfrm>
          <a:prstGeom prst="rect">
            <a:avLst/>
          </a:prstGeom>
          <a:noFill/>
          <a:ln/>
        </p:spPr>
        <p:txBody>
          <a:bodyPr wrap="square" lIns="0" tIns="0" rIns="0" bIns="0" rtlCol="0" anchor="ctr"/>
          <a:lstStyle/>
          <a:p>
            <a:pPr marL="0" indent="0" algn="ctr">
              <a:buNone/>
            </a:pPr>
            <a:r>
              <a:rPr lang="en-US" sz="850" b="1" dirty="0">
                <a:solidFill>
                  <a:srgbClr val="FFFFFF"/>
                </a:solidFill>
              </a:rPr>
              <a:t>Snyk</a:t>
            </a:r>
            <a:endParaRPr lang="en-US" sz="850" dirty="0"/>
          </a:p>
          <a:p>
            <a:pPr marL="0" indent="0" algn="ctr">
              <a:buNone/>
            </a:pPr>
            <a:r>
              <a:rPr lang="en-US" sz="850" b="1" dirty="0">
                <a:solidFill>
                  <a:srgbClr val="FFFFFF"/>
                </a:solidFill>
              </a:rPr>
              <a:t>Dependency Scan</a:t>
            </a:r>
            <a:endParaRPr lang="en-US" sz="850" dirty="0"/>
          </a:p>
        </p:txBody>
      </p:sp>
      <p:sp>
        <p:nvSpPr>
          <p:cNvPr id="14" name="Shape 12"/>
          <p:cNvSpPr/>
          <p:nvPr/>
        </p:nvSpPr>
        <p:spPr>
          <a:xfrm>
            <a:off x="3081528" y="1623060"/>
            <a:ext cx="109728" cy="0"/>
          </a:xfrm>
          <a:prstGeom prst="line">
            <a:avLst/>
          </a:prstGeom>
          <a:noFill/>
          <a:ln w="19050">
            <a:solidFill>
              <a:srgbClr val="8899AA"/>
            </a:solidFill>
            <a:prstDash val="solid"/>
          </a:ln>
        </p:spPr>
        <p:txBody>
          <a:bodyPr/>
          <a:lstStyle/>
          <a:p>
            <a:endParaRPr lang="en-IN"/>
          </a:p>
        </p:txBody>
      </p:sp>
      <p:sp>
        <p:nvSpPr>
          <p:cNvPr id="15" name="Shape 13"/>
          <p:cNvSpPr/>
          <p:nvPr/>
        </p:nvSpPr>
        <p:spPr>
          <a:xfrm>
            <a:off x="3191256" y="1143000"/>
            <a:ext cx="868680" cy="960120"/>
          </a:xfrm>
          <a:prstGeom prst="roundRect">
            <a:avLst>
              <a:gd name="adj" fmla="val 10526"/>
            </a:avLst>
          </a:prstGeom>
          <a:solidFill>
            <a:srgbClr val="BE2F6B"/>
          </a:solidFill>
          <a:ln/>
          <a:effectLst>
            <a:outerShdw blurRad="101600" dist="38100" dir="2700000" algn="bl" rotWithShape="0">
              <a:srgbClr val="000000">
                <a:alpha val="10000"/>
              </a:srgbClr>
            </a:outerShdw>
          </a:effectLst>
        </p:spPr>
        <p:txBody>
          <a:bodyPr/>
          <a:lstStyle/>
          <a:p>
            <a:endParaRPr lang="en-IN"/>
          </a:p>
        </p:txBody>
      </p:sp>
      <p:sp>
        <p:nvSpPr>
          <p:cNvPr id="16" name="Text 14"/>
          <p:cNvSpPr/>
          <p:nvPr/>
        </p:nvSpPr>
        <p:spPr>
          <a:xfrm>
            <a:off x="3191256" y="1216152"/>
            <a:ext cx="868680" cy="347472"/>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7" name="Text 15"/>
          <p:cNvSpPr/>
          <p:nvPr/>
        </p:nvSpPr>
        <p:spPr>
          <a:xfrm>
            <a:off x="3191256" y="1600200"/>
            <a:ext cx="868680" cy="457200"/>
          </a:xfrm>
          <a:prstGeom prst="rect">
            <a:avLst/>
          </a:prstGeom>
          <a:noFill/>
          <a:ln/>
        </p:spPr>
        <p:txBody>
          <a:bodyPr wrap="square" lIns="0" tIns="0" rIns="0" bIns="0" rtlCol="0" anchor="ctr"/>
          <a:lstStyle/>
          <a:p>
            <a:pPr marL="0" indent="0" algn="ctr">
              <a:buNone/>
            </a:pPr>
            <a:r>
              <a:rPr lang="en-US" sz="850" b="1" dirty="0">
                <a:solidFill>
                  <a:srgbClr val="FFFFFF"/>
                </a:solidFill>
              </a:rPr>
              <a:t>Lint &amp;</a:t>
            </a:r>
            <a:endParaRPr lang="en-US" sz="850" dirty="0"/>
          </a:p>
          <a:p>
            <a:pPr marL="0" indent="0" algn="ctr">
              <a:buNone/>
            </a:pPr>
            <a:r>
              <a:rPr lang="en-US" sz="850" b="1" dirty="0">
                <a:solidFill>
                  <a:srgbClr val="FFFFFF"/>
                </a:solidFill>
              </a:rPr>
              <a:t>Unit Tests</a:t>
            </a:r>
            <a:endParaRPr lang="en-US" sz="850" dirty="0"/>
          </a:p>
        </p:txBody>
      </p:sp>
      <p:sp>
        <p:nvSpPr>
          <p:cNvPr id="18" name="Shape 16"/>
          <p:cNvSpPr/>
          <p:nvPr/>
        </p:nvSpPr>
        <p:spPr>
          <a:xfrm>
            <a:off x="4059936" y="1623060"/>
            <a:ext cx="109728" cy="0"/>
          </a:xfrm>
          <a:prstGeom prst="line">
            <a:avLst/>
          </a:prstGeom>
          <a:noFill/>
          <a:ln w="19050">
            <a:solidFill>
              <a:srgbClr val="8899AA"/>
            </a:solidFill>
            <a:prstDash val="solid"/>
          </a:ln>
        </p:spPr>
        <p:txBody>
          <a:bodyPr/>
          <a:lstStyle/>
          <a:p>
            <a:endParaRPr lang="en-IN"/>
          </a:p>
        </p:txBody>
      </p:sp>
      <p:sp>
        <p:nvSpPr>
          <p:cNvPr id="19" name="Shape 17"/>
          <p:cNvSpPr/>
          <p:nvPr/>
        </p:nvSpPr>
        <p:spPr>
          <a:xfrm>
            <a:off x="4169664" y="1143000"/>
            <a:ext cx="868680" cy="960120"/>
          </a:xfrm>
          <a:prstGeom prst="roundRect">
            <a:avLst>
              <a:gd name="adj" fmla="val 10526"/>
            </a:avLst>
          </a:prstGeom>
          <a:solidFill>
            <a:srgbClr val="F4A261"/>
          </a:solidFill>
          <a:ln/>
          <a:effectLst>
            <a:outerShdw blurRad="101600" dist="38100" dir="2700000" algn="bl" rotWithShape="0">
              <a:srgbClr val="000000">
                <a:alpha val="10000"/>
              </a:srgbClr>
            </a:outerShdw>
          </a:effectLst>
        </p:spPr>
        <p:txBody>
          <a:bodyPr/>
          <a:lstStyle/>
          <a:p>
            <a:endParaRPr lang="en-IN"/>
          </a:p>
        </p:txBody>
      </p:sp>
      <p:sp>
        <p:nvSpPr>
          <p:cNvPr id="20" name="Text 18"/>
          <p:cNvSpPr/>
          <p:nvPr/>
        </p:nvSpPr>
        <p:spPr>
          <a:xfrm>
            <a:off x="4169664" y="1216152"/>
            <a:ext cx="868680" cy="347472"/>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1" name="Text 19"/>
          <p:cNvSpPr/>
          <p:nvPr/>
        </p:nvSpPr>
        <p:spPr>
          <a:xfrm>
            <a:off x="4169664" y="1600200"/>
            <a:ext cx="868680" cy="457200"/>
          </a:xfrm>
          <a:prstGeom prst="rect">
            <a:avLst/>
          </a:prstGeom>
          <a:noFill/>
          <a:ln/>
        </p:spPr>
        <p:txBody>
          <a:bodyPr wrap="square" lIns="0" tIns="0" rIns="0" bIns="0" rtlCol="0" anchor="ctr"/>
          <a:lstStyle/>
          <a:p>
            <a:pPr marL="0" indent="0" algn="ctr">
              <a:buNone/>
            </a:pPr>
            <a:r>
              <a:rPr lang="en-US" sz="850" b="1" dirty="0">
                <a:solidFill>
                  <a:srgbClr val="FFFFFF"/>
                </a:solidFill>
              </a:rPr>
              <a:t>Docker</a:t>
            </a:r>
            <a:endParaRPr lang="en-US" sz="850" dirty="0"/>
          </a:p>
          <a:p>
            <a:pPr marL="0" indent="0" algn="ctr">
              <a:buNone/>
            </a:pPr>
            <a:r>
              <a:rPr lang="en-US" sz="850" b="1" dirty="0">
                <a:solidFill>
                  <a:srgbClr val="FFFFFF"/>
                </a:solidFill>
              </a:rPr>
              <a:t>Build</a:t>
            </a:r>
            <a:endParaRPr lang="en-US" sz="850" dirty="0"/>
          </a:p>
        </p:txBody>
      </p:sp>
      <p:sp>
        <p:nvSpPr>
          <p:cNvPr id="22" name="Shape 20"/>
          <p:cNvSpPr/>
          <p:nvPr/>
        </p:nvSpPr>
        <p:spPr>
          <a:xfrm>
            <a:off x="5038344" y="1623060"/>
            <a:ext cx="109728" cy="0"/>
          </a:xfrm>
          <a:prstGeom prst="line">
            <a:avLst/>
          </a:prstGeom>
          <a:noFill/>
          <a:ln w="19050">
            <a:solidFill>
              <a:srgbClr val="8899AA"/>
            </a:solidFill>
            <a:prstDash val="solid"/>
          </a:ln>
        </p:spPr>
        <p:txBody>
          <a:bodyPr/>
          <a:lstStyle/>
          <a:p>
            <a:endParaRPr lang="en-IN"/>
          </a:p>
        </p:txBody>
      </p:sp>
      <p:sp>
        <p:nvSpPr>
          <p:cNvPr id="23" name="Shape 21"/>
          <p:cNvSpPr/>
          <p:nvPr/>
        </p:nvSpPr>
        <p:spPr>
          <a:xfrm>
            <a:off x="5148072" y="1143000"/>
            <a:ext cx="868680" cy="960120"/>
          </a:xfrm>
          <a:prstGeom prst="roundRect">
            <a:avLst>
              <a:gd name="adj" fmla="val 10526"/>
            </a:avLst>
          </a:prstGeom>
          <a:solidFill>
            <a:srgbClr val="7B2FBE"/>
          </a:solidFill>
          <a:ln/>
          <a:effectLst>
            <a:outerShdw blurRad="101600" dist="38100" dir="2700000" algn="bl" rotWithShape="0">
              <a:srgbClr val="000000">
                <a:alpha val="10000"/>
              </a:srgbClr>
            </a:outerShdw>
          </a:effectLst>
        </p:spPr>
        <p:txBody>
          <a:bodyPr/>
          <a:lstStyle/>
          <a:p>
            <a:endParaRPr lang="en-IN"/>
          </a:p>
        </p:txBody>
      </p:sp>
      <p:sp>
        <p:nvSpPr>
          <p:cNvPr id="24" name="Text 22"/>
          <p:cNvSpPr/>
          <p:nvPr/>
        </p:nvSpPr>
        <p:spPr>
          <a:xfrm>
            <a:off x="5148072" y="1216152"/>
            <a:ext cx="868680" cy="347472"/>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5" name="Text 23"/>
          <p:cNvSpPr/>
          <p:nvPr/>
        </p:nvSpPr>
        <p:spPr>
          <a:xfrm>
            <a:off x="5148072" y="1600200"/>
            <a:ext cx="868680" cy="457200"/>
          </a:xfrm>
          <a:prstGeom prst="rect">
            <a:avLst/>
          </a:prstGeom>
          <a:noFill/>
          <a:ln/>
        </p:spPr>
        <p:txBody>
          <a:bodyPr wrap="square" lIns="0" tIns="0" rIns="0" bIns="0" rtlCol="0" anchor="ctr"/>
          <a:lstStyle/>
          <a:p>
            <a:pPr marL="0" indent="0" algn="ctr">
              <a:buNone/>
            </a:pPr>
            <a:r>
              <a:rPr lang="en-US" sz="850" b="1" dirty="0">
                <a:solidFill>
                  <a:srgbClr val="FFFFFF"/>
                </a:solidFill>
              </a:rPr>
              <a:t>Trivy</a:t>
            </a:r>
            <a:endParaRPr lang="en-US" sz="850" dirty="0"/>
          </a:p>
          <a:p>
            <a:pPr marL="0" indent="0" algn="ctr">
              <a:buNone/>
            </a:pPr>
            <a:r>
              <a:rPr lang="en-US" sz="850" b="1" dirty="0">
                <a:solidFill>
                  <a:srgbClr val="FFFFFF"/>
                </a:solidFill>
              </a:rPr>
              <a:t>Image Scan</a:t>
            </a:r>
            <a:endParaRPr lang="en-US" sz="850" dirty="0"/>
          </a:p>
        </p:txBody>
      </p:sp>
      <p:sp>
        <p:nvSpPr>
          <p:cNvPr id="26" name="Shape 24"/>
          <p:cNvSpPr/>
          <p:nvPr/>
        </p:nvSpPr>
        <p:spPr>
          <a:xfrm>
            <a:off x="6016752" y="1623060"/>
            <a:ext cx="109728" cy="0"/>
          </a:xfrm>
          <a:prstGeom prst="line">
            <a:avLst/>
          </a:prstGeom>
          <a:noFill/>
          <a:ln w="19050">
            <a:solidFill>
              <a:srgbClr val="8899AA"/>
            </a:solidFill>
            <a:prstDash val="solid"/>
          </a:ln>
        </p:spPr>
        <p:txBody>
          <a:bodyPr/>
          <a:lstStyle/>
          <a:p>
            <a:endParaRPr lang="en-IN"/>
          </a:p>
        </p:txBody>
      </p:sp>
      <p:sp>
        <p:nvSpPr>
          <p:cNvPr id="27" name="Shape 25"/>
          <p:cNvSpPr/>
          <p:nvPr/>
        </p:nvSpPr>
        <p:spPr>
          <a:xfrm>
            <a:off x="6126480" y="1143000"/>
            <a:ext cx="868680" cy="960120"/>
          </a:xfrm>
          <a:prstGeom prst="roundRect">
            <a:avLst>
              <a:gd name="adj" fmla="val 10526"/>
            </a:avLst>
          </a:prstGeom>
          <a:solidFill>
            <a:srgbClr val="0077B6"/>
          </a:solidFill>
          <a:ln/>
          <a:effectLst>
            <a:outerShdw blurRad="101600" dist="38100" dir="2700000" algn="bl" rotWithShape="0">
              <a:srgbClr val="000000">
                <a:alpha val="10000"/>
              </a:srgbClr>
            </a:outerShdw>
          </a:effectLst>
        </p:spPr>
        <p:txBody>
          <a:bodyPr/>
          <a:lstStyle/>
          <a:p>
            <a:endParaRPr lang="en-IN"/>
          </a:p>
        </p:txBody>
      </p:sp>
      <p:sp>
        <p:nvSpPr>
          <p:cNvPr id="28" name="Text 26"/>
          <p:cNvSpPr/>
          <p:nvPr/>
        </p:nvSpPr>
        <p:spPr>
          <a:xfrm>
            <a:off x="6126480" y="1216152"/>
            <a:ext cx="868680" cy="347472"/>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9" name="Text 27"/>
          <p:cNvSpPr/>
          <p:nvPr/>
        </p:nvSpPr>
        <p:spPr>
          <a:xfrm>
            <a:off x="6126480" y="1600200"/>
            <a:ext cx="868680" cy="457200"/>
          </a:xfrm>
          <a:prstGeom prst="rect">
            <a:avLst/>
          </a:prstGeom>
          <a:noFill/>
          <a:ln/>
        </p:spPr>
        <p:txBody>
          <a:bodyPr wrap="square" lIns="0" tIns="0" rIns="0" bIns="0" rtlCol="0" anchor="ctr"/>
          <a:lstStyle/>
          <a:p>
            <a:pPr marL="0" indent="0" algn="ctr">
              <a:buNone/>
            </a:pPr>
            <a:r>
              <a:rPr lang="en-US" sz="850" b="1" dirty="0">
                <a:solidFill>
                  <a:srgbClr val="FFFFFF"/>
                </a:solidFill>
              </a:rPr>
              <a:t>ECR</a:t>
            </a:r>
            <a:endParaRPr lang="en-US" sz="850" dirty="0"/>
          </a:p>
          <a:p>
            <a:pPr marL="0" indent="0" algn="ctr">
              <a:buNone/>
            </a:pPr>
            <a:r>
              <a:rPr lang="en-US" sz="850" b="1" dirty="0">
                <a:solidFill>
                  <a:srgbClr val="FFFFFF"/>
                </a:solidFill>
              </a:rPr>
              <a:t>Push</a:t>
            </a:r>
            <a:endParaRPr lang="en-US" sz="850" dirty="0"/>
          </a:p>
        </p:txBody>
      </p:sp>
      <p:sp>
        <p:nvSpPr>
          <p:cNvPr id="30" name="Shape 28"/>
          <p:cNvSpPr/>
          <p:nvPr/>
        </p:nvSpPr>
        <p:spPr>
          <a:xfrm>
            <a:off x="6995160" y="1623060"/>
            <a:ext cx="109728" cy="0"/>
          </a:xfrm>
          <a:prstGeom prst="line">
            <a:avLst/>
          </a:prstGeom>
          <a:noFill/>
          <a:ln w="19050">
            <a:solidFill>
              <a:srgbClr val="8899AA"/>
            </a:solidFill>
            <a:prstDash val="solid"/>
          </a:ln>
        </p:spPr>
        <p:txBody>
          <a:bodyPr/>
          <a:lstStyle/>
          <a:p>
            <a:endParaRPr lang="en-IN"/>
          </a:p>
        </p:txBody>
      </p:sp>
      <p:sp>
        <p:nvSpPr>
          <p:cNvPr id="31" name="Shape 29"/>
          <p:cNvSpPr/>
          <p:nvPr/>
        </p:nvSpPr>
        <p:spPr>
          <a:xfrm>
            <a:off x="7104888" y="1143000"/>
            <a:ext cx="868680" cy="960120"/>
          </a:xfrm>
          <a:prstGeom prst="roundRect">
            <a:avLst>
              <a:gd name="adj" fmla="val 10526"/>
            </a:avLst>
          </a:prstGeom>
          <a:solidFill>
            <a:srgbClr val="0D1B2A"/>
          </a:solidFill>
          <a:ln/>
          <a:effectLst>
            <a:outerShdw blurRad="101600" dist="38100" dir="2700000" algn="bl" rotWithShape="0">
              <a:srgbClr val="000000">
                <a:alpha val="10000"/>
              </a:srgbClr>
            </a:outerShdw>
          </a:effectLst>
        </p:spPr>
        <p:txBody>
          <a:bodyPr/>
          <a:lstStyle/>
          <a:p>
            <a:endParaRPr lang="en-IN"/>
          </a:p>
        </p:txBody>
      </p:sp>
      <p:sp>
        <p:nvSpPr>
          <p:cNvPr id="32" name="Text 30"/>
          <p:cNvSpPr/>
          <p:nvPr/>
        </p:nvSpPr>
        <p:spPr>
          <a:xfrm>
            <a:off x="7104888" y="1216152"/>
            <a:ext cx="868680" cy="347472"/>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33" name="Text 31"/>
          <p:cNvSpPr/>
          <p:nvPr/>
        </p:nvSpPr>
        <p:spPr>
          <a:xfrm>
            <a:off x="7104888" y="1600200"/>
            <a:ext cx="868680" cy="457200"/>
          </a:xfrm>
          <a:prstGeom prst="rect">
            <a:avLst/>
          </a:prstGeom>
          <a:noFill/>
          <a:ln/>
        </p:spPr>
        <p:txBody>
          <a:bodyPr wrap="square" lIns="0" tIns="0" rIns="0" bIns="0" rtlCol="0" anchor="ctr"/>
          <a:lstStyle/>
          <a:p>
            <a:pPr marL="0" indent="0" algn="ctr">
              <a:buNone/>
            </a:pPr>
            <a:r>
              <a:rPr lang="en-US" sz="850" b="1" dirty="0">
                <a:solidFill>
                  <a:srgbClr val="FFFFFF"/>
                </a:solidFill>
              </a:rPr>
              <a:t>Helm</a:t>
            </a:r>
            <a:endParaRPr lang="en-US" sz="850" dirty="0"/>
          </a:p>
          <a:p>
            <a:pPr marL="0" indent="0" algn="ctr">
              <a:buNone/>
            </a:pPr>
            <a:r>
              <a:rPr lang="en-US" sz="850" b="1" dirty="0">
                <a:solidFill>
                  <a:srgbClr val="FFFFFF"/>
                </a:solidFill>
              </a:rPr>
              <a:t>Validation</a:t>
            </a:r>
            <a:endParaRPr lang="en-US" sz="850" dirty="0"/>
          </a:p>
        </p:txBody>
      </p:sp>
      <p:sp>
        <p:nvSpPr>
          <p:cNvPr id="34" name="Shape 32"/>
          <p:cNvSpPr/>
          <p:nvPr/>
        </p:nvSpPr>
        <p:spPr>
          <a:xfrm>
            <a:off x="7973568" y="1623060"/>
            <a:ext cx="109728" cy="0"/>
          </a:xfrm>
          <a:prstGeom prst="line">
            <a:avLst/>
          </a:prstGeom>
          <a:noFill/>
          <a:ln w="19050">
            <a:solidFill>
              <a:srgbClr val="8899AA"/>
            </a:solidFill>
            <a:prstDash val="solid"/>
          </a:ln>
        </p:spPr>
        <p:txBody>
          <a:bodyPr/>
          <a:lstStyle/>
          <a:p>
            <a:endParaRPr lang="en-IN"/>
          </a:p>
        </p:txBody>
      </p:sp>
      <p:sp>
        <p:nvSpPr>
          <p:cNvPr id="35" name="Shape 33"/>
          <p:cNvSpPr/>
          <p:nvPr/>
        </p:nvSpPr>
        <p:spPr>
          <a:xfrm>
            <a:off x="8083296" y="1143000"/>
            <a:ext cx="868680" cy="960120"/>
          </a:xfrm>
          <a:prstGeom prst="roundRect">
            <a:avLst>
              <a:gd name="adj" fmla="val 10526"/>
            </a:avLst>
          </a:prstGeom>
          <a:solidFill>
            <a:srgbClr val="06D6A0"/>
          </a:solidFill>
          <a:ln/>
          <a:effectLst>
            <a:outerShdw blurRad="101600" dist="38100" dir="2700000" algn="bl" rotWithShape="0">
              <a:srgbClr val="000000">
                <a:alpha val="10000"/>
              </a:srgbClr>
            </a:outerShdw>
          </a:effectLst>
        </p:spPr>
        <p:txBody>
          <a:bodyPr/>
          <a:lstStyle/>
          <a:p>
            <a:endParaRPr lang="en-IN"/>
          </a:p>
        </p:txBody>
      </p:sp>
      <p:sp>
        <p:nvSpPr>
          <p:cNvPr id="36" name="Text 34"/>
          <p:cNvSpPr/>
          <p:nvPr/>
        </p:nvSpPr>
        <p:spPr>
          <a:xfrm>
            <a:off x="8083296" y="1216152"/>
            <a:ext cx="868680" cy="347472"/>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37" name="Text 35"/>
          <p:cNvSpPr/>
          <p:nvPr/>
        </p:nvSpPr>
        <p:spPr>
          <a:xfrm>
            <a:off x="8083296" y="1600200"/>
            <a:ext cx="868680" cy="457200"/>
          </a:xfrm>
          <a:prstGeom prst="rect">
            <a:avLst/>
          </a:prstGeom>
          <a:noFill/>
          <a:ln/>
        </p:spPr>
        <p:txBody>
          <a:bodyPr wrap="square" lIns="0" tIns="0" rIns="0" bIns="0" rtlCol="0" anchor="ctr"/>
          <a:lstStyle/>
          <a:p>
            <a:pPr marL="0" indent="0" algn="ctr">
              <a:buNone/>
            </a:pPr>
            <a:r>
              <a:rPr lang="en-US" sz="850" b="1" dirty="0">
                <a:solidFill>
                  <a:srgbClr val="FFFFFF"/>
                </a:solidFill>
              </a:rPr>
              <a:t>Notify</a:t>
            </a:r>
            <a:endParaRPr lang="en-US" sz="850" dirty="0"/>
          </a:p>
          <a:p>
            <a:pPr marL="0" indent="0" algn="ctr">
              <a:buNone/>
            </a:pPr>
            <a:r>
              <a:rPr lang="en-US" sz="850" b="1" dirty="0">
                <a:solidFill>
                  <a:srgbClr val="FFFFFF"/>
                </a:solidFill>
              </a:rPr>
              <a:t>Slack/Email</a:t>
            </a:r>
            <a:endParaRPr lang="en-US" sz="850" dirty="0"/>
          </a:p>
        </p:txBody>
      </p:sp>
      <p:sp>
        <p:nvSpPr>
          <p:cNvPr id="38" name="Shape 36"/>
          <p:cNvSpPr/>
          <p:nvPr/>
        </p:nvSpPr>
        <p:spPr>
          <a:xfrm>
            <a:off x="274320" y="2331720"/>
            <a:ext cx="8595360" cy="502920"/>
          </a:xfrm>
          <a:prstGeom prst="roundRect">
            <a:avLst>
              <a:gd name="adj" fmla="val 14545"/>
            </a:avLst>
          </a:prstGeom>
          <a:solidFill>
            <a:srgbClr val="FFE8D0"/>
          </a:solidFill>
          <a:ln/>
        </p:spPr>
        <p:txBody>
          <a:bodyPr/>
          <a:lstStyle/>
          <a:p>
            <a:endParaRPr lang="en-IN"/>
          </a:p>
        </p:txBody>
      </p:sp>
      <p:sp>
        <p:nvSpPr>
          <p:cNvPr id="39" name="Text 37"/>
          <p:cNvSpPr/>
          <p:nvPr/>
        </p:nvSpPr>
        <p:spPr>
          <a:xfrm>
            <a:off x="274320" y="2331720"/>
            <a:ext cx="8595360" cy="502920"/>
          </a:xfrm>
          <a:prstGeom prst="rect">
            <a:avLst/>
          </a:prstGeom>
          <a:noFill/>
          <a:ln/>
        </p:spPr>
        <p:txBody>
          <a:bodyPr wrap="square" lIns="0" tIns="0" rIns="0" bIns="0" rtlCol="0" anchor="ctr"/>
          <a:lstStyle/>
          <a:p>
            <a:pPr marL="0" indent="0" algn="ctr">
              <a:buNone/>
            </a:pPr>
            <a:r>
              <a:rPr lang="en-US" sz="1100" dirty="0">
                <a:solidFill>
                  <a:srgbClr val="F4A261"/>
                </a:solidFill>
              </a:rPr>
              <a:t>⛔  Security Gate: Pipeline fails and blocks ECR push if SonarQube, Snyk, or Trivy detects critical issues</a:t>
            </a:r>
            <a:endParaRPr lang="en-US" sz="1100" dirty="0"/>
          </a:p>
        </p:txBody>
      </p:sp>
      <p:sp>
        <p:nvSpPr>
          <p:cNvPr id="40" name="Shape 38"/>
          <p:cNvSpPr/>
          <p:nvPr/>
        </p:nvSpPr>
        <p:spPr>
          <a:xfrm>
            <a:off x="320040" y="3017520"/>
            <a:ext cx="4160520" cy="777240"/>
          </a:xfrm>
          <a:prstGeom prst="roundRect">
            <a:avLst>
              <a:gd name="adj" fmla="val 11765"/>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41" name="Text 39"/>
          <p:cNvSpPr/>
          <p:nvPr/>
        </p:nvSpPr>
        <p:spPr>
          <a:xfrm>
            <a:off x="457200" y="3090672"/>
            <a:ext cx="3840480" cy="274320"/>
          </a:xfrm>
          <a:prstGeom prst="rect">
            <a:avLst/>
          </a:prstGeom>
          <a:noFill/>
          <a:ln/>
        </p:spPr>
        <p:txBody>
          <a:bodyPr wrap="square" lIns="0" tIns="0" rIns="0" bIns="0" rtlCol="0" anchor="ctr"/>
          <a:lstStyle/>
          <a:p>
            <a:pPr marL="0" indent="0">
              <a:buNone/>
            </a:pPr>
            <a:r>
              <a:rPr lang="en-US" sz="1200" b="1" dirty="0">
                <a:solidFill>
                  <a:srgbClr val="0D1B2A"/>
                </a:solidFill>
              </a:rPr>
              <a:t>Reusable Workflows</a:t>
            </a:r>
            <a:endParaRPr lang="en-US" sz="1200" dirty="0"/>
          </a:p>
        </p:txBody>
      </p:sp>
      <p:sp>
        <p:nvSpPr>
          <p:cNvPr id="42" name="Text 40"/>
          <p:cNvSpPr/>
          <p:nvPr/>
        </p:nvSpPr>
        <p:spPr>
          <a:xfrm>
            <a:off x="457200" y="3383280"/>
            <a:ext cx="3840480" cy="320040"/>
          </a:xfrm>
          <a:prstGeom prst="rect">
            <a:avLst/>
          </a:prstGeom>
          <a:noFill/>
          <a:ln/>
        </p:spPr>
        <p:txBody>
          <a:bodyPr wrap="square" lIns="0" tIns="0" rIns="0" bIns="0" rtlCol="0" anchor="ctr"/>
          <a:lstStyle/>
          <a:p>
            <a:pPr marL="0" indent="0">
              <a:buNone/>
            </a:pPr>
            <a:r>
              <a:rPr lang="en-US" sz="1050" dirty="0">
                <a:solidFill>
                  <a:srgbClr val="4A6080"/>
                </a:solidFill>
              </a:rPr>
              <a:t>workflow_call architecture — shared CI logic across all services</a:t>
            </a:r>
            <a:endParaRPr lang="en-US" sz="1050" dirty="0"/>
          </a:p>
        </p:txBody>
      </p:sp>
      <p:sp>
        <p:nvSpPr>
          <p:cNvPr id="43" name="Shape 41"/>
          <p:cNvSpPr/>
          <p:nvPr/>
        </p:nvSpPr>
        <p:spPr>
          <a:xfrm>
            <a:off x="4709160" y="3017520"/>
            <a:ext cx="4160520" cy="777240"/>
          </a:xfrm>
          <a:prstGeom prst="roundRect">
            <a:avLst>
              <a:gd name="adj" fmla="val 11765"/>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44" name="Text 42"/>
          <p:cNvSpPr/>
          <p:nvPr/>
        </p:nvSpPr>
        <p:spPr>
          <a:xfrm>
            <a:off x="4846320" y="3090672"/>
            <a:ext cx="3840480" cy="274320"/>
          </a:xfrm>
          <a:prstGeom prst="rect">
            <a:avLst/>
          </a:prstGeom>
          <a:noFill/>
          <a:ln/>
        </p:spPr>
        <p:txBody>
          <a:bodyPr wrap="square" lIns="0" tIns="0" rIns="0" bIns="0" rtlCol="0" anchor="ctr"/>
          <a:lstStyle/>
          <a:p>
            <a:pPr marL="0" indent="0">
              <a:buNone/>
            </a:pPr>
            <a:r>
              <a:rPr lang="en-US" sz="1200" b="1" dirty="0">
                <a:solidFill>
                  <a:srgbClr val="0D1B2A"/>
                </a:solidFill>
              </a:rPr>
              <a:t>OIDC Authentication</a:t>
            </a:r>
            <a:endParaRPr lang="en-US" sz="1200" dirty="0"/>
          </a:p>
        </p:txBody>
      </p:sp>
      <p:sp>
        <p:nvSpPr>
          <p:cNvPr id="45" name="Text 43"/>
          <p:cNvSpPr/>
          <p:nvPr/>
        </p:nvSpPr>
        <p:spPr>
          <a:xfrm>
            <a:off x="4846320" y="3383280"/>
            <a:ext cx="3840480" cy="320040"/>
          </a:xfrm>
          <a:prstGeom prst="rect">
            <a:avLst/>
          </a:prstGeom>
          <a:noFill/>
          <a:ln/>
        </p:spPr>
        <p:txBody>
          <a:bodyPr wrap="square" lIns="0" tIns="0" rIns="0" bIns="0" rtlCol="0" anchor="ctr"/>
          <a:lstStyle/>
          <a:p>
            <a:pPr marL="0" indent="0">
              <a:buNone/>
            </a:pPr>
            <a:r>
              <a:rPr lang="en-US" sz="1050" dirty="0">
                <a:solidFill>
                  <a:srgbClr val="4A6080"/>
                </a:solidFill>
              </a:rPr>
              <a:t>GitHub Actions assumes AWS IAM role via OIDC — no static access keys</a:t>
            </a:r>
            <a:endParaRPr lang="en-US" sz="1050" dirty="0"/>
          </a:p>
        </p:txBody>
      </p:sp>
      <p:sp>
        <p:nvSpPr>
          <p:cNvPr id="46" name="Shape 44"/>
          <p:cNvSpPr/>
          <p:nvPr/>
        </p:nvSpPr>
        <p:spPr>
          <a:xfrm>
            <a:off x="320040" y="3931920"/>
            <a:ext cx="4160520" cy="777240"/>
          </a:xfrm>
          <a:prstGeom prst="roundRect">
            <a:avLst>
              <a:gd name="adj" fmla="val 11765"/>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47" name="Text 45"/>
          <p:cNvSpPr/>
          <p:nvPr/>
        </p:nvSpPr>
        <p:spPr>
          <a:xfrm>
            <a:off x="457200" y="4005072"/>
            <a:ext cx="3840480" cy="274320"/>
          </a:xfrm>
          <a:prstGeom prst="rect">
            <a:avLst/>
          </a:prstGeom>
          <a:noFill/>
          <a:ln/>
        </p:spPr>
        <p:txBody>
          <a:bodyPr wrap="square" lIns="0" tIns="0" rIns="0" bIns="0" rtlCol="0" anchor="ctr"/>
          <a:lstStyle/>
          <a:p>
            <a:pPr marL="0" indent="0">
              <a:buNone/>
            </a:pPr>
            <a:r>
              <a:rPr lang="en-US" sz="1200" b="1" dirty="0">
                <a:solidFill>
                  <a:srgbClr val="0D1B2A"/>
                </a:solidFill>
              </a:rPr>
              <a:t>Image Tagging</a:t>
            </a:r>
            <a:endParaRPr lang="en-US" sz="1200" dirty="0"/>
          </a:p>
        </p:txBody>
      </p:sp>
      <p:sp>
        <p:nvSpPr>
          <p:cNvPr id="48" name="Text 46"/>
          <p:cNvSpPr/>
          <p:nvPr/>
        </p:nvSpPr>
        <p:spPr>
          <a:xfrm>
            <a:off x="457200" y="4297680"/>
            <a:ext cx="3840480" cy="320040"/>
          </a:xfrm>
          <a:prstGeom prst="rect">
            <a:avLst/>
          </a:prstGeom>
          <a:noFill/>
          <a:ln/>
        </p:spPr>
        <p:txBody>
          <a:bodyPr wrap="square" lIns="0" tIns="0" rIns="0" bIns="0" rtlCol="0" anchor="ctr"/>
          <a:lstStyle/>
          <a:p>
            <a:pPr marL="0" indent="0">
              <a:buNone/>
            </a:pPr>
            <a:r>
              <a:rPr lang="en-US" sz="1050" dirty="0">
                <a:solidFill>
                  <a:srgbClr val="4A6080"/>
                </a:solidFill>
              </a:rPr>
              <a:t>Docker images tagged with Git SHA for full traceability</a:t>
            </a:r>
            <a:endParaRPr lang="en-US" sz="1050" dirty="0"/>
          </a:p>
        </p:txBody>
      </p:sp>
      <p:sp>
        <p:nvSpPr>
          <p:cNvPr id="49" name="Shape 47"/>
          <p:cNvSpPr/>
          <p:nvPr/>
        </p:nvSpPr>
        <p:spPr>
          <a:xfrm>
            <a:off x="4709160" y="3931920"/>
            <a:ext cx="4160520" cy="777240"/>
          </a:xfrm>
          <a:prstGeom prst="roundRect">
            <a:avLst>
              <a:gd name="adj" fmla="val 11765"/>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50" name="Text 48"/>
          <p:cNvSpPr/>
          <p:nvPr/>
        </p:nvSpPr>
        <p:spPr>
          <a:xfrm>
            <a:off x="4846320" y="4005072"/>
            <a:ext cx="3840480" cy="274320"/>
          </a:xfrm>
          <a:prstGeom prst="rect">
            <a:avLst/>
          </a:prstGeom>
          <a:noFill/>
          <a:ln/>
        </p:spPr>
        <p:txBody>
          <a:bodyPr wrap="square" lIns="0" tIns="0" rIns="0" bIns="0" rtlCol="0" anchor="ctr"/>
          <a:lstStyle/>
          <a:p>
            <a:pPr marL="0" indent="0">
              <a:buNone/>
            </a:pPr>
            <a:r>
              <a:rPr lang="en-US" sz="1200" b="1" dirty="0">
                <a:solidFill>
                  <a:srgbClr val="0D1B2A"/>
                </a:solidFill>
              </a:rPr>
              <a:t>Helm Validation</a:t>
            </a:r>
            <a:endParaRPr lang="en-US" sz="1200" dirty="0"/>
          </a:p>
        </p:txBody>
      </p:sp>
      <p:sp>
        <p:nvSpPr>
          <p:cNvPr id="51" name="Text 49"/>
          <p:cNvSpPr/>
          <p:nvPr/>
        </p:nvSpPr>
        <p:spPr>
          <a:xfrm>
            <a:off x="4846320" y="4297680"/>
            <a:ext cx="3840480" cy="320040"/>
          </a:xfrm>
          <a:prstGeom prst="rect">
            <a:avLst/>
          </a:prstGeom>
          <a:noFill/>
          <a:ln/>
        </p:spPr>
        <p:txBody>
          <a:bodyPr wrap="square" lIns="0" tIns="0" rIns="0" bIns="0" rtlCol="0" anchor="ctr"/>
          <a:lstStyle/>
          <a:p>
            <a:pPr marL="0" indent="0">
              <a:buNone/>
            </a:pPr>
            <a:r>
              <a:rPr lang="en-US" sz="1050" dirty="0">
                <a:solidFill>
                  <a:srgbClr val="4A6080"/>
                </a:solidFill>
              </a:rPr>
              <a:t>helm lint + helm template dry-run validates chart before CD</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109728"/>
            <a:ext cx="8229600" cy="530352"/>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CD Pipeline — GitOps with ArgoCD</a:t>
            </a:r>
            <a:endParaRPr lang="en-US" sz="3200" dirty="0"/>
          </a:p>
        </p:txBody>
      </p:sp>
      <p:sp>
        <p:nvSpPr>
          <p:cNvPr id="3" name="Shape 1"/>
          <p:cNvSpPr/>
          <p:nvPr/>
        </p:nvSpPr>
        <p:spPr>
          <a:xfrm>
            <a:off x="274320" y="1005840"/>
            <a:ext cx="978408" cy="914400"/>
          </a:xfrm>
          <a:prstGeom prst="roundRect">
            <a:avLst>
              <a:gd name="adj" fmla="val 10000"/>
            </a:avLst>
          </a:prstGeom>
          <a:solidFill>
            <a:srgbClr val="06D6A0"/>
          </a:solidFill>
          <a:ln/>
          <a:effectLst>
            <a:outerShdw blurRad="101600" dist="38100" dir="2700000" algn="bl" rotWithShape="0">
              <a:srgbClr val="000000">
                <a:alpha val="10000"/>
              </a:srgbClr>
            </a:outerShdw>
          </a:effectLst>
        </p:spPr>
        <p:txBody>
          <a:bodyPr/>
          <a:lstStyle/>
          <a:p>
            <a:endParaRPr lang="en-IN"/>
          </a:p>
        </p:txBody>
      </p:sp>
      <p:sp>
        <p:nvSpPr>
          <p:cNvPr id="4" name="Text 2"/>
          <p:cNvSpPr/>
          <p:nvPr/>
        </p:nvSpPr>
        <p:spPr>
          <a:xfrm>
            <a:off x="274320" y="1078992"/>
            <a:ext cx="978408" cy="34747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5" name="Text 3"/>
          <p:cNvSpPr/>
          <p:nvPr/>
        </p:nvSpPr>
        <p:spPr>
          <a:xfrm>
            <a:off x="274320" y="1444752"/>
            <a:ext cx="978408" cy="438912"/>
          </a:xfrm>
          <a:prstGeom prst="rect">
            <a:avLst/>
          </a:prstGeom>
          <a:noFill/>
          <a:ln/>
        </p:spPr>
        <p:txBody>
          <a:bodyPr wrap="square" lIns="0" tIns="0" rIns="0" bIns="0" rtlCol="0" anchor="ctr"/>
          <a:lstStyle/>
          <a:p>
            <a:pPr marL="0" indent="0" algn="ctr">
              <a:buNone/>
            </a:pPr>
            <a:r>
              <a:rPr lang="en-US" sz="850" b="1" dirty="0">
                <a:solidFill>
                  <a:srgbClr val="FFFFFF"/>
                </a:solidFill>
              </a:rPr>
              <a:t>CI Success</a:t>
            </a:r>
            <a:endParaRPr lang="en-US" sz="850" dirty="0"/>
          </a:p>
          <a:p>
            <a:pPr marL="0" indent="0" algn="ctr">
              <a:buNone/>
            </a:pPr>
            <a:r>
              <a:rPr lang="en-US" sz="850" b="1" dirty="0">
                <a:solidFill>
                  <a:srgbClr val="FFFFFF"/>
                </a:solidFill>
              </a:rPr>
              <a:t>(ECR pushed)</a:t>
            </a:r>
            <a:endParaRPr lang="en-US" sz="850" dirty="0"/>
          </a:p>
        </p:txBody>
      </p:sp>
      <p:sp>
        <p:nvSpPr>
          <p:cNvPr id="6" name="Shape 4"/>
          <p:cNvSpPr/>
          <p:nvPr/>
        </p:nvSpPr>
        <p:spPr>
          <a:xfrm>
            <a:off x="1252728" y="1463040"/>
            <a:ext cx="109728" cy="0"/>
          </a:xfrm>
          <a:prstGeom prst="line">
            <a:avLst/>
          </a:prstGeom>
          <a:noFill/>
          <a:ln w="19050">
            <a:solidFill>
              <a:srgbClr val="00B4D8"/>
            </a:solidFill>
            <a:prstDash val="solid"/>
          </a:ln>
        </p:spPr>
        <p:txBody>
          <a:bodyPr/>
          <a:lstStyle/>
          <a:p>
            <a:endParaRPr lang="en-IN"/>
          </a:p>
        </p:txBody>
      </p:sp>
      <p:sp>
        <p:nvSpPr>
          <p:cNvPr id="7" name="Shape 5"/>
          <p:cNvSpPr/>
          <p:nvPr/>
        </p:nvSpPr>
        <p:spPr>
          <a:xfrm>
            <a:off x="1362456" y="1005840"/>
            <a:ext cx="978408" cy="914400"/>
          </a:xfrm>
          <a:prstGeom prst="roundRect">
            <a:avLst>
              <a:gd name="adj" fmla="val 10000"/>
            </a:avLst>
          </a:prstGeom>
          <a:solidFill>
            <a:srgbClr val="0077B6"/>
          </a:solidFill>
          <a:ln/>
          <a:effectLst>
            <a:outerShdw blurRad="101600" dist="38100" dir="2700000" algn="bl" rotWithShape="0">
              <a:srgbClr val="000000">
                <a:alpha val="10000"/>
              </a:srgbClr>
            </a:outerShdw>
          </a:effectLst>
        </p:spPr>
        <p:txBody>
          <a:bodyPr/>
          <a:lstStyle/>
          <a:p>
            <a:endParaRPr lang="en-IN"/>
          </a:p>
        </p:txBody>
      </p:sp>
      <p:sp>
        <p:nvSpPr>
          <p:cNvPr id="8" name="Text 6"/>
          <p:cNvSpPr/>
          <p:nvPr/>
        </p:nvSpPr>
        <p:spPr>
          <a:xfrm>
            <a:off x="1362456" y="1078992"/>
            <a:ext cx="978408" cy="34747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9" name="Text 7"/>
          <p:cNvSpPr/>
          <p:nvPr/>
        </p:nvSpPr>
        <p:spPr>
          <a:xfrm>
            <a:off x="1362456" y="1444752"/>
            <a:ext cx="978408" cy="438912"/>
          </a:xfrm>
          <a:prstGeom prst="rect">
            <a:avLst/>
          </a:prstGeom>
          <a:noFill/>
          <a:ln/>
        </p:spPr>
        <p:txBody>
          <a:bodyPr wrap="square" lIns="0" tIns="0" rIns="0" bIns="0" rtlCol="0" anchor="ctr"/>
          <a:lstStyle/>
          <a:p>
            <a:pPr marL="0" indent="0" algn="ctr">
              <a:buNone/>
            </a:pPr>
            <a:r>
              <a:rPr lang="en-US" sz="850" b="1" dirty="0">
                <a:solidFill>
                  <a:srgbClr val="FFFFFF"/>
                </a:solidFill>
              </a:rPr>
              <a:t>GitHub Actions</a:t>
            </a:r>
            <a:endParaRPr lang="en-US" sz="850" dirty="0"/>
          </a:p>
          <a:p>
            <a:pPr marL="0" indent="0" algn="ctr">
              <a:buNone/>
            </a:pPr>
            <a:r>
              <a:rPr lang="en-US" sz="850" b="1" dirty="0">
                <a:solidFill>
                  <a:srgbClr val="FFFFFF"/>
                </a:solidFill>
              </a:rPr>
              <a:t>CD Job</a:t>
            </a:r>
            <a:endParaRPr lang="en-US" sz="850" dirty="0"/>
          </a:p>
        </p:txBody>
      </p:sp>
      <p:sp>
        <p:nvSpPr>
          <p:cNvPr id="10" name="Shape 8"/>
          <p:cNvSpPr/>
          <p:nvPr/>
        </p:nvSpPr>
        <p:spPr>
          <a:xfrm>
            <a:off x="2340864" y="1463040"/>
            <a:ext cx="109728" cy="0"/>
          </a:xfrm>
          <a:prstGeom prst="line">
            <a:avLst/>
          </a:prstGeom>
          <a:noFill/>
          <a:ln w="19050">
            <a:solidFill>
              <a:srgbClr val="00B4D8"/>
            </a:solidFill>
            <a:prstDash val="solid"/>
          </a:ln>
        </p:spPr>
        <p:txBody>
          <a:bodyPr/>
          <a:lstStyle/>
          <a:p>
            <a:endParaRPr lang="en-IN"/>
          </a:p>
        </p:txBody>
      </p:sp>
      <p:sp>
        <p:nvSpPr>
          <p:cNvPr id="11" name="Shape 9"/>
          <p:cNvSpPr/>
          <p:nvPr/>
        </p:nvSpPr>
        <p:spPr>
          <a:xfrm>
            <a:off x="2450592" y="1005840"/>
            <a:ext cx="978408" cy="914400"/>
          </a:xfrm>
          <a:prstGeom prst="roundRect">
            <a:avLst>
              <a:gd name="adj" fmla="val 10000"/>
            </a:avLst>
          </a:prstGeom>
          <a:solidFill>
            <a:srgbClr val="7B2FBE"/>
          </a:solidFill>
          <a:ln/>
          <a:effectLst>
            <a:outerShdw blurRad="101600" dist="38100" dir="2700000" algn="bl" rotWithShape="0">
              <a:srgbClr val="000000">
                <a:alpha val="10000"/>
              </a:srgbClr>
            </a:outerShdw>
          </a:effectLst>
        </p:spPr>
        <p:txBody>
          <a:bodyPr/>
          <a:lstStyle/>
          <a:p>
            <a:endParaRPr lang="en-IN"/>
          </a:p>
        </p:txBody>
      </p:sp>
      <p:sp>
        <p:nvSpPr>
          <p:cNvPr id="12" name="Text 10"/>
          <p:cNvSpPr/>
          <p:nvPr/>
        </p:nvSpPr>
        <p:spPr>
          <a:xfrm>
            <a:off x="2450592" y="1078992"/>
            <a:ext cx="978408" cy="34747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3" name="Text 11"/>
          <p:cNvSpPr/>
          <p:nvPr/>
        </p:nvSpPr>
        <p:spPr>
          <a:xfrm>
            <a:off x="2450592" y="1444752"/>
            <a:ext cx="978408" cy="438912"/>
          </a:xfrm>
          <a:prstGeom prst="rect">
            <a:avLst/>
          </a:prstGeom>
          <a:noFill/>
          <a:ln/>
        </p:spPr>
        <p:txBody>
          <a:bodyPr wrap="square" lIns="0" tIns="0" rIns="0" bIns="0" rtlCol="0" anchor="ctr"/>
          <a:lstStyle/>
          <a:p>
            <a:pPr marL="0" indent="0" algn="ctr">
              <a:buNone/>
            </a:pPr>
            <a:r>
              <a:rPr lang="en-US" sz="850" b="1" dirty="0">
                <a:solidFill>
                  <a:srgbClr val="FFFFFF"/>
                </a:solidFill>
              </a:rPr>
              <a:t>Update Helm</a:t>
            </a:r>
            <a:endParaRPr lang="en-US" sz="850" dirty="0"/>
          </a:p>
          <a:p>
            <a:pPr marL="0" indent="0" algn="ctr">
              <a:buNone/>
            </a:pPr>
            <a:r>
              <a:rPr lang="en-US" sz="850" b="1" dirty="0">
                <a:solidFill>
                  <a:srgbClr val="FFFFFF"/>
                </a:solidFill>
              </a:rPr>
              <a:t>Image Tag</a:t>
            </a:r>
            <a:endParaRPr lang="en-US" sz="850" dirty="0"/>
          </a:p>
        </p:txBody>
      </p:sp>
      <p:sp>
        <p:nvSpPr>
          <p:cNvPr id="14" name="Shape 12"/>
          <p:cNvSpPr/>
          <p:nvPr/>
        </p:nvSpPr>
        <p:spPr>
          <a:xfrm>
            <a:off x="3429000" y="1463040"/>
            <a:ext cx="109728" cy="0"/>
          </a:xfrm>
          <a:prstGeom prst="line">
            <a:avLst/>
          </a:prstGeom>
          <a:noFill/>
          <a:ln w="19050">
            <a:solidFill>
              <a:srgbClr val="00B4D8"/>
            </a:solidFill>
            <a:prstDash val="solid"/>
          </a:ln>
        </p:spPr>
        <p:txBody>
          <a:bodyPr/>
          <a:lstStyle/>
          <a:p>
            <a:endParaRPr lang="en-IN"/>
          </a:p>
        </p:txBody>
      </p:sp>
      <p:sp>
        <p:nvSpPr>
          <p:cNvPr id="15" name="Shape 13"/>
          <p:cNvSpPr/>
          <p:nvPr/>
        </p:nvSpPr>
        <p:spPr>
          <a:xfrm>
            <a:off x="3538728" y="1005840"/>
            <a:ext cx="978408" cy="914400"/>
          </a:xfrm>
          <a:prstGeom prst="roundRect">
            <a:avLst>
              <a:gd name="adj" fmla="val 10000"/>
            </a:avLst>
          </a:prstGeom>
          <a:solidFill>
            <a:srgbClr val="F4A261"/>
          </a:solidFill>
          <a:ln/>
          <a:effectLst>
            <a:outerShdw blurRad="101600" dist="38100" dir="2700000" algn="bl" rotWithShape="0">
              <a:srgbClr val="000000">
                <a:alpha val="10000"/>
              </a:srgbClr>
            </a:outerShdw>
          </a:effectLst>
        </p:spPr>
        <p:txBody>
          <a:bodyPr/>
          <a:lstStyle/>
          <a:p>
            <a:endParaRPr lang="en-IN"/>
          </a:p>
        </p:txBody>
      </p:sp>
      <p:sp>
        <p:nvSpPr>
          <p:cNvPr id="16" name="Text 14"/>
          <p:cNvSpPr/>
          <p:nvPr/>
        </p:nvSpPr>
        <p:spPr>
          <a:xfrm>
            <a:off x="3538728" y="1078992"/>
            <a:ext cx="978408" cy="34747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7" name="Text 15"/>
          <p:cNvSpPr/>
          <p:nvPr/>
        </p:nvSpPr>
        <p:spPr>
          <a:xfrm>
            <a:off x="3538728" y="1444752"/>
            <a:ext cx="978408" cy="438912"/>
          </a:xfrm>
          <a:prstGeom prst="rect">
            <a:avLst/>
          </a:prstGeom>
          <a:noFill/>
          <a:ln/>
        </p:spPr>
        <p:txBody>
          <a:bodyPr wrap="square" lIns="0" tIns="0" rIns="0" bIns="0" rtlCol="0" anchor="ctr"/>
          <a:lstStyle/>
          <a:p>
            <a:pPr marL="0" indent="0" algn="ctr">
              <a:buNone/>
            </a:pPr>
            <a:r>
              <a:rPr lang="en-US" sz="850" b="1" dirty="0">
                <a:solidFill>
                  <a:srgbClr val="FFFFFF"/>
                </a:solidFill>
              </a:rPr>
              <a:t>Commit to</a:t>
            </a:r>
            <a:endParaRPr lang="en-US" sz="850" dirty="0"/>
          </a:p>
          <a:p>
            <a:pPr marL="0" indent="0" algn="ctr">
              <a:buNone/>
            </a:pPr>
            <a:r>
              <a:rPr lang="en-US" sz="850" b="1" dirty="0">
                <a:solidFill>
                  <a:srgbClr val="FFFFFF"/>
                </a:solidFill>
              </a:rPr>
              <a:t>GitOps Branch</a:t>
            </a:r>
            <a:endParaRPr lang="en-US" sz="850" dirty="0"/>
          </a:p>
        </p:txBody>
      </p:sp>
      <p:sp>
        <p:nvSpPr>
          <p:cNvPr id="18" name="Shape 16"/>
          <p:cNvSpPr/>
          <p:nvPr/>
        </p:nvSpPr>
        <p:spPr>
          <a:xfrm>
            <a:off x="4517136" y="1463040"/>
            <a:ext cx="109728" cy="0"/>
          </a:xfrm>
          <a:prstGeom prst="line">
            <a:avLst/>
          </a:prstGeom>
          <a:noFill/>
          <a:ln w="19050">
            <a:solidFill>
              <a:srgbClr val="00B4D8"/>
            </a:solidFill>
            <a:prstDash val="solid"/>
          </a:ln>
        </p:spPr>
        <p:txBody>
          <a:bodyPr/>
          <a:lstStyle/>
          <a:p>
            <a:endParaRPr lang="en-IN"/>
          </a:p>
        </p:txBody>
      </p:sp>
      <p:sp>
        <p:nvSpPr>
          <p:cNvPr id="19" name="Shape 17"/>
          <p:cNvSpPr/>
          <p:nvPr/>
        </p:nvSpPr>
        <p:spPr>
          <a:xfrm>
            <a:off x="4626864" y="1005840"/>
            <a:ext cx="978408" cy="914400"/>
          </a:xfrm>
          <a:prstGeom prst="roundRect">
            <a:avLst>
              <a:gd name="adj" fmla="val 10000"/>
            </a:avLst>
          </a:prstGeom>
          <a:solidFill>
            <a:srgbClr val="BE2F6B"/>
          </a:solidFill>
          <a:ln/>
          <a:effectLst>
            <a:outerShdw blurRad="101600" dist="38100" dir="2700000" algn="bl" rotWithShape="0">
              <a:srgbClr val="000000">
                <a:alpha val="10000"/>
              </a:srgbClr>
            </a:outerShdw>
          </a:effectLst>
        </p:spPr>
        <p:txBody>
          <a:bodyPr/>
          <a:lstStyle/>
          <a:p>
            <a:endParaRPr lang="en-IN"/>
          </a:p>
        </p:txBody>
      </p:sp>
      <p:sp>
        <p:nvSpPr>
          <p:cNvPr id="20" name="Text 18"/>
          <p:cNvSpPr/>
          <p:nvPr/>
        </p:nvSpPr>
        <p:spPr>
          <a:xfrm>
            <a:off x="4626864" y="1078992"/>
            <a:ext cx="978408" cy="34747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1" name="Text 19"/>
          <p:cNvSpPr/>
          <p:nvPr/>
        </p:nvSpPr>
        <p:spPr>
          <a:xfrm>
            <a:off x="4626864" y="1444752"/>
            <a:ext cx="978408" cy="438912"/>
          </a:xfrm>
          <a:prstGeom prst="rect">
            <a:avLst/>
          </a:prstGeom>
          <a:noFill/>
          <a:ln/>
        </p:spPr>
        <p:txBody>
          <a:bodyPr wrap="square" lIns="0" tIns="0" rIns="0" bIns="0" rtlCol="0" anchor="ctr"/>
          <a:lstStyle/>
          <a:p>
            <a:pPr marL="0" indent="0" algn="ctr">
              <a:buNone/>
            </a:pPr>
            <a:r>
              <a:rPr lang="en-US" sz="850" b="1" dirty="0">
                <a:solidFill>
                  <a:srgbClr val="FFFFFF"/>
                </a:solidFill>
              </a:rPr>
              <a:t>ArgoCD</a:t>
            </a:r>
            <a:endParaRPr lang="en-US" sz="850" dirty="0"/>
          </a:p>
          <a:p>
            <a:pPr marL="0" indent="0" algn="ctr">
              <a:buNone/>
            </a:pPr>
            <a:r>
              <a:rPr lang="en-US" sz="850" b="1" dirty="0">
                <a:solidFill>
                  <a:srgbClr val="FFFFFF"/>
                </a:solidFill>
              </a:rPr>
              <a:t>Detects Change</a:t>
            </a:r>
            <a:endParaRPr lang="en-US" sz="850" dirty="0"/>
          </a:p>
        </p:txBody>
      </p:sp>
      <p:sp>
        <p:nvSpPr>
          <p:cNvPr id="22" name="Shape 20"/>
          <p:cNvSpPr/>
          <p:nvPr/>
        </p:nvSpPr>
        <p:spPr>
          <a:xfrm>
            <a:off x="5605272" y="1463040"/>
            <a:ext cx="109728" cy="0"/>
          </a:xfrm>
          <a:prstGeom prst="line">
            <a:avLst/>
          </a:prstGeom>
          <a:noFill/>
          <a:ln w="19050">
            <a:solidFill>
              <a:srgbClr val="00B4D8"/>
            </a:solidFill>
            <a:prstDash val="solid"/>
          </a:ln>
        </p:spPr>
        <p:txBody>
          <a:bodyPr/>
          <a:lstStyle/>
          <a:p>
            <a:endParaRPr lang="en-IN"/>
          </a:p>
        </p:txBody>
      </p:sp>
      <p:sp>
        <p:nvSpPr>
          <p:cNvPr id="23" name="Shape 21"/>
          <p:cNvSpPr/>
          <p:nvPr/>
        </p:nvSpPr>
        <p:spPr>
          <a:xfrm>
            <a:off x="5715000" y="1005840"/>
            <a:ext cx="978408" cy="914400"/>
          </a:xfrm>
          <a:prstGeom prst="roundRect">
            <a:avLst>
              <a:gd name="adj" fmla="val 10000"/>
            </a:avLst>
          </a:prstGeom>
          <a:solidFill>
            <a:srgbClr val="0077B6"/>
          </a:solidFill>
          <a:ln/>
          <a:effectLst>
            <a:outerShdw blurRad="101600" dist="38100" dir="2700000" algn="bl" rotWithShape="0">
              <a:srgbClr val="000000">
                <a:alpha val="10000"/>
              </a:srgbClr>
            </a:outerShdw>
          </a:effectLst>
        </p:spPr>
        <p:txBody>
          <a:bodyPr/>
          <a:lstStyle/>
          <a:p>
            <a:endParaRPr lang="en-IN"/>
          </a:p>
        </p:txBody>
      </p:sp>
      <p:sp>
        <p:nvSpPr>
          <p:cNvPr id="24" name="Text 22"/>
          <p:cNvSpPr/>
          <p:nvPr/>
        </p:nvSpPr>
        <p:spPr>
          <a:xfrm>
            <a:off x="5715000" y="1078992"/>
            <a:ext cx="978408" cy="34747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5" name="Text 23"/>
          <p:cNvSpPr/>
          <p:nvPr/>
        </p:nvSpPr>
        <p:spPr>
          <a:xfrm>
            <a:off x="5715000" y="1444752"/>
            <a:ext cx="978408" cy="438912"/>
          </a:xfrm>
          <a:prstGeom prst="rect">
            <a:avLst/>
          </a:prstGeom>
          <a:noFill/>
          <a:ln/>
        </p:spPr>
        <p:txBody>
          <a:bodyPr wrap="square" lIns="0" tIns="0" rIns="0" bIns="0" rtlCol="0" anchor="ctr"/>
          <a:lstStyle/>
          <a:p>
            <a:pPr marL="0" indent="0" algn="ctr">
              <a:buNone/>
            </a:pPr>
            <a:r>
              <a:rPr lang="en-US" sz="850" b="1" dirty="0">
                <a:solidFill>
                  <a:srgbClr val="FFFFFF"/>
                </a:solidFill>
              </a:rPr>
              <a:t>Sync to</a:t>
            </a:r>
            <a:endParaRPr lang="en-US" sz="850" dirty="0"/>
          </a:p>
          <a:p>
            <a:pPr marL="0" indent="0" algn="ctr">
              <a:buNone/>
            </a:pPr>
            <a:r>
              <a:rPr lang="en-US" sz="850" b="1" dirty="0">
                <a:solidFill>
                  <a:srgbClr val="FFFFFF"/>
                </a:solidFill>
              </a:rPr>
              <a:t>EKS Cluster</a:t>
            </a:r>
            <a:endParaRPr lang="en-US" sz="850" dirty="0"/>
          </a:p>
        </p:txBody>
      </p:sp>
      <p:sp>
        <p:nvSpPr>
          <p:cNvPr id="26" name="Shape 24"/>
          <p:cNvSpPr/>
          <p:nvPr/>
        </p:nvSpPr>
        <p:spPr>
          <a:xfrm>
            <a:off x="6693408" y="1463040"/>
            <a:ext cx="109728" cy="0"/>
          </a:xfrm>
          <a:prstGeom prst="line">
            <a:avLst/>
          </a:prstGeom>
          <a:noFill/>
          <a:ln w="19050">
            <a:solidFill>
              <a:srgbClr val="00B4D8"/>
            </a:solidFill>
            <a:prstDash val="solid"/>
          </a:ln>
        </p:spPr>
        <p:txBody>
          <a:bodyPr/>
          <a:lstStyle/>
          <a:p>
            <a:endParaRPr lang="en-IN"/>
          </a:p>
        </p:txBody>
      </p:sp>
      <p:sp>
        <p:nvSpPr>
          <p:cNvPr id="27" name="Shape 25"/>
          <p:cNvSpPr/>
          <p:nvPr/>
        </p:nvSpPr>
        <p:spPr>
          <a:xfrm>
            <a:off x="6803136" y="1005840"/>
            <a:ext cx="978408" cy="914400"/>
          </a:xfrm>
          <a:prstGeom prst="roundRect">
            <a:avLst>
              <a:gd name="adj" fmla="val 10000"/>
            </a:avLst>
          </a:prstGeom>
          <a:solidFill>
            <a:srgbClr val="06D6A0"/>
          </a:solidFill>
          <a:ln/>
          <a:effectLst>
            <a:outerShdw blurRad="101600" dist="38100" dir="2700000" algn="bl" rotWithShape="0">
              <a:srgbClr val="000000">
                <a:alpha val="10000"/>
              </a:srgbClr>
            </a:outerShdw>
          </a:effectLst>
        </p:spPr>
        <p:txBody>
          <a:bodyPr/>
          <a:lstStyle/>
          <a:p>
            <a:endParaRPr lang="en-IN"/>
          </a:p>
        </p:txBody>
      </p:sp>
      <p:sp>
        <p:nvSpPr>
          <p:cNvPr id="28" name="Text 26"/>
          <p:cNvSpPr/>
          <p:nvPr/>
        </p:nvSpPr>
        <p:spPr>
          <a:xfrm>
            <a:off x="6803136" y="1078992"/>
            <a:ext cx="978408" cy="34747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9" name="Text 27"/>
          <p:cNvSpPr/>
          <p:nvPr/>
        </p:nvSpPr>
        <p:spPr>
          <a:xfrm>
            <a:off x="6803136" y="1444752"/>
            <a:ext cx="978408" cy="438912"/>
          </a:xfrm>
          <a:prstGeom prst="rect">
            <a:avLst/>
          </a:prstGeom>
          <a:noFill/>
          <a:ln/>
        </p:spPr>
        <p:txBody>
          <a:bodyPr wrap="square" lIns="0" tIns="0" rIns="0" bIns="0" rtlCol="0" anchor="ctr"/>
          <a:lstStyle/>
          <a:p>
            <a:pPr marL="0" indent="0" algn="ctr">
              <a:buNone/>
            </a:pPr>
            <a:r>
              <a:rPr lang="en-US" sz="850" b="1" dirty="0">
                <a:solidFill>
                  <a:srgbClr val="FFFFFF"/>
                </a:solidFill>
              </a:rPr>
              <a:t>Rollout</a:t>
            </a:r>
            <a:endParaRPr lang="en-US" sz="850" dirty="0"/>
          </a:p>
          <a:p>
            <a:pPr marL="0" indent="0" algn="ctr">
              <a:buNone/>
            </a:pPr>
            <a:r>
              <a:rPr lang="en-US" sz="850" b="1" dirty="0">
                <a:solidFill>
                  <a:srgbClr val="FFFFFF"/>
                </a:solidFill>
              </a:rPr>
              <a:t>Verification</a:t>
            </a:r>
            <a:endParaRPr lang="en-US" sz="850" dirty="0"/>
          </a:p>
        </p:txBody>
      </p:sp>
      <p:sp>
        <p:nvSpPr>
          <p:cNvPr id="30" name="Shape 28"/>
          <p:cNvSpPr/>
          <p:nvPr/>
        </p:nvSpPr>
        <p:spPr>
          <a:xfrm>
            <a:off x="7781544" y="1463040"/>
            <a:ext cx="109728" cy="0"/>
          </a:xfrm>
          <a:prstGeom prst="line">
            <a:avLst/>
          </a:prstGeom>
          <a:noFill/>
          <a:ln w="19050">
            <a:solidFill>
              <a:srgbClr val="00B4D8"/>
            </a:solidFill>
            <a:prstDash val="solid"/>
          </a:ln>
        </p:spPr>
        <p:txBody>
          <a:bodyPr/>
          <a:lstStyle/>
          <a:p>
            <a:endParaRPr lang="en-IN"/>
          </a:p>
        </p:txBody>
      </p:sp>
      <p:sp>
        <p:nvSpPr>
          <p:cNvPr id="31" name="Shape 29"/>
          <p:cNvSpPr/>
          <p:nvPr/>
        </p:nvSpPr>
        <p:spPr>
          <a:xfrm>
            <a:off x="7891272" y="1005840"/>
            <a:ext cx="978408" cy="914400"/>
          </a:xfrm>
          <a:prstGeom prst="roundRect">
            <a:avLst>
              <a:gd name="adj" fmla="val 10000"/>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32" name="Text 30"/>
          <p:cNvSpPr/>
          <p:nvPr/>
        </p:nvSpPr>
        <p:spPr>
          <a:xfrm>
            <a:off x="7891272" y="1078992"/>
            <a:ext cx="978408" cy="34747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33" name="Text 31"/>
          <p:cNvSpPr/>
          <p:nvPr/>
        </p:nvSpPr>
        <p:spPr>
          <a:xfrm>
            <a:off x="7891272" y="1444752"/>
            <a:ext cx="978408" cy="438912"/>
          </a:xfrm>
          <a:prstGeom prst="rect">
            <a:avLst/>
          </a:prstGeom>
          <a:noFill/>
          <a:ln/>
        </p:spPr>
        <p:txBody>
          <a:bodyPr wrap="square" lIns="0" tIns="0" rIns="0" bIns="0" rtlCol="0" anchor="ctr"/>
          <a:lstStyle/>
          <a:p>
            <a:pPr marL="0" indent="0" algn="ctr">
              <a:buNone/>
            </a:pPr>
            <a:r>
              <a:rPr lang="en-US" sz="850" b="1" dirty="0">
                <a:solidFill>
                  <a:srgbClr val="FFFFFF"/>
                </a:solidFill>
              </a:rPr>
              <a:t>Smoke Tests</a:t>
            </a:r>
            <a:endParaRPr lang="en-US" sz="850" dirty="0"/>
          </a:p>
          <a:p>
            <a:pPr marL="0" indent="0" algn="ctr">
              <a:buNone/>
            </a:pPr>
            <a:r>
              <a:rPr lang="en-US" sz="850" b="1" dirty="0">
                <a:solidFill>
                  <a:srgbClr val="FFFFFF"/>
                </a:solidFill>
              </a:rPr>
              <a:t>+ Notify</a:t>
            </a:r>
            <a:endParaRPr lang="en-US" sz="850" dirty="0"/>
          </a:p>
        </p:txBody>
      </p:sp>
      <p:sp>
        <p:nvSpPr>
          <p:cNvPr id="34" name="Shape 32"/>
          <p:cNvSpPr/>
          <p:nvPr/>
        </p:nvSpPr>
        <p:spPr>
          <a:xfrm>
            <a:off x="274320" y="2148840"/>
            <a:ext cx="8595360" cy="548640"/>
          </a:xfrm>
          <a:prstGeom prst="roundRect">
            <a:avLst>
              <a:gd name="adj" fmla="val 13333"/>
            </a:avLst>
          </a:prstGeom>
          <a:solidFill>
            <a:srgbClr val="1A2B4A"/>
          </a:solidFill>
          <a:ln/>
        </p:spPr>
        <p:txBody>
          <a:bodyPr/>
          <a:lstStyle/>
          <a:p>
            <a:endParaRPr lang="en-IN"/>
          </a:p>
        </p:txBody>
      </p:sp>
      <p:sp>
        <p:nvSpPr>
          <p:cNvPr id="35" name="Text 33"/>
          <p:cNvSpPr/>
          <p:nvPr/>
        </p:nvSpPr>
        <p:spPr>
          <a:xfrm>
            <a:off x="274320" y="2148840"/>
            <a:ext cx="8595360" cy="548640"/>
          </a:xfrm>
          <a:prstGeom prst="rect">
            <a:avLst/>
          </a:prstGeom>
          <a:noFill/>
          <a:ln/>
        </p:spPr>
        <p:txBody>
          <a:bodyPr wrap="square" lIns="0" tIns="0" rIns="0" bIns="0" rtlCol="0" anchor="ctr"/>
          <a:lstStyle/>
          <a:p>
            <a:pPr marL="0" indent="0" algn="ctr">
              <a:buNone/>
            </a:pPr>
            <a:r>
              <a:rPr lang="en-US" sz="1100" dirty="0">
                <a:solidFill>
                  <a:srgbClr val="00B4D8"/>
                </a:solidFill>
              </a:rPr>
              <a:t>GitOps Principle: Helm values file is the single source of truth. ArgoCD continuously syncs cluster state to match git. Manual kubectl access is not needed.</a:t>
            </a:r>
            <a:endParaRPr lang="en-US" sz="1100" dirty="0"/>
          </a:p>
        </p:txBody>
      </p:sp>
      <p:sp>
        <p:nvSpPr>
          <p:cNvPr id="36" name="Shape 34"/>
          <p:cNvSpPr/>
          <p:nvPr/>
        </p:nvSpPr>
        <p:spPr>
          <a:xfrm>
            <a:off x="320040" y="2880360"/>
            <a:ext cx="4160520" cy="822960"/>
          </a:xfrm>
          <a:prstGeom prst="roundRect">
            <a:avLst>
              <a:gd name="adj" fmla="val 11111"/>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37" name="Text 35"/>
          <p:cNvSpPr/>
          <p:nvPr/>
        </p:nvSpPr>
        <p:spPr>
          <a:xfrm>
            <a:off x="457200" y="2971800"/>
            <a:ext cx="3840480" cy="274320"/>
          </a:xfrm>
          <a:prstGeom prst="rect">
            <a:avLst/>
          </a:prstGeom>
          <a:noFill/>
          <a:ln/>
        </p:spPr>
        <p:txBody>
          <a:bodyPr wrap="square" lIns="0" tIns="0" rIns="0" bIns="0" rtlCol="0" anchor="ctr"/>
          <a:lstStyle/>
          <a:p>
            <a:pPr marL="0" indent="0">
              <a:buNone/>
            </a:pPr>
            <a:r>
              <a:rPr lang="en-US" sz="1200" b="1" dirty="0">
                <a:solidFill>
                  <a:srgbClr val="00B4D8"/>
                </a:solidFill>
              </a:rPr>
              <a:t>Production Approval Gate</a:t>
            </a:r>
            <a:endParaRPr lang="en-US" sz="1200" dirty="0"/>
          </a:p>
        </p:txBody>
      </p:sp>
      <p:sp>
        <p:nvSpPr>
          <p:cNvPr id="38" name="Text 36"/>
          <p:cNvSpPr/>
          <p:nvPr/>
        </p:nvSpPr>
        <p:spPr>
          <a:xfrm>
            <a:off x="457200" y="3291840"/>
            <a:ext cx="3840480" cy="347472"/>
          </a:xfrm>
          <a:prstGeom prst="rect">
            <a:avLst/>
          </a:prstGeom>
          <a:noFill/>
          <a:ln/>
        </p:spPr>
        <p:txBody>
          <a:bodyPr wrap="square" lIns="0" tIns="0" rIns="0" bIns="0" rtlCol="0" anchor="ctr"/>
          <a:lstStyle/>
          <a:p>
            <a:pPr marL="0" indent="0">
              <a:buNone/>
            </a:pPr>
            <a:r>
              <a:rPr lang="en-US" sz="1050" dirty="0">
                <a:solidFill>
                  <a:srgbClr val="AACCEE"/>
                </a:solidFill>
              </a:rPr>
              <a:t>Manual approval step required before deploying to production environment.</a:t>
            </a:r>
            <a:endParaRPr lang="en-US" sz="1050" dirty="0"/>
          </a:p>
        </p:txBody>
      </p:sp>
      <p:sp>
        <p:nvSpPr>
          <p:cNvPr id="39" name="Shape 37"/>
          <p:cNvSpPr/>
          <p:nvPr/>
        </p:nvSpPr>
        <p:spPr>
          <a:xfrm>
            <a:off x="4709160" y="2880360"/>
            <a:ext cx="4160520" cy="822960"/>
          </a:xfrm>
          <a:prstGeom prst="roundRect">
            <a:avLst>
              <a:gd name="adj" fmla="val 11111"/>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40" name="Text 38"/>
          <p:cNvSpPr/>
          <p:nvPr/>
        </p:nvSpPr>
        <p:spPr>
          <a:xfrm>
            <a:off x="4846320" y="2971800"/>
            <a:ext cx="3840480" cy="274320"/>
          </a:xfrm>
          <a:prstGeom prst="rect">
            <a:avLst/>
          </a:prstGeom>
          <a:noFill/>
          <a:ln/>
        </p:spPr>
        <p:txBody>
          <a:bodyPr wrap="square" lIns="0" tIns="0" rIns="0" bIns="0" rtlCol="0" anchor="ctr"/>
          <a:lstStyle/>
          <a:p>
            <a:pPr marL="0" indent="0">
              <a:buNone/>
            </a:pPr>
            <a:r>
              <a:rPr lang="en-US" sz="1200" b="1" dirty="0">
                <a:solidFill>
                  <a:srgbClr val="00B4D8"/>
                </a:solidFill>
              </a:rPr>
              <a:t>Smoke Tests</a:t>
            </a:r>
            <a:endParaRPr lang="en-US" sz="1200" dirty="0"/>
          </a:p>
        </p:txBody>
      </p:sp>
      <p:sp>
        <p:nvSpPr>
          <p:cNvPr id="41" name="Text 39"/>
          <p:cNvSpPr/>
          <p:nvPr/>
        </p:nvSpPr>
        <p:spPr>
          <a:xfrm>
            <a:off x="4846320" y="3291840"/>
            <a:ext cx="3840480" cy="347472"/>
          </a:xfrm>
          <a:prstGeom prst="rect">
            <a:avLst/>
          </a:prstGeom>
          <a:noFill/>
          <a:ln/>
        </p:spPr>
        <p:txBody>
          <a:bodyPr wrap="square" lIns="0" tIns="0" rIns="0" bIns="0" rtlCol="0" anchor="ctr"/>
          <a:lstStyle/>
          <a:p>
            <a:pPr marL="0" indent="0">
              <a:buNone/>
            </a:pPr>
            <a:r>
              <a:rPr lang="en-US" sz="1050" dirty="0">
                <a:solidFill>
                  <a:srgbClr val="AACCEE"/>
                </a:solidFill>
              </a:rPr>
              <a:t>Automated HTTP health check of /health endpoints + core API flows after deploy.</a:t>
            </a:r>
            <a:endParaRPr lang="en-US" sz="1050" dirty="0"/>
          </a:p>
        </p:txBody>
      </p:sp>
      <p:sp>
        <p:nvSpPr>
          <p:cNvPr id="42" name="Shape 40"/>
          <p:cNvSpPr/>
          <p:nvPr/>
        </p:nvSpPr>
        <p:spPr>
          <a:xfrm>
            <a:off x="320040" y="3840480"/>
            <a:ext cx="4160520" cy="822960"/>
          </a:xfrm>
          <a:prstGeom prst="roundRect">
            <a:avLst>
              <a:gd name="adj" fmla="val 11111"/>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43" name="Text 41"/>
          <p:cNvSpPr/>
          <p:nvPr/>
        </p:nvSpPr>
        <p:spPr>
          <a:xfrm>
            <a:off x="457200" y="3931920"/>
            <a:ext cx="3840480" cy="274320"/>
          </a:xfrm>
          <a:prstGeom prst="rect">
            <a:avLst/>
          </a:prstGeom>
          <a:noFill/>
          <a:ln/>
        </p:spPr>
        <p:txBody>
          <a:bodyPr wrap="square" lIns="0" tIns="0" rIns="0" bIns="0" rtlCol="0" anchor="ctr"/>
          <a:lstStyle/>
          <a:p>
            <a:pPr marL="0" indent="0">
              <a:buNone/>
            </a:pPr>
            <a:r>
              <a:rPr lang="en-US" sz="1200" b="1" dirty="0">
                <a:solidFill>
                  <a:srgbClr val="00B4D8"/>
                </a:solidFill>
              </a:rPr>
              <a:t>ArgoCD GitOps</a:t>
            </a:r>
            <a:endParaRPr lang="en-US" sz="1200" dirty="0"/>
          </a:p>
        </p:txBody>
      </p:sp>
      <p:sp>
        <p:nvSpPr>
          <p:cNvPr id="44" name="Text 42"/>
          <p:cNvSpPr/>
          <p:nvPr/>
        </p:nvSpPr>
        <p:spPr>
          <a:xfrm>
            <a:off x="457200" y="4251960"/>
            <a:ext cx="3840480" cy="347472"/>
          </a:xfrm>
          <a:prstGeom prst="rect">
            <a:avLst/>
          </a:prstGeom>
          <a:noFill/>
          <a:ln/>
        </p:spPr>
        <p:txBody>
          <a:bodyPr wrap="square" lIns="0" tIns="0" rIns="0" bIns="0" rtlCol="0" anchor="ctr"/>
          <a:lstStyle/>
          <a:p>
            <a:pPr marL="0" indent="0">
              <a:buNone/>
            </a:pPr>
            <a:r>
              <a:rPr lang="en-US" sz="1050" dirty="0">
                <a:solidFill>
                  <a:srgbClr val="AACCEE"/>
                </a:solidFill>
              </a:rPr>
              <a:t>App defined declaratively. ArgoCD self-heals any cluster drift automatically.</a:t>
            </a:r>
            <a:endParaRPr lang="en-US" sz="1050" dirty="0"/>
          </a:p>
        </p:txBody>
      </p:sp>
      <p:sp>
        <p:nvSpPr>
          <p:cNvPr id="45" name="Shape 43"/>
          <p:cNvSpPr/>
          <p:nvPr/>
        </p:nvSpPr>
        <p:spPr>
          <a:xfrm>
            <a:off x="4709160" y="3840480"/>
            <a:ext cx="4160520" cy="822960"/>
          </a:xfrm>
          <a:prstGeom prst="roundRect">
            <a:avLst>
              <a:gd name="adj" fmla="val 11111"/>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46" name="Text 44"/>
          <p:cNvSpPr/>
          <p:nvPr/>
        </p:nvSpPr>
        <p:spPr>
          <a:xfrm>
            <a:off x="4846320" y="3931920"/>
            <a:ext cx="3840480" cy="274320"/>
          </a:xfrm>
          <a:prstGeom prst="rect">
            <a:avLst/>
          </a:prstGeom>
          <a:noFill/>
          <a:ln/>
        </p:spPr>
        <p:txBody>
          <a:bodyPr wrap="square" lIns="0" tIns="0" rIns="0" bIns="0" rtlCol="0" anchor="ctr"/>
          <a:lstStyle/>
          <a:p>
            <a:pPr marL="0" indent="0">
              <a:buNone/>
            </a:pPr>
            <a:r>
              <a:rPr lang="en-US" sz="1200" b="1" dirty="0">
                <a:solidFill>
                  <a:srgbClr val="00B4D8"/>
                </a:solidFill>
              </a:rPr>
              <a:t>Rollback</a:t>
            </a:r>
            <a:endParaRPr lang="en-US" sz="1200" dirty="0"/>
          </a:p>
        </p:txBody>
      </p:sp>
      <p:sp>
        <p:nvSpPr>
          <p:cNvPr id="47" name="Text 45"/>
          <p:cNvSpPr/>
          <p:nvPr/>
        </p:nvSpPr>
        <p:spPr>
          <a:xfrm>
            <a:off x="4846320" y="4251960"/>
            <a:ext cx="3840480" cy="347472"/>
          </a:xfrm>
          <a:prstGeom prst="rect">
            <a:avLst/>
          </a:prstGeom>
          <a:noFill/>
          <a:ln/>
        </p:spPr>
        <p:txBody>
          <a:bodyPr wrap="square" lIns="0" tIns="0" rIns="0" bIns="0" rtlCol="0" anchor="ctr"/>
          <a:lstStyle/>
          <a:p>
            <a:pPr marL="0" indent="0">
              <a:buNone/>
            </a:pPr>
            <a:r>
              <a:rPr lang="en-US" sz="1050" dirty="0">
                <a:solidFill>
                  <a:srgbClr val="AACCEE"/>
                </a:solidFill>
              </a:rPr>
              <a:t>Revert the Helm values git commit — ArgoCD re-syncs the previous image SHA instantly.</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6FF"/>
        </a:solidFill>
        <a:effectLst/>
      </p:bgPr>
    </p:bg>
    <p:spTree>
      <p:nvGrpSpPr>
        <p:cNvPr id="1" name=""/>
        <p:cNvGrpSpPr/>
        <p:nvPr/>
      </p:nvGrpSpPr>
      <p:grpSpPr>
        <a:xfrm>
          <a:off x="0" y="0"/>
          <a:ext cx="0" cy="0"/>
          <a:chOff x="0" y="0"/>
          <a:chExt cx="0" cy="0"/>
        </a:xfrm>
      </p:grpSpPr>
      <p:sp>
        <p:nvSpPr>
          <p:cNvPr id="2" name="Text 0"/>
          <p:cNvSpPr/>
          <p:nvPr/>
        </p:nvSpPr>
        <p:spPr>
          <a:xfrm>
            <a:off x="457200" y="109728"/>
            <a:ext cx="8229600" cy="530352"/>
          </a:xfrm>
          <a:prstGeom prst="rect">
            <a:avLst/>
          </a:prstGeom>
          <a:noFill/>
          <a:ln/>
        </p:spPr>
        <p:txBody>
          <a:bodyPr wrap="square" lIns="0" tIns="0" rIns="0" bIns="0" rtlCol="0" anchor="ctr"/>
          <a:lstStyle/>
          <a:p>
            <a:pPr marL="0" indent="0">
              <a:buNone/>
            </a:pPr>
            <a:r>
              <a:rPr lang="en-US" sz="3200" b="1" dirty="0">
                <a:solidFill>
                  <a:srgbClr val="0D1B2A"/>
                </a:solidFill>
                <a:latin typeface="Calibri" pitchFamily="34" charset="0"/>
                <a:ea typeface="Calibri" pitchFamily="34" charset="-122"/>
                <a:cs typeface="Calibri" pitchFamily="34" charset="-120"/>
              </a:rPr>
              <a:t>Security &amp; Cloud Integration</a:t>
            </a:r>
            <a:endParaRPr lang="en-US" sz="3200" dirty="0"/>
          </a:p>
        </p:txBody>
      </p:sp>
      <p:sp>
        <p:nvSpPr>
          <p:cNvPr id="3" name="Shape 1"/>
          <p:cNvSpPr/>
          <p:nvPr/>
        </p:nvSpPr>
        <p:spPr>
          <a:xfrm>
            <a:off x="274320" y="822960"/>
            <a:ext cx="4206240" cy="1234440"/>
          </a:xfrm>
          <a:prstGeom prst="roundRect">
            <a:avLst>
              <a:gd name="adj" fmla="val 8889"/>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4" name="Shape 2"/>
          <p:cNvSpPr/>
          <p:nvPr/>
        </p:nvSpPr>
        <p:spPr>
          <a:xfrm>
            <a:off x="384048" y="1097280"/>
            <a:ext cx="548640" cy="548640"/>
          </a:xfrm>
          <a:prstGeom prst="roundRect">
            <a:avLst>
              <a:gd name="adj" fmla="val 13333"/>
            </a:avLst>
          </a:prstGeom>
          <a:solidFill>
            <a:srgbClr val="06D6A0">
              <a:alpha val="85000"/>
            </a:srgbClr>
          </a:solidFill>
          <a:ln/>
        </p:spPr>
        <p:txBody>
          <a:bodyPr/>
          <a:lstStyle/>
          <a:p>
            <a:endParaRPr lang="en-IN"/>
          </a:p>
        </p:txBody>
      </p:sp>
      <p:sp>
        <p:nvSpPr>
          <p:cNvPr id="5" name="Text 3"/>
          <p:cNvSpPr/>
          <p:nvPr/>
        </p:nvSpPr>
        <p:spPr>
          <a:xfrm>
            <a:off x="384048" y="109728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6" name="Text 4"/>
          <p:cNvSpPr/>
          <p:nvPr/>
        </p:nvSpPr>
        <p:spPr>
          <a:xfrm>
            <a:off x="1051560" y="914400"/>
            <a:ext cx="3291840" cy="347472"/>
          </a:xfrm>
          <a:prstGeom prst="rect">
            <a:avLst/>
          </a:prstGeom>
          <a:noFill/>
          <a:ln/>
        </p:spPr>
        <p:txBody>
          <a:bodyPr wrap="square" lIns="0" tIns="0" rIns="0" bIns="0" rtlCol="0" anchor="ctr"/>
          <a:lstStyle/>
          <a:p>
            <a:pPr marL="0" indent="0">
              <a:buNone/>
            </a:pPr>
            <a:r>
              <a:rPr lang="en-US" sz="1200" b="1" dirty="0">
                <a:solidFill>
                  <a:srgbClr val="0D1B2A"/>
                </a:solidFill>
              </a:rPr>
              <a:t>No Static AWS Keys</a:t>
            </a:r>
            <a:endParaRPr lang="en-US" sz="1200" dirty="0"/>
          </a:p>
        </p:txBody>
      </p:sp>
      <p:sp>
        <p:nvSpPr>
          <p:cNvPr id="7" name="Text 5"/>
          <p:cNvSpPr/>
          <p:nvPr/>
        </p:nvSpPr>
        <p:spPr>
          <a:xfrm>
            <a:off x="1051560" y="1298448"/>
            <a:ext cx="3291840" cy="640080"/>
          </a:xfrm>
          <a:prstGeom prst="rect">
            <a:avLst/>
          </a:prstGeom>
          <a:noFill/>
          <a:ln/>
        </p:spPr>
        <p:txBody>
          <a:bodyPr wrap="square" lIns="0" tIns="0" rIns="0" bIns="0" rtlCol="0" anchor="ctr"/>
          <a:lstStyle/>
          <a:p>
            <a:pPr marL="0" indent="0">
              <a:buNone/>
            </a:pPr>
            <a:r>
              <a:rPr lang="en-US" sz="1050" dirty="0">
                <a:solidFill>
                  <a:srgbClr val="4A6080"/>
                </a:solidFill>
              </a:rPr>
              <a:t>GitHub Actions uses OIDC to assume an IAM role — zero long-lived credentials in CI.</a:t>
            </a:r>
            <a:endParaRPr lang="en-US" sz="1050" dirty="0"/>
          </a:p>
        </p:txBody>
      </p:sp>
      <p:sp>
        <p:nvSpPr>
          <p:cNvPr id="8" name="Shape 6"/>
          <p:cNvSpPr/>
          <p:nvPr/>
        </p:nvSpPr>
        <p:spPr>
          <a:xfrm>
            <a:off x="4709160" y="822960"/>
            <a:ext cx="4206240" cy="1234440"/>
          </a:xfrm>
          <a:prstGeom prst="roundRect">
            <a:avLst>
              <a:gd name="adj" fmla="val 8889"/>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9" name="Shape 7"/>
          <p:cNvSpPr/>
          <p:nvPr/>
        </p:nvSpPr>
        <p:spPr>
          <a:xfrm>
            <a:off x="4818888" y="1097280"/>
            <a:ext cx="548640" cy="548640"/>
          </a:xfrm>
          <a:prstGeom prst="roundRect">
            <a:avLst>
              <a:gd name="adj" fmla="val 13333"/>
            </a:avLst>
          </a:prstGeom>
          <a:solidFill>
            <a:srgbClr val="0077B6">
              <a:alpha val="85000"/>
            </a:srgbClr>
          </a:solidFill>
          <a:ln/>
        </p:spPr>
        <p:txBody>
          <a:bodyPr/>
          <a:lstStyle/>
          <a:p>
            <a:endParaRPr lang="en-IN"/>
          </a:p>
        </p:txBody>
      </p:sp>
      <p:sp>
        <p:nvSpPr>
          <p:cNvPr id="10" name="Text 8"/>
          <p:cNvSpPr/>
          <p:nvPr/>
        </p:nvSpPr>
        <p:spPr>
          <a:xfrm>
            <a:off x="4818888" y="109728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1" name="Text 9"/>
          <p:cNvSpPr/>
          <p:nvPr/>
        </p:nvSpPr>
        <p:spPr>
          <a:xfrm>
            <a:off x="5486400" y="914400"/>
            <a:ext cx="3291840" cy="347472"/>
          </a:xfrm>
          <a:prstGeom prst="rect">
            <a:avLst/>
          </a:prstGeom>
          <a:noFill/>
          <a:ln/>
        </p:spPr>
        <p:txBody>
          <a:bodyPr wrap="square" lIns="0" tIns="0" rIns="0" bIns="0" rtlCol="0" anchor="ctr"/>
          <a:lstStyle/>
          <a:p>
            <a:pPr marL="0" indent="0">
              <a:buNone/>
            </a:pPr>
            <a:r>
              <a:rPr lang="en-US" sz="1200" b="1" dirty="0">
                <a:solidFill>
                  <a:srgbClr val="0D1B2A"/>
                </a:solidFill>
              </a:rPr>
              <a:t>OIDC / IRSA</a:t>
            </a:r>
            <a:endParaRPr lang="en-US" sz="1200" dirty="0"/>
          </a:p>
        </p:txBody>
      </p:sp>
      <p:sp>
        <p:nvSpPr>
          <p:cNvPr id="12" name="Text 10"/>
          <p:cNvSpPr/>
          <p:nvPr/>
        </p:nvSpPr>
        <p:spPr>
          <a:xfrm>
            <a:off x="5486400" y="1298448"/>
            <a:ext cx="3291840" cy="640080"/>
          </a:xfrm>
          <a:prstGeom prst="rect">
            <a:avLst/>
          </a:prstGeom>
          <a:noFill/>
          <a:ln/>
        </p:spPr>
        <p:txBody>
          <a:bodyPr wrap="square" lIns="0" tIns="0" rIns="0" bIns="0" rtlCol="0" anchor="ctr"/>
          <a:lstStyle/>
          <a:p>
            <a:pPr marL="0" indent="0">
              <a:buNone/>
            </a:pPr>
            <a:r>
              <a:rPr lang="en-US" sz="1050" dirty="0">
                <a:solidFill>
                  <a:srgbClr val="4A6080"/>
                </a:solidFill>
              </a:rPr>
              <a:t>EKS pods assume AWS IAM roles via IRSA — pod identity without node-level credentials.</a:t>
            </a:r>
            <a:endParaRPr lang="en-US" sz="1050" dirty="0"/>
          </a:p>
        </p:txBody>
      </p:sp>
      <p:sp>
        <p:nvSpPr>
          <p:cNvPr id="13" name="Shape 11"/>
          <p:cNvSpPr/>
          <p:nvPr/>
        </p:nvSpPr>
        <p:spPr>
          <a:xfrm>
            <a:off x="274320" y="2194560"/>
            <a:ext cx="4206240" cy="1234440"/>
          </a:xfrm>
          <a:prstGeom prst="roundRect">
            <a:avLst>
              <a:gd name="adj" fmla="val 8889"/>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14" name="Shape 12"/>
          <p:cNvSpPr/>
          <p:nvPr/>
        </p:nvSpPr>
        <p:spPr>
          <a:xfrm>
            <a:off x="384048" y="2468880"/>
            <a:ext cx="548640" cy="548640"/>
          </a:xfrm>
          <a:prstGeom prst="roundRect">
            <a:avLst>
              <a:gd name="adj" fmla="val 13333"/>
            </a:avLst>
          </a:prstGeom>
          <a:solidFill>
            <a:srgbClr val="7B2FBE">
              <a:alpha val="85000"/>
            </a:srgbClr>
          </a:solidFill>
          <a:ln/>
        </p:spPr>
        <p:txBody>
          <a:bodyPr/>
          <a:lstStyle/>
          <a:p>
            <a:endParaRPr lang="en-IN"/>
          </a:p>
        </p:txBody>
      </p:sp>
      <p:sp>
        <p:nvSpPr>
          <p:cNvPr id="15" name="Text 13"/>
          <p:cNvSpPr/>
          <p:nvPr/>
        </p:nvSpPr>
        <p:spPr>
          <a:xfrm>
            <a:off x="384048" y="246888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6" name="Text 14"/>
          <p:cNvSpPr/>
          <p:nvPr/>
        </p:nvSpPr>
        <p:spPr>
          <a:xfrm>
            <a:off x="1051560" y="2286000"/>
            <a:ext cx="3291840" cy="347472"/>
          </a:xfrm>
          <a:prstGeom prst="rect">
            <a:avLst/>
          </a:prstGeom>
          <a:noFill/>
          <a:ln/>
        </p:spPr>
        <p:txBody>
          <a:bodyPr wrap="square" lIns="0" tIns="0" rIns="0" bIns="0" rtlCol="0" anchor="ctr"/>
          <a:lstStyle/>
          <a:p>
            <a:pPr marL="0" indent="0">
              <a:buNone/>
            </a:pPr>
            <a:r>
              <a:rPr lang="en-US" sz="1200" b="1" dirty="0">
                <a:solidFill>
                  <a:srgbClr val="0D1B2A"/>
                </a:solidFill>
              </a:rPr>
              <a:t>Secrets Manager + External Secrets</a:t>
            </a:r>
            <a:endParaRPr lang="en-US" sz="1200" dirty="0"/>
          </a:p>
        </p:txBody>
      </p:sp>
      <p:sp>
        <p:nvSpPr>
          <p:cNvPr id="17" name="Text 15"/>
          <p:cNvSpPr/>
          <p:nvPr/>
        </p:nvSpPr>
        <p:spPr>
          <a:xfrm>
            <a:off x="1051560" y="2670048"/>
            <a:ext cx="3291840" cy="640080"/>
          </a:xfrm>
          <a:prstGeom prst="rect">
            <a:avLst/>
          </a:prstGeom>
          <a:noFill/>
          <a:ln/>
        </p:spPr>
        <p:txBody>
          <a:bodyPr wrap="square" lIns="0" tIns="0" rIns="0" bIns="0" rtlCol="0" anchor="ctr"/>
          <a:lstStyle/>
          <a:p>
            <a:pPr marL="0" indent="0">
              <a:buNone/>
            </a:pPr>
            <a:r>
              <a:rPr lang="en-US" sz="1050" dirty="0">
                <a:solidFill>
                  <a:srgbClr val="4A6080"/>
                </a:solidFill>
              </a:rPr>
              <a:t>All secrets live in AWS Secrets Manager. External Secrets Operator syncs to K8s Secrets.</a:t>
            </a:r>
            <a:endParaRPr lang="en-US" sz="1050" dirty="0"/>
          </a:p>
        </p:txBody>
      </p:sp>
      <p:sp>
        <p:nvSpPr>
          <p:cNvPr id="18" name="Shape 16"/>
          <p:cNvSpPr/>
          <p:nvPr/>
        </p:nvSpPr>
        <p:spPr>
          <a:xfrm>
            <a:off x="4709160" y="2194560"/>
            <a:ext cx="4206240" cy="1234440"/>
          </a:xfrm>
          <a:prstGeom prst="roundRect">
            <a:avLst>
              <a:gd name="adj" fmla="val 8889"/>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19" name="Shape 17"/>
          <p:cNvSpPr/>
          <p:nvPr/>
        </p:nvSpPr>
        <p:spPr>
          <a:xfrm>
            <a:off x="4818888" y="2468880"/>
            <a:ext cx="548640" cy="548640"/>
          </a:xfrm>
          <a:prstGeom prst="roundRect">
            <a:avLst>
              <a:gd name="adj" fmla="val 13333"/>
            </a:avLst>
          </a:prstGeom>
          <a:solidFill>
            <a:srgbClr val="BE2F6B">
              <a:alpha val="85000"/>
            </a:srgbClr>
          </a:solidFill>
          <a:ln/>
        </p:spPr>
        <p:txBody>
          <a:bodyPr/>
          <a:lstStyle/>
          <a:p>
            <a:endParaRPr lang="en-IN"/>
          </a:p>
        </p:txBody>
      </p:sp>
      <p:sp>
        <p:nvSpPr>
          <p:cNvPr id="20" name="Text 18"/>
          <p:cNvSpPr/>
          <p:nvPr/>
        </p:nvSpPr>
        <p:spPr>
          <a:xfrm>
            <a:off x="4818888" y="246888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1" name="Text 19"/>
          <p:cNvSpPr/>
          <p:nvPr/>
        </p:nvSpPr>
        <p:spPr>
          <a:xfrm>
            <a:off x="5486400" y="2286000"/>
            <a:ext cx="3291840" cy="347472"/>
          </a:xfrm>
          <a:prstGeom prst="rect">
            <a:avLst/>
          </a:prstGeom>
          <a:noFill/>
          <a:ln/>
        </p:spPr>
        <p:txBody>
          <a:bodyPr wrap="square" lIns="0" tIns="0" rIns="0" bIns="0" rtlCol="0" anchor="ctr"/>
          <a:lstStyle/>
          <a:p>
            <a:pPr marL="0" indent="0">
              <a:buNone/>
            </a:pPr>
            <a:r>
              <a:rPr lang="en-US" sz="1200" b="1" dirty="0">
                <a:solidFill>
                  <a:srgbClr val="0D1B2A"/>
                </a:solidFill>
              </a:rPr>
              <a:t>Private Subnets</a:t>
            </a:r>
            <a:endParaRPr lang="en-US" sz="1200" dirty="0"/>
          </a:p>
        </p:txBody>
      </p:sp>
      <p:sp>
        <p:nvSpPr>
          <p:cNvPr id="22" name="Text 20"/>
          <p:cNvSpPr/>
          <p:nvPr/>
        </p:nvSpPr>
        <p:spPr>
          <a:xfrm>
            <a:off x="5486400" y="2670048"/>
            <a:ext cx="3291840" cy="640080"/>
          </a:xfrm>
          <a:prstGeom prst="rect">
            <a:avLst/>
          </a:prstGeom>
          <a:noFill/>
          <a:ln/>
        </p:spPr>
        <p:txBody>
          <a:bodyPr wrap="square" lIns="0" tIns="0" rIns="0" bIns="0" rtlCol="0" anchor="ctr"/>
          <a:lstStyle/>
          <a:p>
            <a:pPr marL="0" indent="0">
              <a:buNone/>
            </a:pPr>
            <a:r>
              <a:rPr lang="en-US" sz="1050" dirty="0">
                <a:solidFill>
                  <a:srgbClr val="4A6080"/>
                </a:solidFill>
              </a:rPr>
              <a:t>RDS is fully private. EKS worker nodes in private subnets. ALB in public subnets only.</a:t>
            </a:r>
            <a:endParaRPr lang="en-US" sz="1050" dirty="0"/>
          </a:p>
        </p:txBody>
      </p:sp>
      <p:sp>
        <p:nvSpPr>
          <p:cNvPr id="23" name="Shape 21"/>
          <p:cNvSpPr/>
          <p:nvPr/>
        </p:nvSpPr>
        <p:spPr>
          <a:xfrm>
            <a:off x="274320" y="3566160"/>
            <a:ext cx="4206240" cy="1234440"/>
          </a:xfrm>
          <a:prstGeom prst="roundRect">
            <a:avLst>
              <a:gd name="adj" fmla="val 8889"/>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24" name="Shape 22"/>
          <p:cNvSpPr/>
          <p:nvPr/>
        </p:nvSpPr>
        <p:spPr>
          <a:xfrm>
            <a:off x="384048" y="3840480"/>
            <a:ext cx="548640" cy="548640"/>
          </a:xfrm>
          <a:prstGeom prst="roundRect">
            <a:avLst>
              <a:gd name="adj" fmla="val 13333"/>
            </a:avLst>
          </a:prstGeom>
          <a:solidFill>
            <a:srgbClr val="F4A261">
              <a:alpha val="85000"/>
            </a:srgbClr>
          </a:solidFill>
          <a:ln/>
        </p:spPr>
        <p:txBody>
          <a:bodyPr/>
          <a:lstStyle/>
          <a:p>
            <a:endParaRPr lang="en-IN"/>
          </a:p>
        </p:txBody>
      </p:sp>
      <p:sp>
        <p:nvSpPr>
          <p:cNvPr id="25" name="Text 23"/>
          <p:cNvSpPr/>
          <p:nvPr/>
        </p:nvSpPr>
        <p:spPr>
          <a:xfrm>
            <a:off x="384048" y="384048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6" name="Text 24"/>
          <p:cNvSpPr/>
          <p:nvPr/>
        </p:nvSpPr>
        <p:spPr>
          <a:xfrm>
            <a:off x="1051560" y="3657600"/>
            <a:ext cx="3291840" cy="347472"/>
          </a:xfrm>
          <a:prstGeom prst="rect">
            <a:avLst/>
          </a:prstGeom>
          <a:noFill/>
          <a:ln/>
        </p:spPr>
        <p:txBody>
          <a:bodyPr wrap="square" lIns="0" tIns="0" rIns="0" bIns="0" rtlCol="0" anchor="ctr"/>
          <a:lstStyle/>
          <a:p>
            <a:pPr marL="0" indent="0">
              <a:buNone/>
            </a:pPr>
            <a:r>
              <a:rPr lang="en-US" sz="1200" b="1" dirty="0">
                <a:solidFill>
                  <a:srgbClr val="0D1B2A"/>
                </a:solidFill>
              </a:rPr>
              <a:t>ECR Image Scanning</a:t>
            </a:r>
            <a:endParaRPr lang="en-US" sz="1200" dirty="0"/>
          </a:p>
        </p:txBody>
      </p:sp>
      <p:sp>
        <p:nvSpPr>
          <p:cNvPr id="27" name="Text 25"/>
          <p:cNvSpPr/>
          <p:nvPr/>
        </p:nvSpPr>
        <p:spPr>
          <a:xfrm>
            <a:off x="1051560" y="4041648"/>
            <a:ext cx="3291840" cy="640080"/>
          </a:xfrm>
          <a:prstGeom prst="rect">
            <a:avLst/>
          </a:prstGeom>
          <a:noFill/>
          <a:ln/>
        </p:spPr>
        <p:txBody>
          <a:bodyPr wrap="square" lIns="0" tIns="0" rIns="0" bIns="0" rtlCol="0" anchor="ctr"/>
          <a:lstStyle/>
          <a:p>
            <a:pPr marL="0" indent="0">
              <a:buNone/>
            </a:pPr>
            <a:r>
              <a:rPr lang="en-US" sz="1050" dirty="0">
                <a:solidFill>
                  <a:srgbClr val="4A6080"/>
                </a:solidFill>
              </a:rPr>
              <a:t>ECR vulnerability scanning enabled. Trivy in CI pipeline also scans before push.</a:t>
            </a:r>
            <a:endParaRPr lang="en-US" sz="1050" dirty="0"/>
          </a:p>
        </p:txBody>
      </p:sp>
      <p:sp>
        <p:nvSpPr>
          <p:cNvPr id="28" name="Shape 26"/>
          <p:cNvSpPr/>
          <p:nvPr/>
        </p:nvSpPr>
        <p:spPr>
          <a:xfrm>
            <a:off x="4709160" y="3566160"/>
            <a:ext cx="4206240" cy="1234440"/>
          </a:xfrm>
          <a:prstGeom prst="roundRect">
            <a:avLst>
              <a:gd name="adj" fmla="val 8889"/>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29" name="Shape 27"/>
          <p:cNvSpPr/>
          <p:nvPr/>
        </p:nvSpPr>
        <p:spPr>
          <a:xfrm>
            <a:off x="4818888" y="3840480"/>
            <a:ext cx="548640" cy="548640"/>
          </a:xfrm>
          <a:prstGeom prst="roundRect">
            <a:avLst>
              <a:gd name="adj" fmla="val 13333"/>
            </a:avLst>
          </a:prstGeom>
          <a:solidFill>
            <a:srgbClr val="0077B6">
              <a:alpha val="85000"/>
            </a:srgbClr>
          </a:solidFill>
          <a:ln/>
        </p:spPr>
        <p:txBody>
          <a:bodyPr/>
          <a:lstStyle/>
          <a:p>
            <a:endParaRPr lang="en-IN"/>
          </a:p>
        </p:txBody>
      </p:sp>
      <p:sp>
        <p:nvSpPr>
          <p:cNvPr id="30" name="Text 28"/>
          <p:cNvSpPr/>
          <p:nvPr/>
        </p:nvSpPr>
        <p:spPr>
          <a:xfrm>
            <a:off x="4818888" y="384048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31" name="Text 29"/>
          <p:cNvSpPr/>
          <p:nvPr/>
        </p:nvSpPr>
        <p:spPr>
          <a:xfrm>
            <a:off x="5486400" y="3657600"/>
            <a:ext cx="3291840" cy="347472"/>
          </a:xfrm>
          <a:prstGeom prst="rect">
            <a:avLst/>
          </a:prstGeom>
          <a:noFill/>
          <a:ln/>
        </p:spPr>
        <p:txBody>
          <a:bodyPr wrap="square" lIns="0" tIns="0" rIns="0" bIns="0" rtlCol="0" anchor="ctr"/>
          <a:lstStyle/>
          <a:p>
            <a:pPr marL="0" indent="0">
              <a:buNone/>
            </a:pPr>
            <a:r>
              <a:rPr lang="en-US" sz="1200" b="1" dirty="0">
                <a:solidFill>
                  <a:srgbClr val="0D1B2A"/>
                </a:solidFill>
              </a:rPr>
              <a:t>Terraform State Encryption</a:t>
            </a:r>
            <a:endParaRPr lang="en-US" sz="1200" dirty="0"/>
          </a:p>
        </p:txBody>
      </p:sp>
      <p:sp>
        <p:nvSpPr>
          <p:cNvPr id="32" name="Text 30"/>
          <p:cNvSpPr/>
          <p:nvPr/>
        </p:nvSpPr>
        <p:spPr>
          <a:xfrm>
            <a:off x="5486400" y="4041648"/>
            <a:ext cx="3291840" cy="640080"/>
          </a:xfrm>
          <a:prstGeom prst="rect">
            <a:avLst/>
          </a:prstGeom>
          <a:noFill/>
          <a:ln/>
        </p:spPr>
        <p:txBody>
          <a:bodyPr wrap="square" lIns="0" tIns="0" rIns="0" bIns="0" rtlCol="0" anchor="ctr"/>
          <a:lstStyle/>
          <a:p>
            <a:pPr marL="0" indent="0">
              <a:buNone/>
            </a:pPr>
            <a:r>
              <a:rPr lang="en-US" sz="1050" dirty="0">
                <a:solidFill>
                  <a:srgbClr val="4A6080"/>
                </a:solidFill>
              </a:rPr>
              <a:t>S3 state bucket is encrypted. DynamoDB state locking prevents concurrent modifications.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109728"/>
            <a:ext cx="8229600" cy="530352"/>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Monitoring &amp; Reliability</a:t>
            </a:r>
            <a:endParaRPr lang="en-US" sz="3200" dirty="0"/>
          </a:p>
        </p:txBody>
      </p:sp>
      <p:sp>
        <p:nvSpPr>
          <p:cNvPr id="3" name="Shape 1"/>
          <p:cNvSpPr/>
          <p:nvPr/>
        </p:nvSpPr>
        <p:spPr>
          <a:xfrm>
            <a:off x="274320" y="777240"/>
            <a:ext cx="4114800" cy="4023360"/>
          </a:xfrm>
          <a:prstGeom prst="roundRect">
            <a:avLst>
              <a:gd name="adj" fmla="val 2727"/>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4" name="Text 2"/>
          <p:cNvSpPr/>
          <p:nvPr/>
        </p:nvSpPr>
        <p:spPr>
          <a:xfrm>
            <a:off x="457200" y="841248"/>
            <a:ext cx="3749040" cy="347472"/>
          </a:xfrm>
          <a:prstGeom prst="rect">
            <a:avLst/>
          </a:prstGeom>
          <a:noFill/>
          <a:ln/>
        </p:spPr>
        <p:txBody>
          <a:bodyPr wrap="square" lIns="0" tIns="0" rIns="0" bIns="0" rtlCol="0" anchor="ctr"/>
          <a:lstStyle/>
          <a:p>
            <a:pPr marL="0" indent="0">
              <a:buNone/>
            </a:pPr>
            <a:r>
              <a:rPr lang="en-US" sz="1300" b="1" dirty="0">
                <a:solidFill>
                  <a:srgbClr val="F4A261"/>
                </a:solidFill>
              </a:rPr>
              <a:t>☁  CloudWatch Dashboard &amp; Alarms</a:t>
            </a:r>
            <a:endParaRPr lang="en-US" sz="1300" dirty="0"/>
          </a:p>
        </p:txBody>
      </p:sp>
      <p:sp>
        <p:nvSpPr>
          <p:cNvPr id="5" name="Shape 3"/>
          <p:cNvSpPr/>
          <p:nvPr/>
        </p:nvSpPr>
        <p:spPr>
          <a:xfrm>
            <a:off x="457200" y="1261872"/>
            <a:ext cx="228600" cy="228600"/>
          </a:xfrm>
          <a:prstGeom prst="roundRect">
            <a:avLst>
              <a:gd name="adj" fmla="val 16000"/>
            </a:avLst>
          </a:prstGeom>
          <a:solidFill>
            <a:srgbClr val="F4A261"/>
          </a:solidFill>
          <a:ln/>
        </p:spPr>
        <p:txBody>
          <a:bodyPr/>
          <a:lstStyle/>
          <a:p>
            <a:endParaRPr lang="en-IN"/>
          </a:p>
        </p:txBody>
      </p:sp>
      <p:sp>
        <p:nvSpPr>
          <p:cNvPr id="6" name="Text 4"/>
          <p:cNvSpPr/>
          <p:nvPr/>
        </p:nvSpPr>
        <p:spPr>
          <a:xfrm>
            <a:off x="777240" y="1261872"/>
            <a:ext cx="3474720" cy="320040"/>
          </a:xfrm>
          <a:prstGeom prst="rect">
            <a:avLst/>
          </a:prstGeom>
          <a:noFill/>
          <a:ln/>
        </p:spPr>
        <p:txBody>
          <a:bodyPr wrap="square" lIns="0" tIns="0" rIns="0" bIns="0" rtlCol="0" anchor="ctr"/>
          <a:lstStyle/>
          <a:p>
            <a:pPr marL="0" indent="0">
              <a:buNone/>
            </a:pPr>
            <a:r>
              <a:rPr lang="en-US" sz="1100" dirty="0">
                <a:solidFill>
                  <a:srgbClr val="AACCEE"/>
                </a:solidFill>
              </a:rPr>
              <a:t>ALB Request Count &amp; Latency</a:t>
            </a:r>
            <a:endParaRPr lang="en-US" sz="1100" dirty="0"/>
          </a:p>
        </p:txBody>
      </p:sp>
      <p:sp>
        <p:nvSpPr>
          <p:cNvPr id="7" name="Shape 5"/>
          <p:cNvSpPr/>
          <p:nvPr/>
        </p:nvSpPr>
        <p:spPr>
          <a:xfrm>
            <a:off x="457200" y="1655064"/>
            <a:ext cx="228600" cy="228600"/>
          </a:xfrm>
          <a:prstGeom prst="roundRect">
            <a:avLst>
              <a:gd name="adj" fmla="val 16000"/>
            </a:avLst>
          </a:prstGeom>
          <a:solidFill>
            <a:srgbClr val="F4A261"/>
          </a:solidFill>
          <a:ln/>
        </p:spPr>
        <p:txBody>
          <a:bodyPr/>
          <a:lstStyle/>
          <a:p>
            <a:endParaRPr lang="en-IN"/>
          </a:p>
        </p:txBody>
      </p:sp>
      <p:sp>
        <p:nvSpPr>
          <p:cNvPr id="8" name="Text 6"/>
          <p:cNvSpPr/>
          <p:nvPr/>
        </p:nvSpPr>
        <p:spPr>
          <a:xfrm>
            <a:off x="777240" y="1655064"/>
            <a:ext cx="3474720" cy="320040"/>
          </a:xfrm>
          <a:prstGeom prst="rect">
            <a:avLst/>
          </a:prstGeom>
          <a:noFill/>
          <a:ln/>
        </p:spPr>
        <p:txBody>
          <a:bodyPr wrap="square" lIns="0" tIns="0" rIns="0" bIns="0" rtlCol="0" anchor="ctr"/>
          <a:lstStyle/>
          <a:p>
            <a:pPr marL="0" indent="0">
              <a:buNone/>
            </a:pPr>
            <a:r>
              <a:rPr lang="en-US" sz="1100" dirty="0">
                <a:solidFill>
                  <a:srgbClr val="AACCEE"/>
                </a:solidFill>
              </a:rPr>
              <a:t>ALB 5XX Error Rate — alarm</a:t>
            </a:r>
            <a:endParaRPr lang="en-US" sz="1100" dirty="0"/>
          </a:p>
        </p:txBody>
      </p:sp>
      <p:sp>
        <p:nvSpPr>
          <p:cNvPr id="9" name="Shape 7"/>
          <p:cNvSpPr/>
          <p:nvPr/>
        </p:nvSpPr>
        <p:spPr>
          <a:xfrm>
            <a:off x="457200" y="2048256"/>
            <a:ext cx="228600" cy="228600"/>
          </a:xfrm>
          <a:prstGeom prst="roundRect">
            <a:avLst>
              <a:gd name="adj" fmla="val 16000"/>
            </a:avLst>
          </a:prstGeom>
          <a:solidFill>
            <a:srgbClr val="F4A261"/>
          </a:solidFill>
          <a:ln/>
        </p:spPr>
        <p:txBody>
          <a:bodyPr/>
          <a:lstStyle/>
          <a:p>
            <a:endParaRPr lang="en-IN"/>
          </a:p>
        </p:txBody>
      </p:sp>
      <p:sp>
        <p:nvSpPr>
          <p:cNvPr id="10" name="Text 8"/>
          <p:cNvSpPr/>
          <p:nvPr/>
        </p:nvSpPr>
        <p:spPr>
          <a:xfrm>
            <a:off x="777240" y="2048256"/>
            <a:ext cx="3474720" cy="320040"/>
          </a:xfrm>
          <a:prstGeom prst="rect">
            <a:avLst/>
          </a:prstGeom>
          <a:noFill/>
          <a:ln/>
        </p:spPr>
        <p:txBody>
          <a:bodyPr wrap="square" lIns="0" tIns="0" rIns="0" bIns="0" rtlCol="0" anchor="ctr"/>
          <a:lstStyle/>
          <a:p>
            <a:pPr marL="0" indent="0">
              <a:buNone/>
            </a:pPr>
            <a:r>
              <a:rPr lang="en-US" sz="1100" dirty="0">
                <a:solidFill>
                  <a:srgbClr val="AACCEE"/>
                </a:solidFill>
              </a:rPr>
              <a:t>ALB High Response Time — alarm</a:t>
            </a:r>
            <a:endParaRPr lang="en-US" sz="1100" dirty="0"/>
          </a:p>
        </p:txBody>
      </p:sp>
      <p:sp>
        <p:nvSpPr>
          <p:cNvPr id="11" name="Shape 9"/>
          <p:cNvSpPr/>
          <p:nvPr/>
        </p:nvSpPr>
        <p:spPr>
          <a:xfrm>
            <a:off x="457200" y="2441448"/>
            <a:ext cx="228600" cy="228600"/>
          </a:xfrm>
          <a:prstGeom prst="roundRect">
            <a:avLst>
              <a:gd name="adj" fmla="val 16000"/>
            </a:avLst>
          </a:prstGeom>
          <a:solidFill>
            <a:srgbClr val="F4A261"/>
          </a:solidFill>
          <a:ln/>
        </p:spPr>
        <p:txBody>
          <a:bodyPr/>
          <a:lstStyle/>
          <a:p>
            <a:endParaRPr lang="en-IN"/>
          </a:p>
        </p:txBody>
      </p:sp>
      <p:sp>
        <p:nvSpPr>
          <p:cNvPr id="12" name="Text 10"/>
          <p:cNvSpPr/>
          <p:nvPr/>
        </p:nvSpPr>
        <p:spPr>
          <a:xfrm>
            <a:off x="777240" y="2441448"/>
            <a:ext cx="3474720" cy="320040"/>
          </a:xfrm>
          <a:prstGeom prst="rect">
            <a:avLst/>
          </a:prstGeom>
          <a:noFill/>
          <a:ln/>
        </p:spPr>
        <p:txBody>
          <a:bodyPr wrap="square" lIns="0" tIns="0" rIns="0" bIns="0" rtlCol="0" anchor="ctr"/>
          <a:lstStyle/>
          <a:p>
            <a:pPr marL="0" indent="0">
              <a:buNone/>
            </a:pPr>
            <a:r>
              <a:rPr lang="en-US" sz="1100" dirty="0">
                <a:solidFill>
                  <a:srgbClr val="AACCEE"/>
                </a:solidFill>
              </a:rPr>
              <a:t>EKS Node CPU &amp; Memory usage</a:t>
            </a:r>
            <a:endParaRPr lang="en-US" sz="1100" dirty="0"/>
          </a:p>
        </p:txBody>
      </p:sp>
      <p:sp>
        <p:nvSpPr>
          <p:cNvPr id="13" name="Shape 11"/>
          <p:cNvSpPr/>
          <p:nvPr/>
        </p:nvSpPr>
        <p:spPr>
          <a:xfrm>
            <a:off x="457200" y="2834640"/>
            <a:ext cx="228600" cy="228600"/>
          </a:xfrm>
          <a:prstGeom prst="roundRect">
            <a:avLst>
              <a:gd name="adj" fmla="val 16000"/>
            </a:avLst>
          </a:prstGeom>
          <a:solidFill>
            <a:srgbClr val="F4A261"/>
          </a:solidFill>
          <a:ln/>
        </p:spPr>
        <p:txBody>
          <a:bodyPr/>
          <a:lstStyle/>
          <a:p>
            <a:endParaRPr lang="en-IN"/>
          </a:p>
        </p:txBody>
      </p:sp>
      <p:sp>
        <p:nvSpPr>
          <p:cNvPr id="14" name="Text 12"/>
          <p:cNvSpPr/>
          <p:nvPr/>
        </p:nvSpPr>
        <p:spPr>
          <a:xfrm>
            <a:off x="777240" y="2834640"/>
            <a:ext cx="3474720" cy="320040"/>
          </a:xfrm>
          <a:prstGeom prst="rect">
            <a:avLst/>
          </a:prstGeom>
          <a:noFill/>
          <a:ln/>
        </p:spPr>
        <p:txBody>
          <a:bodyPr wrap="square" lIns="0" tIns="0" rIns="0" bIns="0" rtlCol="0" anchor="ctr"/>
          <a:lstStyle/>
          <a:p>
            <a:pPr marL="0" indent="0">
              <a:buNone/>
            </a:pPr>
            <a:r>
              <a:rPr lang="en-US" sz="1100" dirty="0">
                <a:solidFill>
                  <a:srgbClr val="AACCEE"/>
                </a:solidFill>
              </a:rPr>
              <a:t>RDS CPU Utilization — alarm</a:t>
            </a:r>
            <a:endParaRPr lang="en-US" sz="1100" dirty="0"/>
          </a:p>
        </p:txBody>
      </p:sp>
      <p:sp>
        <p:nvSpPr>
          <p:cNvPr id="15" name="Shape 13"/>
          <p:cNvSpPr/>
          <p:nvPr/>
        </p:nvSpPr>
        <p:spPr>
          <a:xfrm>
            <a:off x="457200" y="3227832"/>
            <a:ext cx="228600" cy="228600"/>
          </a:xfrm>
          <a:prstGeom prst="roundRect">
            <a:avLst>
              <a:gd name="adj" fmla="val 16000"/>
            </a:avLst>
          </a:prstGeom>
          <a:solidFill>
            <a:srgbClr val="F4A261"/>
          </a:solidFill>
          <a:ln/>
        </p:spPr>
        <p:txBody>
          <a:bodyPr/>
          <a:lstStyle/>
          <a:p>
            <a:endParaRPr lang="en-IN"/>
          </a:p>
        </p:txBody>
      </p:sp>
      <p:sp>
        <p:nvSpPr>
          <p:cNvPr id="16" name="Text 14"/>
          <p:cNvSpPr/>
          <p:nvPr/>
        </p:nvSpPr>
        <p:spPr>
          <a:xfrm>
            <a:off x="777240" y="3227832"/>
            <a:ext cx="3474720" cy="320040"/>
          </a:xfrm>
          <a:prstGeom prst="rect">
            <a:avLst/>
          </a:prstGeom>
          <a:noFill/>
          <a:ln/>
        </p:spPr>
        <p:txBody>
          <a:bodyPr wrap="square" lIns="0" tIns="0" rIns="0" bIns="0" rtlCol="0" anchor="ctr"/>
          <a:lstStyle/>
          <a:p>
            <a:pPr marL="0" indent="0">
              <a:buNone/>
            </a:pPr>
            <a:r>
              <a:rPr lang="en-US" sz="1100" dirty="0">
                <a:solidFill>
                  <a:srgbClr val="AACCEE"/>
                </a:solidFill>
              </a:rPr>
              <a:t>RDS Storage Space — alarm</a:t>
            </a:r>
            <a:endParaRPr lang="en-US" sz="1100" dirty="0"/>
          </a:p>
        </p:txBody>
      </p:sp>
      <p:sp>
        <p:nvSpPr>
          <p:cNvPr id="17" name="Shape 15"/>
          <p:cNvSpPr/>
          <p:nvPr/>
        </p:nvSpPr>
        <p:spPr>
          <a:xfrm>
            <a:off x="457200" y="3621024"/>
            <a:ext cx="228600" cy="228600"/>
          </a:xfrm>
          <a:prstGeom prst="roundRect">
            <a:avLst>
              <a:gd name="adj" fmla="val 16000"/>
            </a:avLst>
          </a:prstGeom>
          <a:solidFill>
            <a:srgbClr val="F4A261"/>
          </a:solidFill>
          <a:ln/>
        </p:spPr>
        <p:txBody>
          <a:bodyPr/>
          <a:lstStyle/>
          <a:p>
            <a:endParaRPr lang="en-IN"/>
          </a:p>
        </p:txBody>
      </p:sp>
      <p:sp>
        <p:nvSpPr>
          <p:cNvPr id="18" name="Text 16"/>
          <p:cNvSpPr/>
          <p:nvPr/>
        </p:nvSpPr>
        <p:spPr>
          <a:xfrm>
            <a:off x="777240" y="3621024"/>
            <a:ext cx="3474720" cy="320040"/>
          </a:xfrm>
          <a:prstGeom prst="rect">
            <a:avLst/>
          </a:prstGeom>
          <a:noFill/>
          <a:ln/>
        </p:spPr>
        <p:txBody>
          <a:bodyPr wrap="square" lIns="0" tIns="0" rIns="0" bIns="0" rtlCol="0" anchor="ctr"/>
          <a:lstStyle/>
          <a:p>
            <a:pPr marL="0" indent="0">
              <a:buNone/>
            </a:pPr>
            <a:r>
              <a:rPr lang="en-US" sz="1100" dirty="0">
                <a:solidFill>
                  <a:srgbClr val="AACCEE"/>
                </a:solidFill>
              </a:rPr>
              <a:t>RDS DB Connections — alarm</a:t>
            </a:r>
            <a:endParaRPr lang="en-US" sz="1100" dirty="0"/>
          </a:p>
        </p:txBody>
      </p:sp>
      <p:sp>
        <p:nvSpPr>
          <p:cNvPr id="19" name="Shape 17"/>
          <p:cNvSpPr/>
          <p:nvPr/>
        </p:nvSpPr>
        <p:spPr>
          <a:xfrm>
            <a:off x="457200" y="4014216"/>
            <a:ext cx="228600" cy="228600"/>
          </a:xfrm>
          <a:prstGeom prst="roundRect">
            <a:avLst>
              <a:gd name="adj" fmla="val 16000"/>
            </a:avLst>
          </a:prstGeom>
          <a:solidFill>
            <a:srgbClr val="F4A261"/>
          </a:solidFill>
          <a:ln/>
        </p:spPr>
        <p:txBody>
          <a:bodyPr/>
          <a:lstStyle/>
          <a:p>
            <a:endParaRPr lang="en-IN"/>
          </a:p>
        </p:txBody>
      </p:sp>
      <p:sp>
        <p:nvSpPr>
          <p:cNvPr id="20" name="Text 18"/>
          <p:cNvSpPr/>
          <p:nvPr/>
        </p:nvSpPr>
        <p:spPr>
          <a:xfrm>
            <a:off x="777240" y="4014216"/>
            <a:ext cx="3474720" cy="320040"/>
          </a:xfrm>
          <a:prstGeom prst="rect">
            <a:avLst/>
          </a:prstGeom>
          <a:noFill/>
          <a:ln/>
        </p:spPr>
        <p:txBody>
          <a:bodyPr wrap="square" lIns="0" tIns="0" rIns="0" bIns="0" rtlCol="0" anchor="ctr"/>
          <a:lstStyle/>
          <a:p>
            <a:pPr marL="0" indent="0">
              <a:buNone/>
            </a:pPr>
            <a:r>
              <a:rPr lang="en-US" sz="1100" dirty="0">
                <a:solidFill>
                  <a:srgbClr val="AACCEE"/>
                </a:solidFill>
              </a:rPr>
              <a:t>All alarms → SNS notification</a:t>
            </a:r>
            <a:endParaRPr lang="en-US" sz="1100" dirty="0"/>
          </a:p>
        </p:txBody>
      </p:sp>
      <p:sp>
        <p:nvSpPr>
          <p:cNvPr id="21" name="Shape 19"/>
          <p:cNvSpPr/>
          <p:nvPr/>
        </p:nvSpPr>
        <p:spPr>
          <a:xfrm>
            <a:off x="4754880" y="777240"/>
            <a:ext cx="4114800" cy="4023360"/>
          </a:xfrm>
          <a:prstGeom prst="roundRect">
            <a:avLst>
              <a:gd name="adj" fmla="val 2727"/>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22" name="Text 20"/>
          <p:cNvSpPr/>
          <p:nvPr/>
        </p:nvSpPr>
        <p:spPr>
          <a:xfrm>
            <a:off x="4937760" y="841248"/>
            <a:ext cx="3749040" cy="347472"/>
          </a:xfrm>
          <a:prstGeom prst="rect">
            <a:avLst/>
          </a:prstGeom>
          <a:noFill/>
          <a:ln/>
        </p:spPr>
        <p:txBody>
          <a:bodyPr wrap="square" lIns="0" tIns="0" rIns="0" bIns="0" rtlCol="0" anchor="ctr"/>
          <a:lstStyle/>
          <a:p>
            <a:pPr marL="0" indent="0">
              <a:buNone/>
            </a:pPr>
            <a:r>
              <a:rPr lang="en-US" sz="1300" b="1" dirty="0">
                <a:solidFill>
                  <a:srgbClr val="06D6A0"/>
                </a:solidFill>
              </a:rPr>
              <a:t>🛡  Reliability &amp; HA Design</a:t>
            </a:r>
            <a:endParaRPr lang="en-US" sz="1300" dirty="0"/>
          </a:p>
        </p:txBody>
      </p:sp>
      <p:sp>
        <p:nvSpPr>
          <p:cNvPr id="23" name="Shape 21"/>
          <p:cNvSpPr/>
          <p:nvPr/>
        </p:nvSpPr>
        <p:spPr>
          <a:xfrm>
            <a:off x="4937760" y="1261872"/>
            <a:ext cx="228600" cy="228600"/>
          </a:xfrm>
          <a:prstGeom prst="roundRect">
            <a:avLst>
              <a:gd name="adj" fmla="val 16000"/>
            </a:avLst>
          </a:prstGeom>
          <a:solidFill>
            <a:srgbClr val="06D6A0"/>
          </a:solidFill>
          <a:ln/>
        </p:spPr>
        <p:txBody>
          <a:bodyPr/>
          <a:lstStyle/>
          <a:p>
            <a:endParaRPr lang="en-IN"/>
          </a:p>
        </p:txBody>
      </p:sp>
      <p:sp>
        <p:nvSpPr>
          <p:cNvPr id="24" name="Text 22"/>
          <p:cNvSpPr/>
          <p:nvPr/>
        </p:nvSpPr>
        <p:spPr>
          <a:xfrm>
            <a:off x="5257800" y="1261872"/>
            <a:ext cx="3474720" cy="320040"/>
          </a:xfrm>
          <a:prstGeom prst="rect">
            <a:avLst/>
          </a:prstGeom>
          <a:noFill/>
          <a:ln/>
        </p:spPr>
        <p:txBody>
          <a:bodyPr wrap="square" lIns="0" tIns="0" rIns="0" bIns="0" rtlCol="0" anchor="ctr"/>
          <a:lstStyle/>
          <a:p>
            <a:pPr marL="0" indent="0">
              <a:buNone/>
            </a:pPr>
            <a:r>
              <a:rPr lang="en-US" sz="1100" dirty="0">
                <a:solidFill>
                  <a:srgbClr val="AACCEE"/>
                </a:solidFill>
              </a:rPr>
              <a:t>2 replicas per Kubernetes service</a:t>
            </a:r>
            <a:endParaRPr lang="en-US" sz="1100" dirty="0"/>
          </a:p>
        </p:txBody>
      </p:sp>
      <p:sp>
        <p:nvSpPr>
          <p:cNvPr id="25" name="Shape 23"/>
          <p:cNvSpPr/>
          <p:nvPr/>
        </p:nvSpPr>
        <p:spPr>
          <a:xfrm>
            <a:off x="4937760" y="1655064"/>
            <a:ext cx="228600" cy="228600"/>
          </a:xfrm>
          <a:prstGeom prst="roundRect">
            <a:avLst>
              <a:gd name="adj" fmla="val 16000"/>
            </a:avLst>
          </a:prstGeom>
          <a:solidFill>
            <a:srgbClr val="06D6A0"/>
          </a:solidFill>
          <a:ln/>
        </p:spPr>
        <p:txBody>
          <a:bodyPr/>
          <a:lstStyle/>
          <a:p>
            <a:endParaRPr lang="en-IN"/>
          </a:p>
        </p:txBody>
      </p:sp>
      <p:sp>
        <p:nvSpPr>
          <p:cNvPr id="26" name="Text 24"/>
          <p:cNvSpPr/>
          <p:nvPr/>
        </p:nvSpPr>
        <p:spPr>
          <a:xfrm>
            <a:off x="5257800" y="1655064"/>
            <a:ext cx="3474720" cy="320040"/>
          </a:xfrm>
          <a:prstGeom prst="rect">
            <a:avLst/>
          </a:prstGeom>
          <a:noFill/>
          <a:ln/>
        </p:spPr>
        <p:txBody>
          <a:bodyPr wrap="square" lIns="0" tIns="0" rIns="0" bIns="0" rtlCol="0" anchor="ctr"/>
          <a:lstStyle/>
          <a:p>
            <a:pPr marL="0" indent="0">
              <a:buNone/>
            </a:pPr>
            <a:r>
              <a:rPr lang="en-US" sz="1100" dirty="0">
                <a:solidFill>
                  <a:srgbClr val="AACCEE"/>
                </a:solidFill>
              </a:rPr>
              <a:t>Managed Node Group autoscaling</a:t>
            </a:r>
            <a:endParaRPr lang="en-US" sz="1100" dirty="0"/>
          </a:p>
        </p:txBody>
      </p:sp>
      <p:sp>
        <p:nvSpPr>
          <p:cNvPr id="27" name="Shape 25"/>
          <p:cNvSpPr/>
          <p:nvPr/>
        </p:nvSpPr>
        <p:spPr>
          <a:xfrm>
            <a:off x="4937760" y="2048256"/>
            <a:ext cx="228600" cy="228600"/>
          </a:xfrm>
          <a:prstGeom prst="roundRect">
            <a:avLst>
              <a:gd name="adj" fmla="val 16000"/>
            </a:avLst>
          </a:prstGeom>
          <a:solidFill>
            <a:srgbClr val="06D6A0"/>
          </a:solidFill>
          <a:ln/>
        </p:spPr>
        <p:txBody>
          <a:bodyPr/>
          <a:lstStyle/>
          <a:p>
            <a:endParaRPr lang="en-IN"/>
          </a:p>
        </p:txBody>
      </p:sp>
      <p:sp>
        <p:nvSpPr>
          <p:cNvPr id="28" name="Text 26"/>
          <p:cNvSpPr/>
          <p:nvPr/>
        </p:nvSpPr>
        <p:spPr>
          <a:xfrm>
            <a:off x="5257800" y="2048256"/>
            <a:ext cx="3474720" cy="320040"/>
          </a:xfrm>
          <a:prstGeom prst="rect">
            <a:avLst/>
          </a:prstGeom>
          <a:noFill/>
          <a:ln/>
        </p:spPr>
        <p:txBody>
          <a:bodyPr wrap="square" lIns="0" tIns="0" rIns="0" bIns="0" rtlCol="0" anchor="ctr"/>
          <a:lstStyle/>
          <a:p>
            <a:pPr marL="0" indent="0">
              <a:buNone/>
            </a:pPr>
            <a:r>
              <a:rPr lang="en-US" sz="1100" dirty="0">
                <a:solidFill>
                  <a:srgbClr val="AACCEE"/>
                </a:solidFill>
              </a:rPr>
              <a:t>Readiness &amp; liveness probes</a:t>
            </a:r>
            <a:endParaRPr lang="en-US" sz="1100" dirty="0"/>
          </a:p>
        </p:txBody>
      </p:sp>
      <p:sp>
        <p:nvSpPr>
          <p:cNvPr id="29" name="Shape 27"/>
          <p:cNvSpPr/>
          <p:nvPr/>
        </p:nvSpPr>
        <p:spPr>
          <a:xfrm>
            <a:off x="4937760" y="2441448"/>
            <a:ext cx="228600" cy="228600"/>
          </a:xfrm>
          <a:prstGeom prst="roundRect">
            <a:avLst>
              <a:gd name="adj" fmla="val 16000"/>
            </a:avLst>
          </a:prstGeom>
          <a:solidFill>
            <a:srgbClr val="06D6A0"/>
          </a:solidFill>
          <a:ln/>
        </p:spPr>
        <p:txBody>
          <a:bodyPr/>
          <a:lstStyle/>
          <a:p>
            <a:endParaRPr lang="en-IN"/>
          </a:p>
        </p:txBody>
      </p:sp>
      <p:sp>
        <p:nvSpPr>
          <p:cNvPr id="30" name="Text 28"/>
          <p:cNvSpPr/>
          <p:nvPr/>
        </p:nvSpPr>
        <p:spPr>
          <a:xfrm>
            <a:off x="5257800" y="2441448"/>
            <a:ext cx="3474720" cy="320040"/>
          </a:xfrm>
          <a:prstGeom prst="rect">
            <a:avLst/>
          </a:prstGeom>
          <a:noFill/>
          <a:ln/>
        </p:spPr>
        <p:txBody>
          <a:bodyPr wrap="square" lIns="0" tIns="0" rIns="0" bIns="0" rtlCol="0" anchor="ctr"/>
          <a:lstStyle/>
          <a:p>
            <a:pPr marL="0" indent="0">
              <a:buNone/>
            </a:pPr>
            <a:r>
              <a:rPr lang="en-US" sz="1100" dirty="0">
                <a:solidFill>
                  <a:srgbClr val="AACCEE"/>
                </a:solidFill>
              </a:rPr>
              <a:t>Rolling update deployment strategy</a:t>
            </a:r>
            <a:endParaRPr lang="en-US" sz="1100" dirty="0"/>
          </a:p>
        </p:txBody>
      </p:sp>
      <p:sp>
        <p:nvSpPr>
          <p:cNvPr id="31" name="Shape 29"/>
          <p:cNvSpPr/>
          <p:nvPr/>
        </p:nvSpPr>
        <p:spPr>
          <a:xfrm>
            <a:off x="4937760" y="2834640"/>
            <a:ext cx="228600" cy="228600"/>
          </a:xfrm>
          <a:prstGeom prst="roundRect">
            <a:avLst>
              <a:gd name="adj" fmla="val 16000"/>
            </a:avLst>
          </a:prstGeom>
          <a:solidFill>
            <a:srgbClr val="06D6A0"/>
          </a:solidFill>
          <a:ln/>
        </p:spPr>
        <p:txBody>
          <a:bodyPr/>
          <a:lstStyle/>
          <a:p>
            <a:endParaRPr lang="en-IN"/>
          </a:p>
        </p:txBody>
      </p:sp>
      <p:sp>
        <p:nvSpPr>
          <p:cNvPr id="32" name="Text 30"/>
          <p:cNvSpPr/>
          <p:nvPr/>
        </p:nvSpPr>
        <p:spPr>
          <a:xfrm>
            <a:off x="5257800" y="2834640"/>
            <a:ext cx="3474720" cy="320040"/>
          </a:xfrm>
          <a:prstGeom prst="rect">
            <a:avLst/>
          </a:prstGeom>
          <a:noFill/>
          <a:ln/>
        </p:spPr>
        <p:txBody>
          <a:bodyPr wrap="square" lIns="0" tIns="0" rIns="0" bIns="0" rtlCol="0" anchor="ctr"/>
          <a:lstStyle/>
          <a:p>
            <a:pPr marL="0" indent="0">
              <a:buNone/>
            </a:pPr>
            <a:r>
              <a:rPr lang="en-US" sz="1100" dirty="0">
                <a:solidFill>
                  <a:srgbClr val="AACCEE"/>
                </a:solidFill>
              </a:rPr>
              <a:t>RDS automated daily backups</a:t>
            </a:r>
            <a:endParaRPr lang="en-US" sz="1100" dirty="0"/>
          </a:p>
        </p:txBody>
      </p:sp>
      <p:sp>
        <p:nvSpPr>
          <p:cNvPr id="33" name="Shape 31"/>
          <p:cNvSpPr/>
          <p:nvPr/>
        </p:nvSpPr>
        <p:spPr>
          <a:xfrm>
            <a:off x="4937760" y="3227832"/>
            <a:ext cx="228600" cy="228600"/>
          </a:xfrm>
          <a:prstGeom prst="roundRect">
            <a:avLst>
              <a:gd name="adj" fmla="val 16000"/>
            </a:avLst>
          </a:prstGeom>
          <a:solidFill>
            <a:srgbClr val="06D6A0"/>
          </a:solidFill>
          <a:ln/>
        </p:spPr>
        <p:txBody>
          <a:bodyPr/>
          <a:lstStyle/>
          <a:p>
            <a:endParaRPr lang="en-IN"/>
          </a:p>
        </p:txBody>
      </p:sp>
      <p:sp>
        <p:nvSpPr>
          <p:cNvPr id="34" name="Text 32"/>
          <p:cNvSpPr/>
          <p:nvPr/>
        </p:nvSpPr>
        <p:spPr>
          <a:xfrm>
            <a:off x="5257800" y="3227832"/>
            <a:ext cx="3474720" cy="320040"/>
          </a:xfrm>
          <a:prstGeom prst="rect">
            <a:avLst/>
          </a:prstGeom>
          <a:noFill/>
          <a:ln/>
        </p:spPr>
        <p:txBody>
          <a:bodyPr wrap="square" lIns="0" tIns="0" rIns="0" bIns="0" rtlCol="0" anchor="ctr"/>
          <a:lstStyle/>
          <a:p>
            <a:pPr marL="0" indent="0">
              <a:buNone/>
            </a:pPr>
            <a:r>
              <a:rPr lang="en-US" sz="1100" dirty="0">
                <a:solidFill>
                  <a:srgbClr val="AACCEE"/>
                </a:solidFill>
              </a:rPr>
              <a:t>Multi-AZ RDS for DB failover</a:t>
            </a:r>
            <a:endParaRPr lang="en-US" sz="1100" dirty="0"/>
          </a:p>
        </p:txBody>
      </p:sp>
      <p:sp>
        <p:nvSpPr>
          <p:cNvPr id="35" name="Shape 33"/>
          <p:cNvSpPr/>
          <p:nvPr/>
        </p:nvSpPr>
        <p:spPr>
          <a:xfrm>
            <a:off x="4937760" y="3621024"/>
            <a:ext cx="228600" cy="228600"/>
          </a:xfrm>
          <a:prstGeom prst="roundRect">
            <a:avLst>
              <a:gd name="adj" fmla="val 16000"/>
            </a:avLst>
          </a:prstGeom>
          <a:solidFill>
            <a:srgbClr val="06D6A0"/>
          </a:solidFill>
          <a:ln/>
        </p:spPr>
        <p:txBody>
          <a:bodyPr/>
          <a:lstStyle/>
          <a:p>
            <a:endParaRPr lang="en-IN"/>
          </a:p>
        </p:txBody>
      </p:sp>
      <p:sp>
        <p:nvSpPr>
          <p:cNvPr id="36" name="Text 34"/>
          <p:cNvSpPr/>
          <p:nvPr/>
        </p:nvSpPr>
        <p:spPr>
          <a:xfrm>
            <a:off x="5257800" y="3621024"/>
            <a:ext cx="3474720" cy="320040"/>
          </a:xfrm>
          <a:prstGeom prst="rect">
            <a:avLst/>
          </a:prstGeom>
          <a:noFill/>
          <a:ln/>
        </p:spPr>
        <p:txBody>
          <a:bodyPr wrap="square" lIns="0" tIns="0" rIns="0" bIns="0" rtlCol="0" anchor="ctr"/>
          <a:lstStyle/>
          <a:p>
            <a:pPr marL="0" indent="0">
              <a:buNone/>
            </a:pPr>
            <a:r>
              <a:rPr lang="en-US" sz="1100" dirty="0">
                <a:solidFill>
                  <a:srgbClr val="AACCEE"/>
                </a:solidFill>
              </a:rPr>
              <a:t>ALB health checks before routing</a:t>
            </a:r>
            <a:endParaRPr lang="en-US" sz="1100" dirty="0"/>
          </a:p>
        </p:txBody>
      </p:sp>
      <p:sp>
        <p:nvSpPr>
          <p:cNvPr id="37" name="Shape 35"/>
          <p:cNvSpPr/>
          <p:nvPr/>
        </p:nvSpPr>
        <p:spPr>
          <a:xfrm>
            <a:off x="4937760" y="4014216"/>
            <a:ext cx="228600" cy="228600"/>
          </a:xfrm>
          <a:prstGeom prst="roundRect">
            <a:avLst>
              <a:gd name="adj" fmla="val 16000"/>
            </a:avLst>
          </a:prstGeom>
          <a:solidFill>
            <a:srgbClr val="06D6A0"/>
          </a:solidFill>
          <a:ln/>
        </p:spPr>
        <p:txBody>
          <a:bodyPr/>
          <a:lstStyle/>
          <a:p>
            <a:endParaRPr lang="en-IN"/>
          </a:p>
        </p:txBody>
      </p:sp>
      <p:sp>
        <p:nvSpPr>
          <p:cNvPr id="38" name="Text 36"/>
          <p:cNvSpPr/>
          <p:nvPr/>
        </p:nvSpPr>
        <p:spPr>
          <a:xfrm>
            <a:off x="5257800" y="4014216"/>
            <a:ext cx="3474720" cy="320040"/>
          </a:xfrm>
          <a:prstGeom prst="rect">
            <a:avLst/>
          </a:prstGeom>
          <a:noFill/>
          <a:ln/>
        </p:spPr>
        <p:txBody>
          <a:bodyPr wrap="square" lIns="0" tIns="0" rIns="0" bIns="0" rtlCol="0" anchor="ctr"/>
          <a:lstStyle/>
          <a:p>
            <a:pPr marL="0" indent="0">
              <a:buNone/>
            </a:pPr>
            <a:r>
              <a:rPr lang="en-US" sz="1100" dirty="0">
                <a:solidFill>
                  <a:srgbClr val="AACCEE"/>
                </a:solidFill>
              </a:rPr>
              <a:t>Disaster Recovery doc maintained</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6FF"/>
        </a:solidFill>
        <a:effectLst/>
      </p:bgPr>
    </p:bg>
    <p:spTree>
      <p:nvGrpSpPr>
        <p:cNvPr id="1" name=""/>
        <p:cNvGrpSpPr/>
        <p:nvPr/>
      </p:nvGrpSpPr>
      <p:grpSpPr>
        <a:xfrm>
          <a:off x="0" y="0"/>
          <a:ext cx="0" cy="0"/>
          <a:chOff x="0" y="0"/>
          <a:chExt cx="0" cy="0"/>
        </a:xfrm>
      </p:grpSpPr>
      <p:sp>
        <p:nvSpPr>
          <p:cNvPr id="2" name="Text 0"/>
          <p:cNvSpPr/>
          <p:nvPr/>
        </p:nvSpPr>
        <p:spPr>
          <a:xfrm>
            <a:off x="457200" y="91440"/>
            <a:ext cx="8229600" cy="530352"/>
          </a:xfrm>
          <a:prstGeom prst="rect">
            <a:avLst/>
          </a:prstGeom>
          <a:noFill/>
          <a:ln/>
        </p:spPr>
        <p:txBody>
          <a:bodyPr wrap="square" lIns="0" tIns="0" rIns="0" bIns="0" rtlCol="0" anchor="ctr"/>
          <a:lstStyle/>
          <a:p>
            <a:pPr marL="0" indent="0">
              <a:buNone/>
            </a:pPr>
            <a:r>
              <a:rPr lang="en-US" sz="3200" b="1" dirty="0">
                <a:solidFill>
                  <a:srgbClr val="0D1B2A"/>
                </a:solidFill>
                <a:latin typeface="Calibri" pitchFamily="34" charset="0"/>
                <a:ea typeface="Calibri" pitchFamily="34" charset="-122"/>
                <a:cs typeface="Calibri" pitchFamily="34" charset="-120"/>
              </a:rPr>
              <a:t>Capstone Requirement Mapping</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182880" y="685800"/>
          <a:ext cx="8778240" cy="4169664"/>
        </p:xfrm>
        <a:graphic>
          <a:graphicData uri="http://schemas.openxmlformats.org/drawingml/2006/table">
            <a:tbl>
              <a:tblPr/>
              <a:tblGrid>
                <a:gridCol w="27432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47472">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Capstone Requirement</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0D1B2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Implementation</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0D1B2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Status</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47472">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Microservices on Kubernetes</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Auth, Jobs, Screening, Interview, Gateway, Frontend as separate K8s deployments</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 Completed</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Terraform Infrastructure as Code</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Modular Terraform — VPC, EKS, RDS, Security Groups, Addons</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 Completed</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AWS EKS Deployment</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Production EKS cluster with managed node group, private subnets</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 Completed</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Container Registry — ECR</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All Docker images built and stored in AWS ECR, tagged with Git SHA</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 Completed</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Managed Cloud Service</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Amazon RDS PostgreSQL in private subnets with backups</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 Completed</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CI/CD Pipeline — GitHub Actions</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Full CI (SonarQube, Snyk, Trivy, ECR) + CD (ArgoCD GitOps)</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 Completed</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Security Scanning</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Snyk dependency scan + Trivy image scan in CI pipeline</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 Completed</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7472">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Ingress / Load Balancer</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AWS ALB Ingress Controller with HTTPS/TLS via ACM</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 Completed</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47472">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ConfigMaps and Secrets</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K8s ConfigMaps for env vars; Secrets via External Secrets Operator</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 Completed</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47472">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IAM / OIDC / IRSA</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GitHub OIDC for CI, EKS OIDC for IRSA pod identity</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 Completed</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47472">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Monitoring</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CloudWatch dashboard + alarms for ALB, EKS, RDS</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 Completed</a:t>
                      </a:r>
                      <a:endParaRPr lang="en-US" sz="1000" dirty="0">
                        <a:latin typeface="Calibri" charset="0"/>
                        <a:ea typeface="Calibri" charset="0"/>
                        <a:cs typeface="Calibri" charset="0"/>
                      </a:endParaRPr>
                    </a:p>
                  </a:txBody>
                  <a:tcPr>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109728"/>
            <a:ext cx="8229600" cy="530352"/>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Demo Flow</a:t>
            </a:r>
            <a:endParaRPr lang="en-US" sz="3600" dirty="0"/>
          </a:p>
        </p:txBody>
      </p:sp>
      <p:sp>
        <p:nvSpPr>
          <p:cNvPr id="3" name="Text 1"/>
          <p:cNvSpPr/>
          <p:nvPr/>
        </p:nvSpPr>
        <p:spPr>
          <a:xfrm>
            <a:off x="457200" y="621792"/>
            <a:ext cx="8229600" cy="320040"/>
          </a:xfrm>
          <a:prstGeom prst="rect">
            <a:avLst/>
          </a:prstGeom>
          <a:noFill/>
          <a:ln/>
        </p:spPr>
        <p:txBody>
          <a:bodyPr wrap="square" lIns="0" tIns="0" rIns="0" bIns="0" rtlCol="0" anchor="ctr"/>
          <a:lstStyle/>
          <a:p>
            <a:pPr marL="0" indent="0">
              <a:buNone/>
            </a:pPr>
            <a:r>
              <a:rPr lang="en-US" sz="1300" dirty="0">
                <a:solidFill>
                  <a:srgbClr val="AACCEE"/>
                </a:solidFill>
              </a:rPr>
              <a:t>Live evidence and walkthrough during the presentation</a:t>
            </a:r>
            <a:endParaRPr lang="en-US" sz="1300" dirty="0"/>
          </a:p>
        </p:txBody>
      </p:sp>
      <p:sp>
        <p:nvSpPr>
          <p:cNvPr id="4" name="Shape 2"/>
          <p:cNvSpPr/>
          <p:nvPr/>
        </p:nvSpPr>
        <p:spPr>
          <a:xfrm>
            <a:off x="274320" y="1051560"/>
            <a:ext cx="2743200" cy="1097280"/>
          </a:xfrm>
          <a:prstGeom prst="roundRect">
            <a:avLst>
              <a:gd name="adj" fmla="val 10000"/>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5" name="Shape 3"/>
          <p:cNvSpPr/>
          <p:nvPr/>
        </p:nvSpPr>
        <p:spPr>
          <a:xfrm>
            <a:off x="384048" y="1307592"/>
            <a:ext cx="384048" cy="384048"/>
          </a:xfrm>
          <a:prstGeom prst="roundRect">
            <a:avLst>
              <a:gd name="adj" fmla="val 14286"/>
            </a:avLst>
          </a:prstGeom>
          <a:solidFill>
            <a:srgbClr val="0077B6"/>
          </a:solidFill>
          <a:ln/>
        </p:spPr>
        <p:txBody>
          <a:bodyPr/>
          <a:lstStyle/>
          <a:p>
            <a:endParaRPr lang="en-IN"/>
          </a:p>
        </p:txBody>
      </p:sp>
      <p:sp>
        <p:nvSpPr>
          <p:cNvPr id="6" name="Text 4"/>
          <p:cNvSpPr/>
          <p:nvPr/>
        </p:nvSpPr>
        <p:spPr>
          <a:xfrm>
            <a:off x="384048" y="13075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Text 5"/>
          <p:cNvSpPr/>
          <p:nvPr/>
        </p:nvSpPr>
        <p:spPr>
          <a:xfrm>
            <a:off x="868680" y="1143000"/>
            <a:ext cx="2057400" cy="292608"/>
          </a:xfrm>
          <a:prstGeom prst="rect">
            <a:avLst/>
          </a:prstGeom>
          <a:noFill/>
          <a:ln/>
        </p:spPr>
        <p:txBody>
          <a:bodyPr wrap="square" lIns="0" tIns="0" rIns="0" bIns="0" rtlCol="0" anchor="ctr"/>
          <a:lstStyle/>
          <a:p>
            <a:pPr marL="0" indent="0">
              <a:buNone/>
            </a:pPr>
            <a:r>
              <a:rPr lang="en-US" sz="1150" b="1" dirty="0">
                <a:solidFill>
                  <a:srgbClr val="FFFFFF"/>
                </a:solidFill>
              </a:rPr>
              <a:t>App Login</a:t>
            </a:r>
            <a:endParaRPr lang="en-US" sz="1150" dirty="0"/>
          </a:p>
        </p:txBody>
      </p:sp>
      <p:sp>
        <p:nvSpPr>
          <p:cNvPr id="8" name="Text 6"/>
          <p:cNvSpPr/>
          <p:nvPr/>
        </p:nvSpPr>
        <p:spPr>
          <a:xfrm>
            <a:off x="868680" y="1463040"/>
            <a:ext cx="2057400" cy="594360"/>
          </a:xfrm>
          <a:prstGeom prst="rect">
            <a:avLst/>
          </a:prstGeom>
          <a:noFill/>
          <a:ln/>
        </p:spPr>
        <p:txBody>
          <a:bodyPr wrap="square" lIns="0" tIns="0" rIns="0" bIns="0" rtlCol="0" anchor="ctr"/>
          <a:lstStyle/>
          <a:p>
            <a:pPr marL="0" indent="0">
              <a:buNone/>
            </a:pPr>
            <a:r>
              <a:rPr lang="en-US" sz="1000" dirty="0">
                <a:solidFill>
                  <a:srgbClr val="AACCEE"/>
                </a:solidFill>
              </a:rPr>
              <a:t>Candidate and Recruiter login / signup on the portal</a:t>
            </a:r>
            <a:endParaRPr lang="en-US" sz="1000" dirty="0"/>
          </a:p>
        </p:txBody>
      </p:sp>
      <p:sp>
        <p:nvSpPr>
          <p:cNvPr id="9" name="Shape 7"/>
          <p:cNvSpPr/>
          <p:nvPr/>
        </p:nvSpPr>
        <p:spPr>
          <a:xfrm>
            <a:off x="3154680" y="1051560"/>
            <a:ext cx="2743200" cy="1097280"/>
          </a:xfrm>
          <a:prstGeom prst="roundRect">
            <a:avLst>
              <a:gd name="adj" fmla="val 10000"/>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10" name="Shape 8"/>
          <p:cNvSpPr/>
          <p:nvPr/>
        </p:nvSpPr>
        <p:spPr>
          <a:xfrm>
            <a:off x="3264408" y="1307592"/>
            <a:ext cx="384048" cy="384048"/>
          </a:xfrm>
          <a:prstGeom prst="roundRect">
            <a:avLst>
              <a:gd name="adj" fmla="val 14286"/>
            </a:avLst>
          </a:prstGeom>
          <a:solidFill>
            <a:srgbClr val="7B2FBE"/>
          </a:solidFill>
          <a:ln/>
        </p:spPr>
        <p:txBody>
          <a:bodyPr/>
          <a:lstStyle/>
          <a:p>
            <a:endParaRPr lang="en-IN"/>
          </a:p>
        </p:txBody>
      </p:sp>
      <p:sp>
        <p:nvSpPr>
          <p:cNvPr id="11" name="Text 9"/>
          <p:cNvSpPr/>
          <p:nvPr/>
        </p:nvSpPr>
        <p:spPr>
          <a:xfrm>
            <a:off x="3264408" y="13075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2" name="Text 10"/>
          <p:cNvSpPr/>
          <p:nvPr/>
        </p:nvSpPr>
        <p:spPr>
          <a:xfrm>
            <a:off x="3749040" y="1143000"/>
            <a:ext cx="2057400" cy="292608"/>
          </a:xfrm>
          <a:prstGeom prst="rect">
            <a:avLst/>
          </a:prstGeom>
          <a:noFill/>
          <a:ln/>
        </p:spPr>
        <p:txBody>
          <a:bodyPr wrap="square" lIns="0" tIns="0" rIns="0" bIns="0" rtlCol="0" anchor="ctr"/>
          <a:lstStyle/>
          <a:p>
            <a:pPr marL="0" indent="0">
              <a:buNone/>
            </a:pPr>
            <a:r>
              <a:rPr lang="en-US" sz="1150" b="1" dirty="0">
                <a:solidFill>
                  <a:srgbClr val="FFFFFF"/>
                </a:solidFill>
              </a:rPr>
              <a:t>Recruiter Posts Job</a:t>
            </a:r>
            <a:endParaRPr lang="en-US" sz="1150" dirty="0"/>
          </a:p>
        </p:txBody>
      </p:sp>
      <p:sp>
        <p:nvSpPr>
          <p:cNvPr id="13" name="Text 11"/>
          <p:cNvSpPr/>
          <p:nvPr/>
        </p:nvSpPr>
        <p:spPr>
          <a:xfrm>
            <a:off x="3749040" y="1463040"/>
            <a:ext cx="2057400" cy="594360"/>
          </a:xfrm>
          <a:prstGeom prst="rect">
            <a:avLst/>
          </a:prstGeom>
          <a:noFill/>
          <a:ln/>
        </p:spPr>
        <p:txBody>
          <a:bodyPr wrap="square" lIns="0" tIns="0" rIns="0" bIns="0" rtlCol="0" anchor="ctr"/>
          <a:lstStyle/>
          <a:p>
            <a:pPr marL="0" indent="0">
              <a:buNone/>
            </a:pPr>
            <a:r>
              <a:rPr lang="en-US" sz="1000" dirty="0">
                <a:solidFill>
                  <a:srgbClr val="AACCEE"/>
                </a:solidFill>
              </a:rPr>
              <a:t>Create a job posting with title, description, and requirements</a:t>
            </a:r>
            <a:endParaRPr lang="en-US" sz="1000" dirty="0"/>
          </a:p>
        </p:txBody>
      </p:sp>
      <p:sp>
        <p:nvSpPr>
          <p:cNvPr id="14" name="Shape 12"/>
          <p:cNvSpPr/>
          <p:nvPr/>
        </p:nvSpPr>
        <p:spPr>
          <a:xfrm>
            <a:off x="6035040" y="1051560"/>
            <a:ext cx="2743200" cy="1097280"/>
          </a:xfrm>
          <a:prstGeom prst="roundRect">
            <a:avLst>
              <a:gd name="adj" fmla="val 10000"/>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15" name="Shape 13"/>
          <p:cNvSpPr/>
          <p:nvPr/>
        </p:nvSpPr>
        <p:spPr>
          <a:xfrm>
            <a:off x="6144768" y="1307592"/>
            <a:ext cx="384048" cy="384048"/>
          </a:xfrm>
          <a:prstGeom prst="roundRect">
            <a:avLst>
              <a:gd name="adj" fmla="val 14286"/>
            </a:avLst>
          </a:prstGeom>
          <a:solidFill>
            <a:srgbClr val="BE2F6B"/>
          </a:solidFill>
          <a:ln/>
        </p:spPr>
        <p:txBody>
          <a:bodyPr/>
          <a:lstStyle/>
          <a:p>
            <a:endParaRPr lang="en-IN"/>
          </a:p>
        </p:txBody>
      </p:sp>
      <p:sp>
        <p:nvSpPr>
          <p:cNvPr id="16" name="Text 14"/>
          <p:cNvSpPr/>
          <p:nvPr/>
        </p:nvSpPr>
        <p:spPr>
          <a:xfrm>
            <a:off x="6144768" y="13075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7" name="Text 15"/>
          <p:cNvSpPr/>
          <p:nvPr/>
        </p:nvSpPr>
        <p:spPr>
          <a:xfrm>
            <a:off x="6629400" y="1143000"/>
            <a:ext cx="2057400" cy="292608"/>
          </a:xfrm>
          <a:prstGeom prst="rect">
            <a:avLst/>
          </a:prstGeom>
          <a:noFill/>
          <a:ln/>
        </p:spPr>
        <p:txBody>
          <a:bodyPr wrap="square" lIns="0" tIns="0" rIns="0" bIns="0" rtlCol="0" anchor="ctr"/>
          <a:lstStyle/>
          <a:p>
            <a:pPr marL="0" indent="0">
              <a:buNone/>
            </a:pPr>
            <a:r>
              <a:rPr lang="en-US" sz="1150" b="1" dirty="0">
                <a:solidFill>
                  <a:srgbClr val="FFFFFF"/>
                </a:solidFill>
              </a:rPr>
              <a:t>Candidate Applies</a:t>
            </a:r>
            <a:endParaRPr lang="en-US" sz="1150" dirty="0"/>
          </a:p>
        </p:txBody>
      </p:sp>
      <p:sp>
        <p:nvSpPr>
          <p:cNvPr id="18" name="Text 16"/>
          <p:cNvSpPr/>
          <p:nvPr/>
        </p:nvSpPr>
        <p:spPr>
          <a:xfrm>
            <a:off x="6629400" y="1463040"/>
            <a:ext cx="2057400" cy="594360"/>
          </a:xfrm>
          <a:prstGeom prst="rect">
            <a:avLst/>
          </a:prstGeom>
          <a:noFill/>
          <a:ln/>
        </p:spPr>
        <p:txBody>
          <a:bodyPr wrap="square" lIns="0" tIns="0" rIns="0" bIns="0" rtlCol="0" anchor="ctr"/>
          <a:lstStyle/>
          <a:p>
            <a:pPr marL="0" indent="0">
              <a:buNone/>
            </a:pPr>
            <a:r>
              <a:rPr lang="en-US" sz="1000" dirty="0">
                <a:solidFill>
                  <a:srgbClr val="AACCEE"/>
                </a:solidFill>
              </a:rPr>
              <a:t>Upload PDF resume for the job listing</a:t>
            </a:r>
            <a:endParaRPr lang="en-US" sz="1000" dirty="0"/>
          </a:p>
        </p:txBody>
      </p:sp>
      <p:sp>
        <p:nvSpPr>
          <p:cNvPr id="19" name="Shape 17"/>
          <p:cNvSpPr/>
          <p:nvPr/>
        </p:nvSpPr>
        <p:spPr>
          <a:xfrm>
            <a:off x="274320" y="2286000"/>
            <a:ext cx="2743200" cy="1097280"/>
          </a:xfrm>
          <a:prstGeom prst="roundRect">
            <a:avLst>
              <a:gd name="adj" fmla="val 10000"/>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20" name="Shape 18"/>
          <p:cNvSpPr/>
          <p:nvPr/>
        </p:nvSpPr>
        <p:spPr>
          <a:xfrm>
            <a:off x="384048" y="2542032"/>
            <a:ext cx="384048" cy="384048"/>
          </a:xfrm>
          <a:prstGeom prst="roundRect">
            <a:avLst>
              <a:gd name="adj" fmla="val 14286"/>
            </a:avLst>
          </a:prstGeom>
          <a:solidFill>
            <a:srgbClr val="F4A261"/>
          </a:solidFill>
          <a:ln/>
        </p:spPr>
        <p:txBody>
          <a:bodyPr/>
          <a:lstStyle/>
          <a:p>
            <a:endParaRPr lang="en-IN"/>
          </a:p>
        </p:txBody>
      </p:sp>
      <p:sp>
        <p:nvSpPr>
          <p:cNvPr id="21" name="Text 19"/>
          <p:cNvSpPr/>
          <p:nvPr/>
        </p:nvSpPr>
        <p:spPr>
          <a:xfrm>
            <a:off x="384048" y="254203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2" name="Text 20"/>
          <p:cNvSpPr/>
          <p:nvPr/>
        </p:nvSpPr>
        <p:spPr>
          <a:xfrm>
            <a:off x="868680" y="2377440"/>
            <a:ext cx="2057400" cy="292608"/>
          </a:xfrm>
          <a:prstGeom prst="rect">
            <a:avLst/>
          </a:prstGeom>
          <a:noFill/>
          <a:ln/>
        </p:spPr>
        <p:txBody>
          <a:bodyPr wrap="square" lIns="0" tIns="0" rIns="0" bIns="0" rtlCol="0" anchor="ctr"/>
          <a:lstStyle/>
          <a:p>
            <a:pPr marL="0" indent="0">
              <a:buNone/>
            </a:pPr>
            <a:r>
              <a:rPr lang="en-US" sz="1150" b="1" dirty="0">
                <a:solidFill>
                  <a:srgbClr val="FFFFFF"/>
                </a:solidFill>
              </a:rPr>
              <a:t>AI Screening</a:t>
            </a:r>
            <a:endParaRPr lang="en-US" sz="1150" dirty="0"/>
          </a:p>
        </p:txBody>
      </p:sp>
      <p:sp>
        <p:nvSpPr>
          <p:cNvPr id="23" name="Text 21"/>
          <p:cNvSpPr/>
          <p:nvPr/>
        </p:nvSpPr>
        <p:spPr>
          <a:xfrm>
            <a:off x="868680" y="2697480"/>
            <a:ext cx="2057400" cy="594360"/>
          </a:xfrm>
          <a:prstGeom prst="rect">
            <a:avLst/>
          </a:prstGeom>
          <a:noFill/>
          <a:ln/>
        </p:spPr>
        <p:txBody>
          <a:bodyPr wrap="square" lIns="0" tIns="0" rIns="0" bIns="0" rtlCol="0" anchor="ctr"/>
          <a:lstStyle/>
          <a:p>
            <a:pPr marL="0" indent="0">
              <a:buNone/>
            </a:pPr>
            <a:r>
              <a:rPr lang="en-US" sz="1000" dirty="0">
                <a:solidFill>
                  <a:srgbClr val="AACCEE"/>
                </a:solidFill>
              </a:rPr>
              <a:t>Fit score generated automatically — show score on dashboard</a:t>
            </a:r>
            <a:endParaRPr lang="en-US" sz="1000" dirty="0"/>
          </a:p>
        </p:txBody>
      </p:sp>
      <p:sp>
        <p:nvSpPr>
          <p:cNvPr id="24" name="Shape 22"/>
          <p:cNvSpPr/>
          <p:nvPr/>
        </p:nvSpPr>
        <p:spPr>
          <a:xfrm>
            <a:off x="3154680" y="2286000"/>
            <a:ext cx="2743200" cy="1097280"/>
          </a:xfrm>
          <a:prstGeom prst="roundRect">
            <a:avLst>
              <a:gd name="adj" fmla="val 10000"/>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25" name="Shape 23"/>
          <p:cNvSpPr/>
          <p:nvPr/>
        </p:nvSpPr>
        <p:spPr>
          <a:xfrm>
            <a:off x="3264408" y="2542032"/>
            <a:ext cx="384048" cy="384048"/>
          </a:xfrm>
          <a:prstGeom prst="roundRect">
            <a:avLst>
              <a:gd name="adj" fmla="val 14286"/>
            </a:avLst>
          </a:prstGeom>
          <a:solidFill>
            <a:srgbClr val="06D6A0"/>
          </a:solidFill>
          <a:ln/>
        </p:spPr>
        <p:txBody>
          <a:bodyPr/>
          <a:lstStyle/>
          <a:p>
            <a:endParaRPr lang="en-IN"/>
          </a:p>
        </p:txBody>
      </p:sp>
      <p:sp>
        <p:nvSpPr>
          <p:cNvPr id="26" name="Text 24"/>
          <p:cNvSpPr/>
          <p:nvPr/>
        </p:nvSpPr>
        <p:spPr>
          <a:xfrm>
            <a:off x="3264408" y="254203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7" name="Text 25"/>
          <p:cNvSpPr/>
          <p:nvPr/>
        </p:nvSpPr>
        <p:spPr>
          <a:xfrm>
            <a:off x="3749040" y="2377440"/>
            <a:ext cx="2057400" cy="292608"/>
          </a:xfrm>
          <a:prstGeom prst="rect">
            <a:avLst/>
          </a:prstGeom>
          <a:noFill/>
          <a:ln/>
        </p:spPr>
        <p:txBody>
          <a:bodyPr wrap="square" lIns="0" tIns="0" rIns="0" bIns="0" rtlCol="0" anchor="ctr"/>
          <a:lstStyle/>
          <a:p>
            <a:pPr marL="0" indent="0">
              <a:buNone/>
            </a:pPr>
            <a:r>
              <a:rPr lang="en-US" sz="1150" b="1" dirty="0">
                <a:solidFill>
                  <a:srgbClr val="FFFFFF"/>
                </a:solidFill>
              </a:rPr>
              <a:t>Interview Invite</a:t>
            </a:r>
            <a:endParaRPr lang="en-US" sz="1150" dirty="0"/>
          </a:p>
        </p:txBody>
      </p:sp>
      <p:sp>
        <p:nvSpPr>
          <p:cNvPr id="28" name="Text 26"/>
          <p:cNvSpPr/>
          <p:nvPr/>
        </p:nvSpPr>
        <p:spPr>
          <a:xfrm>
            <a:off x="3749040" y="2697480"/>
            <a:ext cx="2057400" cy="594360"/>
          </a:xfrm>
          <a:prstGeom prst="rect">
            <a:avLst/>
          </a:prstGeom>
          <a:noFill/>
          <a:ln/>
        </p:spPr>
        <p:txBody>
          <a:bodyPr wrap="square" lIns="0" tIns="0" rIns="0" bIns="0" rtlCol="0" anchor="ctr"/>
          <a:lstStyle/>
          <a:p>
            <a:pPr marL="0" indent="0">
              <a:buNone/>
            </a:pPr>
            <a:r>
              <a:rPr lang="en-US" sz="1000" dirty="0">
                <a:solidFill>
                  <a:srgbClr val="AACCEE"/>
                </a:solidFill>
              </a:rPr>
              <a:t>Candidate above threshold receives invitation</a:t>
            </a:r>
            <a:endParaRPr lang="en-US" sz="1000" dirty="0"/>
          </a:p>
        </p:txBody>
      </p:sp>
      <p:sp>
        <p:nvSpPr>
          <p:cNvPr id="29" name="Shape 27"/>
          <p:cNvSpPr/>
          <p:nvPr/>
        </p:nvSpPr>
        <p:spPr>
          <a:xfrm>
            <a:off x="6035040" y="2286000"/>
            <a:ext cx="2743200" cy="1097280"/>
          </a:xfrm>
          <a:prstGeom prst="roundRect">
            <a:avLst>
              <a:gd name="adj" fmla="val 10000"/>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30" name="Shape 28"/>
          <p:cNvSpPr/>
          <p:nvPr/>
        </p:nvSpPr>
        <p:spPr>
          <a:xfrm>
            <a:off x="6144768" y="2542032"/>
            <a:ext cx="384048" cy="384048"/>
          </a:xfrm>
          <a:prstGeom prst="roundRect">
            <a:avLst>
              <a:gd name="adj" fmla="val 14286"/>
            </a:avLst>
          </a:prstGeom>
          <a:solidFill>
            <a:srgbClr val="0077B6"/>
          </a:solidFill>
          <a:ln/>
        </p:spPr>
        <p:txBody>
          <a:bodyPr/>
          <a:lstStyle/>
          <a:p>
            <a:endParaRPr lang="en-IN"/>
          </a:p>
        </p:txBody>
      </p:sp>
      <p:sp>
        <p:nvSpPr>
          <p:cNvPr id="31" name="Text 29"/>
          <p:cNvSpPr/>
          <p:nvPr/>
        </p:nvSpPr>
        <p:spPr>
          <a:xfrm>
            <a:off x="6144768" y="254203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32" name="Text 30"/>
          <p:cNvSpPr/>
          <p:nvPr/>
        </p:nvSpPr>
        <p:spPr>
          <a:xfrm>
            <a:off x="6629400" y="2377440"/>
            <a:ext cx="2057400" cy="292608"/>
          </a:xfrm>
          <a:prstGeom prst="rect">
            <a:avLst/>
          </a:prstGeom>
          <a:noFill/>
          <a:ln/>
        </p:spPr>
        <p:txBody>
          <a:bodyPr wrap="square" lIns="0" tIns="0" rIns="0" bIns="0" rtlCol="0" anchor="ctr"/>
          <a:lstStyle/>
          <a:p>
            <a:pPr marL="0" indent="0">
              <a:buNone/>
            </a:pPr>
            <a:r>
              <a:rPr lang="en-US" sz="1150" b="1" dirty="0">
                <a:solidFill>
                  <a:srgbClr val="FFFFFF"/>
                </a:solidFill>
              </a:rPr>
              <a:t>Recruiter Dashboard</a:t>
            </a:r>
            <a:endParaRPr lang="en-US" sz="1150" dirty="0"/>
          </a:p>
        </p:txBody>
      </p:sp>
      <p:sp>
        <p:nvSpPr>
          <p:cNvPr id="33" name="Text 31"/>
          <p:cNvSpPr/>
          <p:nvPr/>
        </p:nvSpPr>
        <p:spPr>
          <a:xfrm>
            <a:off x="6629400" y="2697480"/>
            <a:ext cx="2057400" cy="594360"/>
          </a:xfrm>
          <a:prstGeom prst="rect">
            <a:avLst/>
          </a:prstGeom>
          <a:noFill/>
          <a:ln/>
        </p:spPr>
        <p:txBody>
          <a:bodyPr wrap="square" lIns="0" tIns="0" rIns="0" bIns="0" rtlCol="0" anchor="ctr"/>
          <a:lstStyle/>
          <a:p>
            <a:pPr marL="0" indent="0">
              <a:buNone/>
            </a:pPr>
            <a:r>
              <a:rPr lang="en-US" sz="1000" dirty="0">
                <a:solidFill>
                  <a:srgbClr val="AACCEE"/>
                </a:solidFill>
              </a:rPr>
              <a:t>View ranked applicants with scores and interview assessments</a:t>
            </a:r>
            <a:endParaRPr lang="en-US" sz="1000" dirty="0"/>
          </a:p>
        </p:txBody>
      </p:sp>
      <p:sp>
        <p:nvSpPr>
          <p:cNvPr id="34" name="Shape 32"/>
          <p:cNvSpPr/>
          <p:nvPr/>
        </p:nvSpPr>
        <p:spPr>
          <a:xfrm>
            <a:off x="274320" y="3520440"/>
            <a:ext cx="2743200" cy="1097280"/>
          </a:xfrm>
          <a:prstGeom prst="roundRect">
            <a:avLst>
              <a:gd name="adj" fmla="val 10000"/>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35" name="Shape 33"/>
          <p:cNvSpPr/>
          <p:nvPr/>
        </p:nvSpPr>
        <p:spPr>
          <a:xfrm>
            <a:off x="384048" y="3776472"/>
            <a:ext cx="384048" cy="384048"/>
          </a:xfrm>
          <a:prstGeom prst="roundRect">
            <a:avLst>
              <a:gd name="adj" fmla="val 14286"/>
            </a:avLst>
          </a:prstGeom>
          <a:solidFill>
            <a:srgbClr val="7B2FBE"/>
          </a:solidFill>
          <a:ln/>
        </p:spPr>
        <p:txBody>
          <a:bodyPr/>
          <a:lstStyle/>
          <a:p>
            <a:endParaRPr lang="en-IN"/>
          </a:p>
        </p:txBody>
      </p:sp>
      <p:sp>
        <p:nvSpPr>
          <p:cNvPr id="36" name="Text 34"/>
          <p:cNvSpPr/>
          <p:nvPr/>
        </p:nvSpPr>
        <p:spPr>
          <a:xfrm>
            <a:off x="384048" y="377647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7</a:t>
            </a:r>
            <a:endParaRPr lang="en-US" sz="1400" dirty="0"/>
          </a:p>
        </p:txBody>
      </p:sp>
      <p:sp>
        <p:nvSpPr>
          <p:cNvPr id="37" name="Text 35"/>
          <p:cNvSpPr/>
          <p:nvPr/>
        </p:nvSpPr>
        <p:spPr>
          <a:xfrm>
            <a:off x="868680" y="3611880"/>
            <a:ext cx="2057400" cy="292608"/>
          </a:xfrm>
          <a:prstGeom prst="rect">
            <a:avLst/>
          </a:prstGeom>
          <a:noFill/>
          <a:ln/>
        </p:spPr>
        <p:txBody>
          <a:bodyPr wrap="square" lIns="0" tIns="0" rIns="0" bIns="0" rtlCol="0" anchor="ctr"/>
          <a:lstStyle/>
          <a:p>
            <a:pPr marL="0" indent="0">
              <a:buNone/>
            </a:pPr>
            <a:r>
              <a:rPr lang="en-US" sz="1150" b="1" dirty="0">
                <a:solidFill>
                  <a:srgbClr val="FFFFFF"/>
                </a:solidFill>
              </a:rPr>
              <a:t>GitHub Actions CI/CD</a:t>
            </a:r>
            <a:endParaRPr lang="en-US" sz="1150" dirty="0"/>
          </a:p>
        </p:txBody>
      </p:sp>
      <p:sp>
        <p:nvSpPr>
          <p:cNvPr id="38" name="Text 36"/>
          <p:cNvSpPr/>
          <p:nvPr/>
        </p:nvSpPr>
        <p:spPr>
          <a:xfrm>
            <a:off x="868680" y="3931920"/>
            <a:ext cx="2057400" cy="594360"/>
          </a:xfrm>
          <a:prstGeom prst="rect">
            <a:avLst/>
          </a:prstGeom>
          <a:noFill/>
          <a:ln/>
        </p:spPr>
        <p:txBody>
          <a:bodyPr wrap="square" lIns="0" tIns="0" rIns="0" bIns="0" rtlCol="0" anchor="ctr"/>
          <a:lstStyle/>
          <a:p>
            <a:pPr marL="0" indent="0">
              <a:buNone/>
            </a:pPr>
            <a:r>
              <a:rPr lang="en-US" sz="1000" dirty="0">
                <a:solidFill>
                  <a:srgbClr val="AACCEE"/>
                </a:solidFill>
              </a:rPr>
              <a:t>Show latest pipeline run — all stages green, ECR push success</a:t>
            </a:r>
            <a:endParaRPr lang="en-US" sz="1000" dirty="0"/>
          </a:p>
        </p:txBody>
      </p:sp>
      <p:sp>
        <p:nvSpPr>
          <p:cNvPr id="39" name="Shape 37"/>
          <p:cNvSpPr/>
          <p:nvPr/>
        </p:nvSpPr>
        <p:spPr>
          <a:xfrm>
            <a:off x="3154680" y="3520440"/>
            <a:ext cx="2743200" cy="1097280"/>
          </a:xfrm>
          <a:prstGeom prst="roundRect">
            <a:avLst>
              <a:gd name="adj" fmla="val 10000"/>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40" name="Shape 38"/>
          <p:cNvSpPr/>
          <p:nvPr/>
        </p:nvSpPr>
        <p:spPr>
          <a:xfrm>
            <a:off x="3264408" y="3776472"/>
            <a:ext cx="384048" cy="384048"/>
          </a:xfrm>
          <a:prstGeom prst="roundRect">
            <a:avLst>
              <a:gd name="adj" fmla="val 14286"/>
            </a:avLst>
          </a:prstGeom>
          <a:solidFill>
            <a:srgbClr val="BE2F6B"/>
          </a:solidFill>
          <a:ln/>
        </p:spPr>
        <p:txBody>
          <a:bodyPr/>
          <a:lstStyle/>
          <a:p>
            <a:endParaRPr lang="en-IN"/>
          </a:p>
        </p:txBody>
      </p:sp>
      <p:sp>
        <p:nvSpPr>
          <p:cNvPr id="41" name="Text 39"/>
          <p:cNvSpPr/>
          <p:nvPr/>
        </p:nvSpPr>
        <p:spPr>
          <a:xfrm>
            <a:off x="3264408" y="377647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8</a:t>
            </a:r>
            <a:endParaRPr lang="en-US" sz="1400" dirty="0"/>
          </a:p>
        </p:txBody>
      </p:sp>
      <p:sp>
        <p:nvSpPr>
          <p:cNvPr id="42" name="Text 40"/>
          <p:cNvSpPr/>
          <p:nvPr/>
        </p:nvSpPr>
        <p:spPr>
          <a:xfrm>
            <a:off x="3749040" y="3611880"/>
            <a:ext cx="2057400" cy="292608"/>
          </a:xfrm>
          <a:prstGeom prst="rect">
            <a:avLst/>
          </a:prstGeom>
          <a:noFill/>
          <a:ln/>
        </p:spPr>
        <p:txBody>
          <a:bodyPr wrap="square" lIns="0" tIns="0" rIns="0" bIns="0" rtlCol="0" anchor="ctr"/>
          <a:lstStyle/>
          <a:p>
            <a:pPr marL="0" indent="0">
              <a:buNone/>
            </a:pPr>
            <a:r>
              <a:rPr lang="en-US" sz="1150" b="1" dirty="0">
                <a:solidFill>
                  <a:srgbClr val="FFFFFF"/>
                </a:solidFill>
              </a:rPr>
              <a:t>ArgoCD / EKS Evidence</a:t>
            </a:r>
            <a:endParaRPr lang="en-US" sz="1150" dirty="0"/>
          </a:p>
        </p:txBody>
      </p:sp>
      <p:sp>
        <p:nvSpPr>
          <p:cNvPr id="43" name="Text 41"/>
          <p:cNvSpPr/>
          <p:nvPr/>
        </p:nvSpPr>
        <p:spPr>
          <a:xfrm>
            <a:off x="3749040" y="3931920"/>
            <a:ext cx="2057400" cy="594360"/>
          </a:xfrm>
          <a:prstGeom prst="rect">
            <a:avLst/>
          </a:prstGeom>
          <a:noFill/>
          <a:ln/>
        </p:spPr>
        <p:txBody>
          <a:bodyPr wrap="square" lIns="0" tIns="0" rIns="0" bIns="0" rtlCol="0" anchor="ctr"/>
          <a:lstStyle/>
          <a:p>
            <a:pPr marL="0" indent="0">
              <a:buNone/>
            </a:pPr>
            <a:r>
              <a:rPr lang="en-US" sz="1000" dirty="0">
                <a:solidFill>
                  <a:srgbClr val="AACCEE"/>
                </a:solidFill>
              </a:rPr>
              <a:t>ArgoCD app sync view — pods running in hirevoice namespace</a:t>
            </a:r>
            <a:endParaRPr lang="en-US" sz="1000" dirty="0"/>
          </a:p>
        </p:txBody>
      </p:sp>
      <p:sp>
        <p:nvSpPr>
          <p:cNvPr id="44" name="Shape 42"/>
          <p:cNvSpPr/>
          <p:nvPr/>
        </p:nvSpPr>
        <p:spPr>
          <a:xfrm>
            <a:off x="6035040" y="3520440"/>
            <a:ext cx="2743200" cy="1097280"/>
          </a:xfrm>
          <a:prstGeom prst="roundRect">
            <a:avLst>
              <a:gd name="adj" fmla="val 10000"/>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45" name="Shape 43"/>
          <p:cNvSpPr/>
          <p:nvPr/>
        </p:nvSpPr>
        <p:spPr>
          <a:xfrm>
            <a:off x="6144768" y="3776472"/>
            <a:ext cx="384048" cy="384048"/>
          </a:xfrm>
          <a:prstGeom prst="roundRect">
            <a:avLst>
              <a:gd name="adj" fmla="val 14286"/>
            </a:avLst>
          </a:prstGeom>
          <a:solidFill>
            <a:srgbClr val="F4A261"/>
          </a:solidFill>
          <a:ln/>
        </p:spPr>
        <p:txBody>
          <a:bodyPr/>
          <a:lstStyle/>
          <a:p>
            <a:endParaRPr lang="en-IN"/>
          </a:p>
        </p:txBody>
      </p:sp>
      <p:sp>
        <p:nvSpPr>
          <p:cNvPr id="46" name="Text 44"/>
          <p:cNvSpPr/>
          <p:nvPr/>
        </p:nvSpPr>
        <p:spPr>
          <a:xfrm>
            <a:off x="6144768" y="377647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9</a:t>
            </a:r>
            <a:endParaRPr lang="en-US" sz="1400" dirty="0"/>
          </a:p>
        </p:txBody>
      </p:sp>
      <p:sp>
        <p:nvSpPr>
          <p:cNvPr id="47" name="Text 45"/>
          <p:cNvSpPr/>
          <p:nvPr/>
        </p:nvSpPr>
        <p:spPr>
          <a:xfrm>
            <a:off x="6629400" y="3611880"/>
            <a:ext cx="2057400" cy="292608"/>
          </a:xfrm>
          <a:prstGeom prst="rect">
            <a:avLst/>
          </a:prstGeom>
          <a:noFill/>
          <a:ln/>
        </p:spPr>
        <p:txBody>
          <a:bodyPr wrap="square" lIns="0" tIns="0" rIns="0" bIns="0" rtlCol="0" anchor="ctr"/>
          <a:lstStyle/>
          <a:p>
            <a:pPr marL="0" indent="0">
              <a:buNone/>
            </a:pPr>
            <a:r>
              <a:rPr lang="en-US" sz="1150" b="1" dirty="0">
                <a:solidFill>
                  <a:srgbClr val="FFFFFF"/>
                </a:solidFill>
              </a:rPr>
              <a:t>Terraform Evidence</a:t>
            </a:r>
            <a:endParaRPr lang="en-US" sz="1150" dirty="0"/>
          </a:p>
        </p:txBody>
      </p:sp>
      <p:sp>
        <p:nvSpPr>
          <p:cNvPr id="48" name="Text 46"/>
          <p:cNvSpPr/>
          <p:nvPr/>
        </p:nvSpPr>
        <p:spPr>
          <a:xfrm>
            <a:off x="6629400" y="3931920"/>
            <a:ext cx="2057400" cy="594360"/>
          </a:xfrm>
          <a:prstGeom prst="rect">
            <a:avLst/>
          </a:prstGeom>
          <a:noFill/>
          <a:ln/>
        </p:spPr>
        <p:txBody>
          <a:bodyPr wrap="square" lIns="0" tIns="0" rIns="0" bIns="0" rtlCol="0" anchor="ctr"/>
          <a:lstStyle/>
          <a:p>
            <a:pPr marL="0" indent="0">
              <a:buNone/>
            </a:pPr>
            <a:r>
              <a:rPr lang="en-US" sz="1000" dirty="0">
                <a:solidFill>
                  <a:srgbClr val="AACCEE"/>
                </a:solidFill>
              </a:rPr>
              <a:t>Terraform outputs / state — VPC, EKS cluster, RDS endpoint shown</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6FF"/>
        </a:solidFill>
        <a:effectLst/>
      </p:bgPr>
    </p:bg>
    <p:spTree>
      <p:nvGrpSpPr>
        <p:cNvPr id="1" name=""/>
        <p:cNvGrpSpPr/>
        <p:nvPr/>
      </p:nvGrpSpPr>
      <p:grpSpPr>
        <a:xfrm>
          <a:off x="0" y="0"/>
          <a:ext cx="0" cy="0"/>
          <a:chOff x="0" y="0"/>
          <a:chExt cx="0" cy="0"/>
        </a:xfrm>
      </p:grpSpPr>
      <p:sp>
        <p:nvSpPr>
          <p:cNvPr id="2" name="Text 0"/>
          <p:cNvSpPr/>
          <p:nvPr/>
        </p:nvSpPr>
        <p:spPr>
          <a:xfrm>
            <a:off x="457200" y="109728"/>
            <a:ext cx="8229600" cy="530352"/>
          </a:xfrm>
          <a:prstGeom prst="rect">
            <a:avLst/>
          </a:prstGeom>
          <a:noFill/>
          <a:ln/>
        </p:spPr>
        <p:txBody>
          <a:bodyPr wrap="square" lIns="0" tIns="0" rIns="0" bIns="0" rtlCol="0" anchor="ctr"/>
          <a:lstStyle/>
          <a:p>
            <a:pPr marL="0" indent="0">
              <a:buNone/>
            </a:pPr>
            <a:r>
              <a:rPr lang="en-US" sz="3600" b="1" dirty="0">
                <a:solidFill>
                  <a:srgbClr val="0D1B2A"/>
                </a:solidFill>
                <a:latin typeface="Calibri" pitchFamily="34" charset="0"/>
                <a:ea typeface="Calibri" pitchFamily="34" charset="-122"/>
                <a:cs typeface="Calibri" pitchFamily="34" charset="-120"/>
              </a:rPr>
              <a:t>Challenges Faced</a:t>
            </a:r>
            <a:endParaRPr lang="en-US" sz="3600" dirty="0"/>
          </a:p>
        </p:txBody>
      </p:sp>
      <p:sp>
        <p:nvSpPr>
          <p:cNvPr id="3" name="Shape 1"/>
          <p:cNvSpPr/>
          <p:nvPr/>
        </p:nvSpPr>
        <p:spPr>
          <a:xfrm>
            <a:off x="274320" y="822960"/>
            <a:ext cx="4160520" cy="1280160"/>
          </a:xfrm>
          <a:prstGeom prst="roundRect">
            <a:avLst>
              <a:gd name="adj" fmla="val 8571"/>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4" name="Text 2"/>
          <p:cNvSpPr/>
          <p:nvPr/>
        </p:nvSpPr>
        <p:spPr>
          <a:xfrm>
            <a:off x="274320" y="868680"/>
            <a:ext cx="685800" cy="109728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5" name="Text 3"/>
          <p:cNvSpPr/>
          <p:nvPr/>
        </p:nvSpPr>
        <p:spPr>
          <a:xfrm>
            <a:off x="960120" y="914400"/>
            <a:ext cx="3337560" cy="320040"/>
          </a:xfrm>
          <a:prstGeom prst="rect">
            <a:avLst/>
          </a:prstGeom>
          <a:noFill/>
          <a:ln/>
        </p:spPr>
        <p:txBody>
          <a:bodyPr wrap="square" lIns="0" tIns="0" rIns="0" bIns="0" rtlCol="0" anchor="ctr"/>
          <a:lstStyle/>
          <a:p>
            <a:pPr marL="0" indent="0">
              <a:buNone/>
            </a:pPr>
            <a:r>
              <a:rPr lang="en-US" sz="1200" b="1" dirty="0">
                <a:solidFill>
                  <a:srgbClr val="0D1B2A"/>
                </a:solidFill>
              </a:rPr>
              <a:t>Monolith → Microservices</a:t>
            </a:r>
            <a:endParaRPr lang="en-US" sz="1200" dirty="0"/>
          </a:p>
        </p:txBody>
      </p:sp>
      <p:sp>
        <p:nvSpPr>
          <p:cNvPr id="6" name="Text 4"/>
          <p:cNvSpPr/>
          <p:nvPr/>
        </p:nvSpPr>
        <p:spPr>
          <a:xfrm>
            <a:off x="960120" y="1261872"/>
            <a:ext cx="3337560" cy="749808"/>
          </a:xfrm>
          <a:prstGeom prst="rect">
            <a:avLst/>
          </a:prstGeom>
          <a:noFill/>
          <a:ln/>
        </p:spPr>
        <p:txBody>
          <a:bodyPr wrap="square" lIns="0" tIns="0" rIns="0" bIns="0" rtlCol="0" anchor="ctr"/>
          <a:lstStyle/>
          <a:p>
            <a:pPr marL="0" indent="0">
              <a:buNone/>
            </a:pPr>
            <a:r>
              <a:rPr lang="en-US" sz="1000" dirty="0">
                <a:solidFill>
                  <a:srgbClr val="4A6080"/>
                </a:solidFill>
              </a:rPr>
              <a:t>Re-architecting the app from a local monolith to six independently deployable services required significant refactoring and inter-service communication design.</a:t>
            </a:r>
            <a:endParaRPr lang="en-US" sz="1000" dirty="0"/>
          </a:p>
        </p:txBody>
      </p:sp>
      <p:sp>
        <p:nvSpPr>
          <p:cNvPr id="7" name="Shape 5"/>
          <p:cNvSpPr/>
          <p:nvPr/>
        </p:nvSpPr>
        <p:spPr>
          <a:xfrm>
            <a:off x="4663440" y="822960"/>
            <a:ext cx="4160520" cy="1280160"/>
          </a:xfrm>
          <a:prstGeom prst="roundRect">
            <a:avLst>
              <a:gd name="adj" fmla="val 8571"/>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8" name="Text 6"/>
          <p:cNvSpPr/>
          <p:nvPr/>
        </p:nvSpPr>
        <p:spPr>
          <a:xfrm>
            <a:off x="4663440" y="868680"/>
            <a:ext cx="685800" cy="109728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9" name="Text 7"/>
          <p:cNvSpPr/>
          <p:nvPr/>
        </p:nvSpPr>
        <p:spPr>
          <a:xfrm>
            <a:off x="5349240" y="914400"/>
            <a:ext cx="3337560" cy="320040"/>
          </a:xfrm>
          <a:prstGeom prst="rect">
            <a:avLst/>
          </a:prstGeom>
          <a:noFill/>
          <a:ln/>
        </p:spPr>
        <p:txBody>
          <a:bodyPr wrap="square" lIns="0" tIns="0" rIns="0" bIns="0" rtlCol="0" anchor="ctr"/>
          <a:lstStyle/>
          <a:p>
            <a:pPr marL="0" indent="0">
              <a:buNone/>
            </a:pPr>
            <a:r>
              <a:rPr lang="en-US" sz="1200" b="1" dirty="0">
                <a:solidFill>
                  <a:srgbClr val="0D1B2A"/>
                </a:solidFill>
              </a:rPr>
              <a:t>K8s Networking &amp; Ingress</a:t>
            </a:r>
            <a:endParaRPr lang="en-US" sz="1200" dirty="0"/>
          </a:p>
        </p:txBody>
      </p:sp>
      <p:sp>
        <p:nvSpPr>
          <p:cNvPr id="10" name="Text 8"/>
          <p:cNvSpPr/>
          <p:nvPr/>
        </p:nvSpPr>
        <p:spPr>
          <a:xfrm>
            <a:off x="5349240" y="1261872"/>
            <a:ext cx="3337560" cy="749808"/>
          </a:xfrm>
          <a:prstGeom prst="rect">
            <a:avLst/>
          </a:prstGeom>
          <a:noFill/>
          <a:ln/>
        </p:spPr>
        <p:txBody>
          <a:bodyPr wrap="square" lIns="0" tIns="0" rIns="0" bIns="0" rtlCol="0" anchor="ctr"/>
          <a:lstStyle/>
          <a:p>
            <a:pPr marL="0" indent="0">
              <a:buNone/>
            </a:pPr>
            <a:r>
              <a:rPr lang="en-US" sz="1000" dirty="0">
                <a:solidFill>
                  <a:srgbClr val="4A6080"/>
                </a:solidFill>
              </a:rPr>
              <a:t>Configuring the ALB Ingress Controller, service discovery between pods, and TLS termination required careful understanding of Kubernetes networking.</a:t>
            </a:r>
            <a:endParaRPr lang="en-US" sz="1000" dirty="0"/>
          </a:p>
        </p:txBody>
      </p:sp>
      <p:sp>
        <p:nvSpPr>
          <p:cNvPr id="11" name="Shape 9"/>
          <p:cNvSpPr/>
          <p:nvPr/>
        </p:nvSpPr>
        <p:spPr>
          <a:xfrm>
            <a:off x="274320" y="2240280"/>
            <a:ext cx="4160520" cy="1280160"/>
          </a:xfrm>
          <a:prstGeom prst="roundRect">
            <a:avLst>
              <a:gd name="adj" fmla="val 8571"/>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12" name="Text 10"/>
          <p:cNvSpPr/>
          <p:nvPr/>
        </p:nvSpPr>
        <p:spPr>
          <a:xfrm>
            <a:off x="274320" y="2286000"/>
            <a:ext cx="685800" cy="109728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3" name="Text 11"/>
          <p:cNvSpPr/>
          <p:nvPr/>
        </p:nvSpPr>
        <p:spPr>
          <a:xfrm>
            <a:off x="960120" y="2331720"/>
            <a:ext cx="3337560" cy="320040"/>
          </a:xfrm>
          <a:prstGeom prst="rect">
            <a:avLst/>
          </a:prstGeom>
          <a:noFill/>
          <a:ln/>
        </p:spPr>
        <p:txBody>
          <a:bodyPr wrap="square" lIns="0" tIns="0" rIns="0" bIns="0" rtlCol="0" anchor="ctr"/>
          <a:lstStyle/>
          <a:p>
            <a:pPr marL="0" indent="0">
              <a:buNone/>
            </a:pPr>
            <a:r>
              <a:rPr lang="en-US" sz="1200" b="1" dirty="0">
                <a:solidFill>
                  <a:srgbClr val="0D1B2A"/>
                </a:solidFill>
              </a:rPr>
              <a:t>Secret Management</a:t>
            </a:r>
            <a:endParaRPr lang="en-US" sz="1200" dirty="0"/>
          </a:p>
        </p:txBody>
      </p:sp>
      <p:sp>
        <p:nvSpPr>
          <p:cNvPr id="14" name="Text 12"/>
          <p:cNvSpPr/>
          <p:nvPr/>
        </p:nvSpPr>
        <p:spPr>
          <a:xfrm>
            <a:off x="960120" y="2679192"/>
            <a:ext cx="3337560" cy="749808"/>
          </a:xfrm>
          <a:prstGeom prst="rect">
            <a:avLst/>
          </a:prstGeom>
          <a:noFill/>
          <a:ln/>
        </p:spPr>
        <p:txBody>
          <a:bodyPr wrap="square" lIns="0" tIns="0" rIns="0" bIns="0" rtlCol="0" anchor="ctr"/>
          <a:lstStyle/>
          <a:p>
            <a:pPr marL="0" indent="0">
              <a:buNone/>
            </a:pPr>
            <a:r>
              <a:rPr lang="en-US" sz="1000" dirty="0">
                <a:solidFill>
                  <a:srgbClr val="4A6080"/>
                </a:solidFill>
              </a:rPr>
              <a:t>Setting up External Secrets Operator to sync from AWS Secrets Manager, combined with IRSA pod identity, was a multi-step process to get right.</a:t>
            </a:r>
            <a:endParaRPr lang="en-US" sz="1000" dirty="0"/>
          </a:p>
        </p:txBody>
      </p:sp>
      <p:sp>
        <p:nvSpPr>
          <p:cNvPr id="15" name="Shape 13"/>
          <p:cNvSpPr/>
          <p:nvPr/>
        </p:nvSpPr>
        <p:spPr>
          <a:xfrm>
            <a:off x="4663440" y="2240280"/>
            <a:ext cx="4160520" cy="1280160"/>
          </a:xfrm>
          <a:prstGeom prst="roundRect">
            <a:avLst>
              <a:gd name="adj" fmla="val 8571"/>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16" name="Text 14"/>
          <p:cNvSpPr/>
          <p:nvPr/>
        </p:nvSpPr>
        <p:spPr>
          <a:xfrm>
            <a:off x="4663440" y="2286000"/>
            <a:ext cx="685800" cy="109728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7" name="Text 15"/>
          <p:cNvSpPr/>
          <p:nvPr/>
        </p:nvSpPr>
        <p:spPr>
          <a:xfrm>
            <a:off x="5349240" y="2331720"/>
            <a:ext cx="3337560" cy="320040"/>
          </a:xfrm>
          <a:prstGeom prst="rect">
            <a:avLst/>
          </a:prstGeom>
          <a:noFill/>
          <a:ln/>
        </p:spPr>
        <p:txBody>
          <a:bodyPr wrap="square" lIns="0" tIns="0" rIns="0" bIns="0" rtlCol="0" anchor="ctr"/>
          <a:lstStyle/>
          <a:p>
            <a:pPr marL="0" indent="0">
              <a:buNone/>
            </a:pPr>
            <a:r>
              <a:rPr lang="en-US" sz="1200" b="1" dirty="0">
                <a:solidFill>
                  <a:srgbClr val="0D1B2A"/>
                </a:solidFill>
              </a:rPr>
              <a:t>CI/CD with ECR &amp; EKS</a:t>
            </a:r>
            <a:endParaRPr lang="en-US" sz="1200" dirty="0"/>
          </a:p>
        </p:txBody>
      </p:sp>
      <p:sp>
        <p:nvSpPr>
          <p:cNvPr id="18" name="Text 16"/>
          <p:cNvSpPr/>
          <p:nvPr/>
        </p:nvSpPr>
        <p:spPr>
          <a:xfrm>
            <a:off x="5349240" y="2679192"/>
            <a:ext cx="3337560" cy="749808"/>
          </a:xfrm>
          <a:prstGeom prst="rect">
            <a:avLst/>
          </a:prstGeom>
          <a:noFill/>
          <a:ln/>
        </p:spPr>
        <p:txBody>
          <a:bodyPr wrap="square" lIns="0" tIns="0" rIns="0" bIns="0" rtlCol="0" anchor="ctr"/>
          <a:lstStyle/>
          <a:p>
            <a:pPr marL="0" indent="0">
              <a:buNone/>
            </a:pPr>
            <a:r>
              <a:rPr lang="en-US" sz="1000" dirty="0">
                <a:solidFill>
                  <a:srgbClr val="4A6080"/>
                </a:solidFill>
              </a:rPr>
              <a:t>Integrating OIDC-based auth, ECR image pushes, Helm tag updates, and ArgoCD sync into a seamless pipeline took considerable iteration.</a:t>
            </a:r>
            <a:endParaRPr lang="en-US" sz="1000" dirty="0"/>
          </a:p>
        </p:txBody>
      </p:sp>
      <p:sp>
        <p:nvSpPr>
          <p:cNvPr id="19" name="Shape 17"/>
          <p:cNvSpPr/>
          <p:nvPr/>
        </p:nvSpPr>
        <p:spPr>
          <a:xfrm>
            <a:off x="274320" y="3657600"/>
            <a:ext cx="4160520" cy="1280160"/>
          </a:xfrm>
          <a:prstGeom prst="roundRect">
            <a:avLst>
              <a:gd name="adj" fmla="val 8571"/>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20" name="Text 18"/>
          <p:cNvSpPr/>
          <p:nvPr/>
        </p:nvSpPr>
        <p:spPr>
          <a:xfrm>
            <a:off x="274320" y="3703320"/>
            <a:ext cx="685800" cy="109728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21" name="Text 19"/>
          <p:cNvSpPr/>
          <p:nvPr/>
        </p:nvSpPr>
        <p:spPr>
          <a:xfrm>
            <a:off x="960120" y="3749040"/>
            <a:ext cx="3337560" cy="320040"/>
          </a:xfrm>
          <a:prstGeom prst="rect">
            <a:avLst/>
          </a:prstGeom>
          <a:noFill/>
          <a:ln/>
        </p:spPr>
        <p:txBody>
          <a:bodyPr wrap="square" lIns="0" tIns="0" rIns="0" bIns="0" rtlCol="0" anchor="ctr"/>
          <a:lstStyle/>
          <a:p>
            <a:pPr marL="0" indent="0">
              <a:buNone/>
            </a:pPr>
            <a:r>
              <a:rPr lang="en-US" sz="1200" b="1" dirty="0">
                <a:solidFill>
                  <a:srgbClr val="0D1B2A"/>
                </a:solidFill>
              </a:rPr>
              <a:t>Terraform Remote State</a:t>
            </a:r>
            <a:endParaRPr lang="en-US" sz="1200" dirty="0"/>
          </a:p>
        </p:txBody>
      </p:sp>
      <p:sp>
        <p:nvSpPr>
          <p:cNvPr id="22" name="Text 20"/>
          <p:cNvSpPr/>
          <p:nvPr/>
        </p:nvSpPr>
        <p:spPr>
          <a:xfrm>
            <a:off x="960120" y="4096512"/>
            <a:ext cx="3337560" cy="749808"/>
          </a:xfrm>
          <a:prstGeom prst="rect">
            <a:avLst/>
          </a:prstGeom>
          <a:noFill/>
          <a:ln/>
        </p:spPr>
        <p:txBody>
          <a:bodyPr wrap="square" lIns="0" tIns="0" rIns="0" bIns="0" rtlCol="0" anchor="ctr"/>
          <a:lstStyle/>
          <a:p>
            <a:pPr marL="0" indent="0">
              <a:buNone/>
            </a:pPr>
            <a:r>
              <a:rPr lang="en-US" sz="1000" dirty="0">
                <a:solidFill>
                  <a:srgbClr val="4A6080"/>
                </a:solidFill>
              </a:rPr>
              <a:t>Bootstrapping the S3 bucket and DynamoDB table before any other Terraform code, and managing module dependencies, was a chicken-and-egg challenge.</a:t>
            </a:r>
            <a:endParaRPr lang="en-US" sz="1000" dirty="0"/>
          </a:p>
        </p:txBody>
      </p:sp>
      <p:sp>
        <p:nvSpPr>
          <p:cNvPr id="23" name="Shape 21"/>
          <p:cNvSpPr/>
          <p:nvPr/>
        </p:nvSpPr>
        <p:spPr>
          <a:xfrm>
            <a:off x="4663440" y="3657600"/>
            <a:ext cx="4160520" cy="1280160"/>
          </a:xfrm>
          <a:prstGeom prst="roundRect">
            <a:avLst>
              <a:gd name="adj" fmla="val 8571"/>
            </a:avLst>
          </a:prstGeom>
          <a:solidFill>
            <a:srgbClr val="FFFFFF"/>
          </a:solidFill>
          <a:ln/>
          <a:effectLst>
            <a:outerShdw blurRad="101600" dist="38100" dir="2700000" algn="bl" rotWithShape="0">
              <a:srgbClr val="000000">
                <a:alpha val="10000"/>
              </a:srgbClr>
            </a:outerShdw>
          </a:effectLst>
        </p:spPr>
        <p:txBody>
          <a:bodyPr/>
          <a:lstStyle/>
          <a:p>
            <a:endParaRPr lang="en-IN"/>
          </a:p>
        </p:txBody>
      </p:sp>
      <p:sp>
        <p:nvSpPr>
          <p:cNvPr id="24" name="Text 22"/>
          <p:cNvSpPr/>
          <p:nvPr/>
        </p:nvSpPr>
        <p:spPr>
          <a:xfrm>
            <a:off x="4663440" y="3703320"/>
            <a:ext cx="685800" cy="109728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25" name="Text 23"/>
          <p:cNvSpPr/>
          <p:nvPr/>
        </p:nvSpPr>
        <p:spPr>
          <a:xfrm>
            <a:off x="5349240" y="3749040"/>
            <a:ext cx="3337560" cy="320040"/>
          </a:xfrm>
          <a:prstGeom prst="rect">
            <a:avLst/>
          </a:prstGeom>
          <a:noFill/>
          <a:ln/>
        </p:spPr>
        <p:txBody>
          <a:bodyPr wrap="square" lIns="0" tIns="0" rIns="0" bIns="0" rtlCol="0" anchor="ctr"/>
          <a:lstStyle/>
          <a:p>
            <a:pPr marL="0" indent="0">
              <a:buNone/>
            </a:pPr>
            <a:r>
              <a:rPr lang="en-US" sz="1200" b="1" dirty="0">
                <a:solidFill>
                  <a:srgbClr val="0D1B2A"/>
                </a:solidFill>
              </a:rPr>
              <a:t>AI Service Deployment</a:t>
            </a:r>
            <a:endParaRPr lang="en-US" sz="1200" dirty="0"/>
          </a:p>
        </p:txBody>
      </p:sp>
      <p:sp>
        <p:nvSpPr>
          <p:cNvPr id="26" name="Text 24"/>
          <p:cNvSpPr/>
          <p:nvPr/>
        </p:nvSpPr>
        <p:spPr>
          <a:xfrm>
            <a:off x="5349240" y="4096512"/>
            <a:ext cx="3337560" cy="749808"/>
          </a:xfrm>
          <a:prstGeom prst="rect">
            <a:avLst/>
          </a:prstGeom>
          <a:noFill/>
          <a:ln/>
        </p:spPr>
        <p:txBody>
          <a:bodyPr wrap="square" lIns="0" tIns="0" rIns="0" bIns="0" rtlCol="0" anchor="ctr"/>
          <a:lstStyle/>
          <a:p>
            <a:pPr marL="0" indent="0">
              <a:buNone/>
            </a:pPr>
            <a:r>
              <a:rPr lang="en-US" sz="1000" dirty="0">
                <a:solidFill>
                  <a:srgbClr val="4A6080"/>
                </a:solidFill>
              </a:rPr>
              <a:t>LangGraph workflows and Groq API integration required careful resource limit tuning on pods to avoid OOM kills during inference.</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109728"/>
            <a:ext cx="8229600" cy="530352"/>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Future Enhancements</a:t>
            </a:r>
            <a:endParaRPr lang="en-US" sz="3600" dirty="0"/>
          </a:p>
        </p:txBody>
      </p:sp>
      <p:sp>
        <p:nvSpPr>
          <p:cNvPr id="3" name="Shape 1"/>
          <p:cNvSpPr/>
          <p:nvPr/>
        </p:nvSpPr>
        <p:spPr>
          <a:xfrm>
            <a:off x="274320" y="822960"/>
            <a:ext cx="2743200" cy="1645920"/>
          </a:xfrm>
          <a:prstGeom prst="roundRect">
            <a:avLst>
              <a:gd name="adj" fmla="val 6667"/>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4" name="Text 2"/>
          <p:cNvSpPr/>
          <p:nvPr/>
        </p:nvSpPr>
        <p:spPr>
          <a:xfrm>
            <a:off x="274320" y="960120"/>
            <a:ext cx="2743200" cy="45720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5" name="Text 3"/>
          <p:cNvSpPr/>
          <p:nvPr/>
        </p:nvSpPr>
        <p:spPr>
          <a:xfrm>
            <a:off x="411480" y="1463040"/>
            <a:ext cx="2468880" cy="292608"/>
          </a:xfrm>
          <a:prstGeom prst="rect">
            <a:avLst/>
          </a:prstGeom>
          <a:noFill/>
          <a:ln/>
        </p:spPr>
        <p:txBody>
          <a:bodyPr wrap="square" lIns="0" tIns="0" rIns="0" bIns="0" rtlCol="0" anchor="ctr"/>
          <a:lstStyle/>
          <a:p>
            <a:pPr marL="0" indent="0" algn="ctr">
              <a:buNone/>
            </a:pPr>
            <a:r>
              <a:rPr lang="en-US" sz="1200" b="1" dirty="0">
                <a:solidFill>
                  <a:srgbClr val="00B4D8"/>
                </a:solidFill>
              </a:rPr>
              <a:t>S3 Resume Storage</a:t>
            </a:r>
            <a:endParaRPr lang="en-US" sz="1200" dirty="0"/>
          </a:p>
        </p:txBody>
      </p:sp>
      <p:sp>
        <p:nvSpPr>
          <p:cNvPr id="6" name="Text 4"/>
          <p:cNvSpPr/>
          <p:nvPr/>
        </p:nvSpPr>
        <p:spPr>
          <a:xfrm>
            <a:off x="411480" y="1783080"/>
            <a:ext cx="2468880" cy="594360"/>
          </a:xfrm>
          <a:prstGeom prst="rect">
            <a:avLst/>
          </a:prstGeom>
          <a:noFill/>
          <a:ln/>
        </p:spPr>
        <p:txBody>
          <a:bodyPr wrap="square" lIns="0" tIns="0" rIns="0" bIns="0" rtlCol="0" anchor="ctr"/>
          <a:lstStyle/>
          <a:p>
            <a:pPr marL="0" indent="0" algn="ctr">
              <a:buNone/>
            </a:pPr>
            <a:r>
              <a:rPr lang="en-US" sz="1050" dirty="0">
                <a:solidFill>
                  <a:srgbClr val="AACCEE"/>
                </a:solidFill>
              </a:rPr>
              <a:t>Move resume PDFs to S3 with app-level IRSA, removing database storage overhead.</a:t>
            </a:r>
            <a:endParaRPr lang="en-US" sz="1050" dirty="0"/>
          </a:p>
        </p:txBody>
      </p:sp>
      <p:sp>
        <p:nvSpPr>
          <p:cNvPr id="7" name="Shape 5"/>
          <p:cNvSpPr/>
          <p:nvPr/>
        </p:nvSpPr>
        <p:spPr>
          <a:xfrm>
            <a:off x="3154680" y="822960"/>
            <a:ext cx="2743200" cy="1645920"/>
          </a:xfrm>
          <a:prstGeom prst="roundRect">
            <a:avLst>
              <a:gd name="adj" fmla="val 6667"/>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8" name="Text 6"/>
          <p:cNvSpPr/>
          <p:nvPr/>
        </p:nvSpPr>
        <p:spPr>
          <a:xfrm>
            <a:off x="3154680" y="960120"/>
            <a:ext cx="2743200" cy="45720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9" name="Text 7"/>
          <p:cNvSpPr/>
          <p:nvPr/>
        </p:nvSpPr>
        <p:spPr>
          <a:xfrm>
            <a:off x="3291840" y="1463040"/>
            <a:ext cx="2468880" cy="292608"/>
          </a:xfrm>
          <a:prstGeom prst="rect">
            <a:avLst/>
          </a:prstGeom>
          <a:noFill/>
          <a:ln/>
        </p:spPr>
        <p:txBody>
          <a:bodyPr wrap="square" lIns="0" tIns="0" rIns="0" bIns="0" rtlCol="0" anchor="ctr"/>
          <a:lstStyle/>
          <a:p>
            <a:pPr marL="0" indent="0" algn="ctr">
              <a:buNone/>
            </a:pPr>
            <a:r>
              <a:rPr lang="en-US" sz="1200" b="1" dirty="0">
                <a:solidFill>
                  <a:srgbClr val="00B4D8"/>
                </a:solidFill>
              </a:rPr>
              <a:t>Prometheus &amp; Grafana</a:t>
            </a:r>
            <a:endParaRPr lang="en-US" sz="1200" dirty="0"/>
          </a:p>
        </p:txBody>
      </p:sp>
      <p:sp>
        <p:nvSpPr>
          <p:cNvPr id="10" name="Text 8"/>
          <p:cNvSpPr/>
          <p:nvPr/>
        </p:nvSpPr>
        <p:spPr>
          <a:xfrm>
            <a:off x="3291840" y="1783080"/>
            <a:ext cx="2468880" cy="594360"/>
          </a:xfrm>
          <a:prstGeom prst="rect">
            <a:avLst/>
          </a:prstGeom>
          <a:noFill/>
          <a:ln/>
        </p:spPr>
        <p:txBody>
          <a:bodyPr wrap="square" lIns="0" tIns="0" rIns="0" bIns="0" rtlCol="0" anchor="ctr"/>
          <a:lstStyle/>
          <a:p>
            <a:pPr marL="0" indent="0" algn="ctr">
              <a:buNone/>
            </a:pPr>
            <a:r>
              <a:rPr lang="en-US" sz="1050" dirty="0">
                <a:solidFill>
                  <a:srgbClr val="AACCEE"/>
                </a:solidFill>
              </a:rPr>
              <a:t>Replace CloudWatch with Prometheus/Grafana stack for richer, query-able observability.</a:t>
            </a:r>
            <a:endParaRPr lang="en-US" sz="1050" dirty="0"/>
          </a:p>
        </p:txBody>
      </p:sp>
      <p:sp>
        <p:nvSpPr>
          <p:cNvPr id="11" name="Shape 9"/>
          <p:cNvSpPr/>
          <p:nvPr/>
        </p:nvSpPr>
        <p:spPr>
          <a:xfrm>
            <a:off x="6035040" y="822960"/>
            <a:ext cx="2743200" cy="1645920"/>
          </a:xfrm>
          <a:prstGeom prst="roundRect">
            <a:avLst>
              <a:gd name="adj" fmla="val 6667"/>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12" name="Text 10"/>
          <p:cNvSpPr/>
          <p:nvPr/>
        </p:nvSpPr>
        <p:spPr>
          <a:xfrm>
            <a:off x="6035040" y="960120"/>
            <a:ext cx="2743200" cy="45720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3" name="Text 11"/>
          <p:cNvSpPr/>
          <p:nvPr/>
        </p:nvSpPr>
        <p:spPr>
          <a:xfrm>
            <a:off x="6172200" y="1463040"/>
            <a:ext cx="2468880" cy="292608"/>
          </a:xfrm>
          <a:prstGeom prst="rect">
            <a:avLst/>
          </a:prstGeom>
          <a:noFill/>
          <a:ln/>
        </p:spPr>
        <p:txBody>
          <a:bodyPr wrap="square" lIns="0" tIns="0" rIns="0" bIns="0" rtlCol="0" anchor="ctr"/>
          <a:lstStyle/>
          <a:p>
            <a:pPr marL="0" indent="0" algn="ctr">
              <a:buNone/>
            </a:pPr>
            <a:r>
              <a:rPr lang="en-US" sz="1200" b="1" dirty="0">
                <a:solidFill>
                  <a:srgbClr val="00B4D8"/>
                </a:solidFill>
              </a:rPr>
              <a:t>NetworkPolicies</a:t>
            </a:r>
            <a:endParaRPr lang="en-US" sz="1200" dirty="0"/>
          </a:p>
        </p:txBody>
      </p:sp>
      <p:sp>
        <p:nvSpPr>
          <p:cNvPr id="14" name="Text 12"/>
          <p:cNvSpPr/>
          <p:nvPr/>
        </p:nvSpPr>
        <p:spPr>
          <a:xfrm>
            <a:off x="6172200" y="1783080"/>
            <a:ext cx="2468880" cy="594360"/>
          </a:xfrm>
          <a:prstGeom prst="rect">
            <a:avLst/>
          </a:prstGeom>
          <a:noFill/>
          <a:ln/>
        </p:spPr>
        <p:txBody>
          <a:bodyPr wrap="square" lIns="0" tIns="0" rIns="0" bIns="0" rtlCol="0" anchor="ctr"/>
          <a:lstStyle/>
          <a:p>
            <a:pPr marL="0" indent="0" algn="ctr">
              <a:buNone/>
            </a:pPr>
            <a:r>
              <a:rPr lang="en-US" sz="1050" dirty="0">
                <a:solidFill>
                  <a:srgbClr val="AACCEE"/>
                </a:solidFill>
              </a:rPr>
              <a:t>Add Kubernetes NetworkPolicies to restrict pod-to-pod traffic to least privilege.</a:t>
            </a:r>
            <a:endParaRPr lang="en-US" sz="1050" dirty="0"/>
          </a:p>
        </p:txBody>
      </p:sp>
      <p:sp>
        <p:nvSpPr>
          <p:cNvPr id="15" name="Shape 13"/>
          <p:cNvSpPr/>
          <p:nvPr/>
        </p:nvSpPr>
        <p:spPr>
          <a:xfrm>
            <a:off x="274320" y="2606040"/>
            <a:ext cx="2743200" cy="1645920"/>
          </a:xfrm>
          <a:prstGeom prst="roundRect">
            <a:avLst>
              <a:gd name="adj" fmla="val 6667"/>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16" name="Text 14"/>
          <p:cNvSpPr/>
          <p:nvPr/>
        </p:nvSpPr>
        <p:spPr>
          <a:xfrm>
            <a:off x="274320" y="2743200"/>
            <a:ext cx="2743200" cy="45720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7" name="Text 15"/>
          <p:cNvSpPr/>
          <p:nvPr/>
        </p:nvSpPr>
        <p:spPr>
          <a:xfrm>
            <a:off x="411480" y="3246120"/>
            <a:ext cx="2468880" cy="292608"/>
          </a:xfrm>
          <a:prstGeom prst="rect">
            <a:avLst/>
          </a:prstGeom>
          <a:noFill/>
          <a:ln/>
        </p:spPr>
        <p:txBody>
          <a:bodyPr wrap="square" lIns="0" tIns="0" rIns="0" bIns="0" rtlCol="0" anchor="ctr"/>
          <a:lstStyle/>
          <a:p>
            <a:pPr marL="0" indent="0" algn="ctr">
              <a:buNone/>
            </a:pPr>
            <a:r>
              <a:rPr lang="en-US" sz="1200" b="1" dirty="0">
                <a:solidFill>
                  <a:srgbClr val="00B4D8"/>
                </a:solidFill>
              </a:rPr>
              <a:t>Async Event Queue</a:t>
            </a:r>
            <a:endParaRPr lang="en-US" sz="1200" dirty="0"/>
          </a:p>
        </p:txBody>
      </p:sp>
      <p:sp>
        <p:nvSpPr>
          <p:cNvPr id="18" name="Text 16"/>
          <p:cNvSpPr/>
          <p:nvPr/>
        </p:nvSpPr>
        <p:spPr>
          <a:xfrm>
            <a:off x="411480" y="3566160"/>
            <a:ext cx="2468880" cy="594360"/>
          </a:xfrm>
          <a:prstGeom prst="rect">
            <a:avLst/>
          </a:prstGeom>
          <a:noFill/>
          <a:ln/>
        </p:spPr>
        <p:txBody>
          <a:bodyPr wrap="square" lIns="0" tIns="0" rIns="0" bIns="0" rtlCol="0" anchor="ctr"/>
          <a:lstStyle/>
          <a:p>
            <a:pPr marL="0" indent="0" algn="ctr">
              <a:buNone/>
            </a:pPr>
            <a:r>
              <a:rPr lang="en-US" sz="1050" dirty="0">
                <a:solidFill>
                  <a:srgbClr val="AACCEE"/>
                </a:solidFill>
              </a:rPr>
              <a:t>Introduce SQS/Kafka for async resume screening — decouple submission from processing.</a:t>
            </a:r>
            <a:endParaRPr lang="en-US" sz="1050" dirty="0"/>
          </a:p>
        </p:txBody>
      </p:sp>
      <p:sp>
        <p:nvSpPr>
          <p:cNvPr id="19" name="Shape 17"/>
          <p:cNvSpPr/>
          <p:nvPr/>
        </p:nvSpPr>
        <p:spPr>
          <a:xfrm>
            <a:off x="3154680" y="2606040"/>
            <a:ext cx="2743200" cy="1645920"/>
          </a:xfrm>
          <a:prstGeom prst="roundRect">
            <a:avLst>
              <a:gd name="adj" fmla="val 6667"/>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20" name="Text 18"/>
          <p:cNvSpPr/>
          <p:nvPr/>
        </p:nvSpPr>
        <p:spPr>
          <a:xfrm>
            <a:off x="3154680" y="2743200"/>
            <a:ext cx="2743200" cy="45720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21" name="Text 19"/>
          <p:cNvSpPr/>
          <p:nvPr/>
        </p:nvSpPr>
        <p:spPr>
          <a:xfrm>
            <a:off x="3291840" y="3246120"/>
            <a:ext cx="2468880" cy="292608"/>
          </a:xfrm>
          <a:prstGeom prst="rect">
            <a:avLst/>
          </a:prstGeom>
          <a:noFill/>
          <a:ln/>
        </p:spPr>
        <p:txBody>
          <a:bodyPr wrap="square" lIns="0" tIns="0" rIns="0" bIns="0" rtlCol="0" anchor="ctr"/>
          <a:lstStyle/>
          <a:p>
            <a:pPr marL="0" indent="0" algn="ctr">
              <a:buNone/>
            </a:pPr>
            <a:r>
              <a:rPr lang="en-US" sz="1200" b="1" dirty="0">
                <a:solidFill>
                  <a:srgbClr val="00B4D8"/>
                </a:solidFill>
              </a:rPr>
              <a:t>Stronger Test Coverage</a:t>
            </a:r>
            <a:endParaRPr lang="en-US" sz="1200" dirty="0"/>
          </a:p>
        </p:txBody>
      </p:sp>
      <p:sp>
        <p:nvSpPr>
          <p:cNvPr id="22" name="Text 20"/>
          <p:cNvSpPr/>
          <p:nvPr/>
        </p:nvSpPr>
        <p:spPr>
          <a:xfrm>
            <a:off x="3291840" y="3566160"/>
            <a:ext cx="2468880" cy="594360"/>
          </a:xfrm>
          <a:prstGeom prst="rect">
            <a:avLst/>
          </a:prstGeom>
          <a:noFill/>
          <a:ln/>
        </p:spPr>
        <p:txBody>
          <a:bodyPr wrap="square" lIns="0" tIns="0" rIns="0" bIns="0" rtlCol="0" anchor="ctr"/>
          <a:lstStyle/>
          <a:p>
            <a:pPr marL="0" indent="0" algn="ctr">
              <a:buNone/>
            </a:pPr>
            <a:r>
              <a:rPr lang="en-US" sz="1050" dirty="0">
                <a:solidFill>
                  <a:srgbClr val="AACCEE"/>
                </a:solidFill>
              </a:rPr>
              <a:t>Expand unit, integration, and E2E tests to improve CI gate quality and coverage.</a:t>
            </a:r>
            <a:endParaRPr lang="en-US" sz="1050" dirty="0"/>
          </a:p>
        </p:txBody>
      </p:sp>
      <p:sp>
        <p:nvSpPr>
          <p:cNvPr id="23" name="Shape 21"/>
          <p:cNvSpPr/>
          <p:nvPr/>
        </p:nvSpPr>
        <p:spPr>
          <a:xfrm>
            <a:off x="6035040" y="2606040"/>
            <a:ext cx="2743200" cy="1645920"/>
          </a:xfrm>
          <a:prstGeom prst="roundRect">
            <a:avLst>
              <a:gd name="adj" fmla="val 6667"/>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24" name="Text 22"/>
          <p:cNvSpPr/>
          <p:nvPr/>
        </p:nvSpPr>
        <p:spPr>
          <a:xfrm>
            <a:off x="6035040" y="2743200"/>
            <a:ext cx="2743200" cy="45720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25" name="Text 23"/>
          <p:cNvSpPr/>
          <p:nvPr/>
        </p:nvSpPr>
        <p:spPr>
          <a:xfrm>
            <a:off x="6172200" y="3246120"/>
            <a:ext cx="2468880" cy="292608"/>
          </a:xfrm>
          <a:prstGeom prst="rect">
            <a:avLst/>
          </a:prstGeom>
          <a:noFill/>
          <a:ln/>
        </p:spPr>
        <p:txBody>
          <a:bodyPr wrap="square" lIns="0" tIns="0" rIns="0" bIns="0" rtlCol="0" anchor="ctr"/>
          <a:lstStyle/>
          <a:p>
            <a:pPr marL="0" indent="0" algn="ctr">
              <a:buNone/>
            </a:pPr>
            <a:r>
              <a:rPr lang="en-US" sz="1200" b="1" dirty="0">
                <a:solidFill>
                  <a:srgbClr val="00B4D8"/>
                </a:solidFill>
              </a:rPr>
              <a:t>Autoscaling &amp; Cost Opt</a:t>
            </a:r>
            <a:endParaRPr lang="en-US" sz="1200" dirty="0"/>
          </a:p>
        </p:txBody>
      </p:sp>
      <p:sp>
        <p:nvSpPr>
          <p:cNvPr id="26" name="Text 24"/>
          <p:cNvSpPr/>
          <p:nvPr/>
        </p:nvSpPr>
        <p:spPr>
          <a:xfrm>
            <a:off x="6172200" y="3566160"/>
            <a:ext cx="2468880" cy="594360"/>
          </a:xfrm>
          <a:prstGeom prst="rect">
            <a:avLst/>
          </a:prstGeom>
          <a:noFill/>
          <a:ln/>
        </p:spPr>
        <p:txBody>
          <a:bodyPr wrap="square" lIns="0" tIns="0" rIns="0" bIns="0" rtlCol="0" anchor="ctr"/>
          <a:lstStyle/>
          <a:p>
            <a:pPr marL="0" indent="0" algn="ctr">
              <a:buNone/>
            </a:pPr>
            <a:r>
              <a:rPr lang="en-US" sz="1050" dirty="0">
                <a:solidFill>
                  <a:srgbClr val="AACCEE"/>
                </a:solidFill>
              </a:rPr>
              <a:t>Add HPA + KEDA for pod autoscaling, Spot instances for cost-optimized node groups.</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858000" y="-731520"/>
            <a:ext cx="3200400" cy="3200400"/>
          </a:xfrm>
          <a:prstGeom prst="ellipse">
            <a:avLst/>
          </a:prstGeom>
          <a:solidFill>
            <a:srgbClr val="00B4D8">
              <a:alpha val="15000"/>
            </a:srgbClr>
          </a:solidFill>
          <a:ln/>
        </p:spPr>
        <p:txBody>
          <a:bodyPr/>
          <a:lstStyle/>
          <a:p>
            <a:endParaRPr lang="en-IN"/>
          </a:p>
        </p:txBody>
      </p:sp>
      <p:sp>
        <p:nvSpPr>
          <p:cNvPr id="3" name="Shape 1"/>
          <p:cNvSpPr/>
          <p:nvPr/>
        </p:nvSpPr>
        <p:spPr>
          <a:xfrm>
            <a:off x="-457200" y="3200400"/>
            <a:ext cx="2743200" cy="2743200"/>
          </a:xfrm>
          <a:prstGeom prst="ellipse">
            <a:avLst/>
          </a:prstGeom>
          <a:solidFill>
            <a:srgbClr val="7B2FBE">
              <a:alpha val="20000"/>
            </a:srgbClr>
          </a:solidFill>
          <a:ln/>
        </p:spPr>
        <p:txBody>
          <a:bodyPr/>
          <a:lstStyle/>
          <a:p>
            <a:endParaRPr lang="en-IN"/>
          </a:p>
        </p:txBody>
      </p:sp>
      <p:sp>
        <p:nvSpPr>
          <p:cNvPr id="4" name="Shape 2"/>
          <p:cNvSpPr/>
          <p:nvPr/>
        </p:nvSpPr>
        <p:spPr>
          <a:xfrm>
            <a:off x="548640" y="164592"/>
            <a:ext cx="1645920" cy="347472"/>
          </a:xfrm>
          <a:prstGeom prst="roundRect">
            <a:avLst>
              <a:gd name="adj" fmla="val 13158"/>
            </a:avLst>
          </a:prstGeom>
          <a:solidFill>
            <a:srgbClr val="06D6A0"/>
          </a:solidFill>
          <a:ln/>
        </p:spPr>
        <p:txBody>
          <a:bodyPr/>
          <a:lstStyle/>
          <a:p>
            <a:endParaRPr lang="en-IN"/>
          </a:p>
        </p:txBody>
      </p:sp>
      <p:sp>
        <p:nvSpPr>
          <p:cNvPr id="5" name="Text 3"/>
          <p:cNvSpPr/>
          <p:nvPr/>
        </p:nvSpPr>
        <p:spPr>
          <a:xfrm>
            <a:off x="548640" y="164592"/>
            <a:ext cx="1645920" cy="347472"/>
          </a:xfrm>
          <a:prstGeom prst="rect">
            <a:avLst/>
          </a:prstGeom>
          <a:noFill/>
          <a:ln/>
        </p:spPr>
        <p:txBody>
          <a:bodyPr wrap="square" lIns="0" tIns="0" rIns="0" bIns="0" rtlCol="0" anchor="ctr"/>
          <a:lstStyle/>
          <a:p>
            <a:pPr marL="0" indent="0" algn="ctr">
              <a:buNone/>
            </a:pPr>
            <a:r>
              <a:rPr lang="en-US" sz="900" b="1" dirty="0">
                <a:solidFill>
                  <a:srgbClr val="0D1B2A"/>
                </a:solidFill>
              </a:rPr>
              <a:t>SUMMARY</a:t>
            </a:r>
            <a:endParaRPr lang="en-US" sz="900" dirty="0"/>
          </a:p>
        </p:txBody>
      </p:sp>
      <p:sp>
        <p:nvSpPr>
          <p:cNvPr id="6" name="Text 4"/>
          <p:cNvSpPr/>
          <p:nvPr/>
        </p:nvSpPr>
        <p:spPr>
          <a:xfrm>
            <a:off x="548640" y="594360"/>
            <a:ext cx="7772400" cy="914400"/>
          </a:xfrm>
          <a:prstGeom prst="rect">
            <a:avLst/>
          </a:prstGeom>
          <a:noFill/>
          <a:ln/>
        </p:spPr>
        <p:txBody>
          <a:bodyPr wrap="square" lIns="0" tIns="0" rIns="0" bIns="0"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HireVoice</a:t>
            </a:r>
            <a:endParaRPr lang="en-US" sz="5200" dirty="0"/>
          </a:p>
        </p:txBody>
      </p:sp>
      <p:sp>
        <p:nvSpPr>
          <p:cNvPr id="7" name="Text 5"/>
          <p:cNvSpPr/>
          <p:nvPr/>
        </p:nvSpPr>
        <p:spPr>
          <a:xfrm>
            <a:off x="548640" y="1463040"/>
            <a:ext cx="7315200" cy="411480"/>
          </a:xfrm>
          <a:prstGeom prst="rect">
            <a:avLst/>
          </a:prstGeom>
          <a:noFill/>
          <a:ln/>
        </p:spPr>
        <p:txBody>
          <a:bodyPr wrap="square" lIns="0" tIns="0" rIns="0" bIns="0" rtlCol="0" anchor="ctr"/>
          <a:lstStyle/>
          <a:p>
            <a:pPr marL="0" indent="0">
              <a:buNone/>
            </a:pPr>
            <a:r>
              <a:rPr lang="en-US" sz="1500" dirty="0">
                <a:solidFill>
                  <a:srgbClr val="00B4D8"/>
                </a:solidFill>
              </a:rPr>
              <a:t>AI-powered hiring meets cloud-native DevOps excellence</a:t>
            </a:r>
            <a:endParaRPr lang="en-US" sz="1500" dirty="0"/>
          </a:p>
        </p:txBody>
      </p:sp>
      <p:sp>
        <p:nvSpPr>
          <p:cNvPr id="8" name="Shape 6"/>
          <p:cNvSpPr/>
          <p:nvPr/>
        </p:nvSpPr>
        <p:spPr>
          <a:xfrm>
            <a:off x="320040" y="2057400"/>
            <a:ext cx="2743200" cy="1188720"/>
          </a:xfrm>
          <a:prstGeom prst="roundRect">
            <a:avLst>
              <a:gd name="adj" fmla="val 7692"/>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9" name="Text 7"/>
          <p:cNvSpPr/>
          <p:nvPr/>
        </p:nvSpPr>
        <p:spPr>
          <a:xfrm>
            <a:off x="457200" y="2148840"/>
            <a:ext cx="2468880" cy="347472"/>
          </a:xfrm>
          <a:prstGeom prst="rect">
            <a:avLst/>
          </a:prstGeom>
          <a:noFill/>
          <a:ln/>
        </p:spPr>
        <p:txBody>
          <a:bodyPr wrap="square" lIns="0" tIns="0" rIns="0" bIns="0" rtlCol="0" anchor="ctr"/>
          <a:lstStyle/>
          <a:p>
            <a:pPr marL="0" indent="0">
              <a:buNone/>
            </a:pPr>
            <a:r>
              <a:rPr lang="en-US" sz="1200" b="1" dirty="0">
                <a:solidFill>
                  <a:srgbClr val="00B4D8"/>
                </a:solidFill>
              </a:rPr>
              <a:t>🤖 AI Automation</a:t>
            </a:r>
            <a:endParaRPr lang="en-US" sz="1200" dirty="0"/>
          </a:p>
        </p:txBody>
      </p:sp>
      <p:sp>
        <p:nvSpPr>
          <p:cNvPr id="10" name="Text 8"/>
          <p:cNvSpPr/>
          <p:nvPr/>
        </p:nvSpPr>
        <p:spPr>
          <a:xfrm>
            <a:off x="457200" y="2532888"/>
            <a:ext cx="2468880" cy="621792"/>
          </a:xfrm>
          <a:prstGeom prst="rect">
            <a:avLst/>
          </a:prstGeom>
          <a:noFill/>
          <a:ln/>
        </p:spPr>
        <p:txBody>
          <a:bodyPr wrap="square" lIns="0" tIns="0" rIns="0" bIns="0" rtlCol="0" anchor="ctr"/>
          <a:lstStyle/>
          <a:p>
            <a:pPr marL="0" indent="0">
              <a:buNone/>
            </a:pPr>
            <a:r>
              <a:rPr lang="en-US" sz="1000" dirty="0">
                <a:solidFill>
                  <a:srgbClr val="AACCEE"/>
                </a:solidFill>
              </a:rPr>
              <a:t>Resume screening + voice interviews powered by LangGraph and Groq</a:t>
            </a:r>
            <a:endParaRPr lang="en-US" sz="1000" dirty="0"/>
          </a:p>
        </p:txBody>
      </p:sp>
      <p:sp>
        <p:nvSpPr>
          <p:cNvPr id="11" name="Shape 9"/>
          <p:cNvSpPr/>
          <p:nvPr/>
        </p:nvSpPr>
        <p:spPr>
          <a:xfrm>
            <a:off x="3154680" y="2057400"/>
            <a:ext cx="2743200" cy="1188720"/>
          </a:xfrm>
          <a:prstGeom prst="roundRect">
            <a:avLst>
              <a:gd name="adj" fmla="val 7692"/>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12" name="Text 10"/>
          <p:cNvSpPr/>
          <p:nvPr/>
        </p:nvSpPr>
        <p:spPr>
          <a:xfrm>
            <a:off x="3291840" y="2148840"/>
            <a:ext cx="2468880" cy="347472"/>
          </a:xfrm>
          <a:prstGeom prst="rect">
            <a:avLst/>
          </a:prstGeom>
          <a:noFill/>
          <a:ln/>
        </p:spPr>
        <p:txBody>
          <a:bodyPr wrap="square" lIns="0" tIns="0" rIns="0" bIns="0" rtlCol="0" anchor="ctr"/>
          <a:lstStyle/>
          <a:p>
            <a:pPr marL="0" indent="0">
              <a:buNone/>
            </a:pPr>
            <a:r>
              <a:rPr lang="en-US" sz="1200" b="1" dirty="0">
                <a:solidFill>
                  <a:srgbClr val="00B4D8"/>
                </a:solidFill>
              </a:rPr>
              <a:t>☸️ Kubernetes on EKS</a:t>
            </a:r>
            <a:endParaRPr lang="en-US" sz="1200" dirty="0"/>
          </a:p>
        </p:txBody>
      </p:sp>
      <p:sp>
        <p:nvSpPr>
          <p:cNvPr id="13" name="Text 11"/>
          <p:cNvSpPr/>
          <p:nvPr/>
        </p:nvSpPr>
        <p:spPr>
          <a:xfrm>
            <a:off x="3291840" y="2532888"/>
            <a:ext cx="2468880" cy="621792"/>
          </a:xfrm>
          <a:prstGeom prst="rect">
            <a:avLst/>
          </a:prstGeom>
          <a:noFill/>
          <a:ln/>
        </p:spPr>
        <p:txBody>
          <a:bodyPr wrap="square" lIns="0" tIns="0" rIns="0" bIns="0" rtlCol="0" anchor="ctr"/>
          <a:lstStyle/>
          <a:p>
            <a:pPr marL="0" indent="0">
              <a:buNone/>
            </a:pPr>
            <a:r>
              <a:rPr lang="en-US" sz="1000" dirty="0">
                <a:solidFill>
                  <a:srgbClr val="AACCEE"/>
                </a:solidFill>
              </a:rPr>
              <a:t>Production-grade deployment with Helm, 2 replicas, probes, and HTTPS</a:t>
            </a:r>
            <a:endParaRPr lang="en-US" sz="1000" dirty="0"/>
          </a:p>
        </p:txBody>
      </p:sp>
      <p:sp>
        <p:nvSpPr>
          <p:cNvPr id="14" name="Shape 12"/>
          <p:cNvSpPr/>
          <p:nvPr/>
        </p:nvSpPr>
        <p:spPr>
          <a:xfrm>
            <a:off x="5989320" y="2057400"/>
            <a:ext cx="2743200" cy="1188720"/>
          </a:xfrm>
          <a:prstGeom prst="roundRect">
            <a:avLst>
              <a:gd name="adj" fmla="val 7692"/>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15" name="Text 13"/>
          <p:cNvSpPr/>
          <p:nvPr/>
        </p:nvSpPr>
        <p:spPr>
          <a:xfrm>
            <a:off x="6126480" y="2148840"/>
            <a:ext cx="2468880" cy="347472"/>
          </a:xfrm>
          <a:prstGeom prst="rect">
            <a:avLst/>
          </a:prstGeom>
          <a:noFill/>
          <a:ln/>
        </p:spPr>
        <p:txBody>
          <a:bodyPr wrap="square" lIns="0" tIns="0" rIns="0" bIns="0" rtlCol="0" anchor="ctr"/>
          <a:lstStyle/>
          <a:p>
            <a:pPr marL="0" indent="0">
              <a:buNone/>
            </a:pPr>
            <a:r>
              <a:rPr lang="en-US" sz="1200" b="1" dirty="0">
                <a:solidFill>
                  <a:srgbClr val="00B4D8"/>
                </a:solidFill>
              </a:rPr>
              <a:t>🏗️ Terraform IaC</a:t>
            </a:r>
            <a:endParaRPr lang="en-US" sz="1200" dirty="0"/>
          </a:p>
        </p:txBody>
      </p:sp>
      <p:sp>
        <p:nvSpPr>
          <p:cNvPr id="16" name="Text 14"/>
          <p:cNvSpPr/>
          <p:nvPr/>
        </p:nvSpPr>
        <p:spPr>
          <a:xfrm>
            <a:off x="6126480" y="2532888"/>
            <a:ext cx="2468880" cy="621792"/>
          </a:xfrm>
          <a:prstGeom prst="rect">
            <a:avLst/>
          </a:prstGeom>
          <a:noFill/>
          <a:ln/>
        </p:spPr>
        <p:txBody>
          <a:bodyPr wrap="square" lIns="0" tIns="0" rIns="0" bIns="0" rtlCol="0" anchor="ctr"/>
          <a:lstStyle/>
          <a:p>
            <a:pPr marL="0" indent="0">
              <a:buNone/>
            </a:pPr>
            <a:r>
              <a:rPr lang="en-US" sz="1000" dirty="0">
                <a:solidFill>
                  <a:srgbClr val="AACCEE"/>
                </a:solidFill>
              </a:rPr>
              <a:t>Modular, reusable infrastructure with remote state and environment separation</a:t>
            </a:r>
            <a:endParaRPr lang="en-US" sz="1000" dirty="0"/>
          </a:p>
        </p:txBody>
      </p:sp>
      <p:sp>
        <p:nvSpPr>
          <p:cNvPr id="17" name="Shape 15"/>
          <p:cNvSpPr/>
          <p:nvPr/>
        </p:nvSpPr>
        <p:spPr>
          <a:xfrm>
            <a:off x="320040" y="3383280"/>
            <a:ext cx="2743200" cy="1188720"/>
          </a:xfrm>
          <a:prstGeom prst="roundRect">
            <a:avLst>
              <a:gd name="adj" fmla="val 7692"/>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18" name="Text 16"/>
          <p:cNvSpPr/>
          <p:nvPr/>
        </p:nvSpPr>
        <p:spPr>
          <a:xfrm>
            <a:off x="457200" y="3474720"/>
            <a:ext cx="2468880" cy="347472"/>
          </a:xfrm>
          <a:prstGeom prst="rect">
            <a:avLst/>
          </a:prstGeom>
          <a:noFill/>
          <a:ln/>
        </p:spPr>
        <p:txBody>
          <a:bodyPr wrap="square" lIns="0" tIns="0" rIns="0" bIns="0" rtlCol="0" anchor="ctr"/>
          <a:lstStyle/>
          <a:p>
            <a:pPr marL="0" indent="0">
              <a:buNone/>
            </a:pPr>
            <a:r>
              <a:rPr lang="en-US" sz="1200" b="1" dirty="0">
                <a:solidFill>
                  <a:srgbClr val="00B4D8"/>
                </a:solidFill>
              </a:rPr>
              <a:t>🔄 Full CI/CD</a:t>
            </a:r>
            <a:endParaRPr lang="en-US" sz="1200" dirty="0"/>
          </a:p>
        </p:txBody>
      </p:sp>
      <p:sp>
        <p:nvSpPr>
          <p:cNvPr id="19" name="Text 17"/>
          <p:cNvSpPr/>
          <p:nvPr/>
        </p:nvSpPr>
        <p:spPr>
          <a:xfrm>
            <a:off x="457200" y="3858768"/>
            <a:ext cx="2468880" cy="621792"/>
          </a:xfrm>
          <a:prstGeom prst="rect">
            <a:avLst/>
          </a:prstGeom>
          <a:noFill/>
          <a:ln/>
        </p:spPr>
        <p:txBody>
          <a:bodyPr wrap="square" lIns="0" tIns="0" rIns="0" bIns="0" rtlCol="0" anchor="ctr"/>
          <a:lstStyle/>
          <a:p>
            <a:pPr marL="0" indent="0">
              <a:buNone/>
            </a:pPr>
            <a:r>
              <a:rPr lang="en-US" sz="1000" dirty="0">
                <a:solidFill>
                  <a:srgbClr val="AACCEE"/>
                </a:solidFill>
              </a:rPr>
              <a:t>GitHub Actions CI with security gates + ArgoCD GitOps CD to EKS</a:t>
            </a:r>
            <a:endParaRPr lang="en-US" sz="1000" dirty="0"/>
          </a:p>
        </p:txBody>
      </p:sp>
      <p:sp>
        <p:nvSpPr>
          <p:cNvPr id="20" name="Shape 18"/>
          <p:cNvSpPr/>
          <p:nvPr/>
        </p:nvSpPr>
        <p:spPr>
          <a:xfrm>
            <a:off x="3154680" y="3383280"/>
            <a:ext cx="2743200" cy="1188720"/>
          </a:xfrm>
          <a:prstGeom prst="roundRect">
            <a:avLst>
              <a:gd name="adj" fmla="val 7692"/>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21" name="Text 19"/>
          <p:cNvSpPr/>
          <p:nvPr/>
        </p:nvSpPr>
        <p:spPr>
          <a:xfrm>
            <a:off x="3291840" y="3474720"/>
            <a:ext cx="2468880" cy="347472"/>
          </a:xfrm>
          <a:prstGeom prst="rect">
            <a:avLst/>
          </a:prstGeom>
          <a:noFill/>
          <a:ln/>
        </p:spPr>
        <p:txBody>
          <a:bodyPr wrap="square" lIns="0" tIns="0" rIns="0" bIns="0" rtlCol="0" anchor="ctr"/>
          <a:lstStyle/>
          <a:p>
            <a:pPr marL="0" indent="0">
              <a:buNone/>
            </a:pPr>
            <a:r>
              <a:rPr lang="en-US" sz="1200" b="1" dirty="0">
                <a:solidFill>
                  <a:srgbClr val="00B4D8"/>
                </a:solidFill>
              </a:rPr>
              <a:t>🔐 Secure by Design</a:t>
            </a:r>
            <a:endParaRPr lang="en-US" sz="1200" dirty="0"/>
          </a:p>
        </p:txBody>
      </p:sp>
      <p:sp>
        <p:nvSpPr>
          <p:cNvPr id="22" name="Text 20"/>
          <p:cNvSpPr/>
          <p:nvPr/>
        </p:nvSpPr>
        <p:spPr>
          <a:xfrm>
            <a:off x="3291840" y="3858768"/>
            <a:ext cx="2468880" cy="621792"/>
          </a:xfrm>
          <a:prstGeom prst="rect">
            <a:avLst/>
          </a:prstGeom>
          <a:noFill/>
          <a:ln/>
        </p:spPr>
        <p:txBody>
          <a:bodyPr wrap="square" lIns="0" tIns="0" rIns="0" bIns="0" rtlCol="0" anchor="ctr"/>
          <a:lstStyle/>
          <a:p>
            <a:pPr marL="0" indent="0">
              <a:buNone/>
            </a:pPr>
            <a:r>
              <a:rPr lang="en-US" sz="1000" dirty="0">
                <a:solidFill>
                  <a:srgbClr val="AACCEE"/>
                </a:solidFill>
              </a:rPr>
              <a:t>OIDC, IRSA, Secrets Manager, private subnets — no static credentials anywhere</a:t>
            </a:r>
            <a:endParaRPr lang="en-US" sz="1000" dirty="0"/>
          </a:p>
        </p:txBody>
      </p:sp>
      <p:sp>
        <p:nvSpPr>
          <p:cNvPr id="23" name="Shape 21"/>
          <p:cNvSpPr/>
          <p:nvPr/>
        </p:nvSpPr>
        <p:spPr>
          <a:xfrm>
            <a:off x="5989320" y="3383280"/>
            <a:ext cx="2743200" cy="1188720"/>
          </a:xfrm>
          <a:prstGeom prst="roundRect">
            <a:avLst>
              <a:gd name="adj" fmla="val 7692"/>
            </a:avLst>
          </a:prstGeom>
          <a:solidFill>
            <a:srgbClr val="1A2B4A"/>
          </a:solidFill>
          <a:ln/>
          <a:effectLst>
            <a:outerShdw blurRad="101600" dist="38100" dir="2700000" algn="bl" rotWithShape="0">
              <a:srgbClr val="000000">
                <a:alpha val="10000"/>
              </a:srgbClr>
            </a:outerShdw>
          </a:effectLst>
        </p:spPr>
        <p:txBody>
          <a:bodyPr/>
          <a:lstStyle/>
          <a:p>
            <a:endParaRPr lang="en-IN"/>
          </a:p>
        </p:txBody>
      </p:sp>
      <p:sp>
        <p:nvSpPr>
          <p:cNvPr id="24" name="Text 22"/>
          <p:cNvSpPr/>
          <p:nvPr/>
        </p:nvSpPr>
        <p:spPr>
          <a:xfrm>
            <a:off x="6126480" y="3474720"/>
            <a:ext cx="2468880" cy="347472"/>
          </a:xfrm>
          <a:prstGeom prst="rect">
            <a:avLst/>
          </a:prstGeom>
          <a:noFill/>
          <a:ln/>
        </p:spPr>
        <p:txBody>
          <a:bodyPr wrap="square" lIns="0" tIns="0" rIns="0" bIns="0" rtlCol="0" anchor="ctr"/>
          <a:lstStyle/>
          <a:p>
            <a:pPr marL="0" indent="0">
              <a:buNone/>
            </a:pPr>
            <a:r>
              <a:rPr lang="en-US" sz="1200" b="1" dirty="0">
                <a:solidFill>
                  <a:srgbClr val="00B4D8"/>
                </a:solidFill>
              </a:rPr>
              <a:t>📊 Observability</a:t>
            </a:r>
            <a:endParaRPr lang="en-US" sz="1200" dirty="0"/>
          </a:p>
        </p:txBody>
      </p:sp>
      <p:sp>
        <p:nvSpPr>
          <p:cNvPr id="25" name="Text 23"/>
          <p:cNvSpPr/>
          <p:nvPr/>
        </p:nvSpPr>
        <p:spPr>
          <a:xfrm>
            <a:off x="6126480" y="3858768"/>
            <a:ext cx="2468880" cy="621792"/>
          </a:xfrm>
          <a:prstGeom prst="rect">
            <a:avLst/>
          </a:prstGeom>
          <a:noFill/>
          <a:ln/>
        </p:spPr>
        <p:txBody>
          <a:bodyPr wrap="square" lIns="0" tIns="0" rIns="0" bIns="0" rtlCol="0" anchor="ctr"/>
          <a:lstStyle/>
          <a:p>
            <a:pPr marL="0" indent="0">
              <a:buNone/>
            </a:pPr>
            <a:r>
              <a:rPr lang="en-US" sz="1000" dirty="0">
                <a:solidFill>
                  <a:srgbClr val="AACCEE"/>
                </a:solidFill>
              </a:rPr>
              <a:t>CloudWatch dashboard, alarms, and managed RDS + EKS monitoring</a:t>
            </a:r>
            <a:endParaRPr lang="en-US" sz="1000" dirty="0"/>
          </a:p>
        </p:txBody>
      </p:sp>
      <p:sp>
        <p:nvSpPr>
          <p:cNvPr id="26" name="Text 24"/>
          <p:cNvSpPr/>
          <p:nvPr/>
        </p:nvSpPr>
        <p:spPr>
          <a:xfrm>
            <a:off x="457200" y="4773168"/>
            <a:ext cx="8229600" cy="292608"/>
          </a:xfrm>
          <a:prstGeom prst="rect">
            <a:avLst/>
          </a:prstGeom>
          <a:noFill/>
          <a:ln/>
        </p:spPr>
        <p:txBody>
          <a:bodyPr wrap="square" lIns="0" tIns="0" rIns="0" bIns="0" rtlCol="0" anchor="ctr"/>
          <a:lstStyle/>
          <a:p>
            <a:pPr marL="0" indent="0" algn="ctr">
              <a:buNone/>
            </a:pPr>
            <a:r>
              <a:rPr lang="en-US" sz="1200" dirty="0">
                <a:solidFill>
                  <a:srgbClr val="AACCEE"/>
                </a:solidFill>
              </a:rPr>
              <a:t>Thank You  ·  Questions Welcome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3866</Words>
  <Application>Microsoft Office PowerPoint</Application>
  <PresentationFormat>On-screen Show (16:9)</PresentationFormat>
  <Paragraphs>597</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HireVoice - AI Hiring Portal</dc:title>
  <dc:subject>PptxGenJS Presentation</dc:subject>
  <dc:creator>Capstone Project</dc:creator>
  <cp:lastModifiedBy>Kajapathy Kandhasamy(UST,IN)</cp:lastModifiedBy>
  <cp:revision>2</cp:revision>
  <dcterms:created xsi:type="dcterms:W3CDTF">2026-06-25T14:13:51Z</dcterms:created>
  <dcterms:modified xsi:type="dcterms:W3CDTF">2026-06-25T17:17:12Z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ffddfa-74ad-4c1f-9757-a38a11902f1c_Enabled">
    <vt:lpwstr>true</vt:lpwstr>
  </property>
  <property fmtid="{D5CDD505-2E9C-101B-9397-08002B2CF9AE}" pid="3" name="MSIP_Label_15ffddfa-74ad-4c1f-9757-a38a11902f1c_SetDate">
    <vt:lpwstr>2026-06-25T17:16:49Z</vt:lpwstr>
  </property>
  <property fmtid="{D5CDD505-2E9C-101B-9397-08002B2CF9AE}" pid="4" name="MSIP_Label_15ffddfa-74ad-4c1f-9757-a38a11902f1c_Method">
    <vt:lpwstr>Standard</vt:lpwstr>
  </property>
  <property fmtid="{D5CDD505-2E9C-101B-9397-08002B2CF9AE}" pid="5" name="MSIP_Label_15ffddfa-74ad-4c1f-9757-a38a11902f1c_Name">
    <vt:lpwstr>UST Internal</vt:lpwstr>
  </property>
  <property fmtid="{D5CDD505-2E9C-101B-9397-08002B2CF9AE}" pid="6" name="MSIP_Label_15ffddfa-74ad-4c1f-9757-a38a11902f1c_SiteId">
    <vt:lpwstr>a4431f4b-c207-4733-9530-34c08a9b2b8d</vt:lpwstr>
  </property>
  <property fmtid="{D5CDD505-2E9C-101B-9397-08002B2CF9AE}" pid="7" name="MSIP_Label_15ffddfa-74ad-4c1f-9757-a38a11902f1c_ActionId">
    <vt:lpwstr>65cb72a3-9116-4246-b7f6-59062369d1c4</vt:lpwstr>
  </property>
  <property fmtid="{D5CDD505-2E9C-101B-9397-08002B2CF9AE}" pid="8" name="MSIP_Label_15ffddfa-74ad-4c1f-9757-a38a11902f1c_ContentBits">
    <vt:lpwstr>0</vt:lpwstr>
  </property>
  <property fmtid="{D5CDD505-2E9C-101B-9397-08002B2CF9AE}" pid="9" name="MSIP_Label_15ffddfa-74ad-4c1f-9757-a38a11902f1c_Tag">
    <vt:lpwstr>10, 3, 0, 1</vt:lpwstr>
  </property>
</Properties>
</file>